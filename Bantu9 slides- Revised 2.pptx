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0"/>
  </p:notesMasterIdLst>
  <p:sldIdLst>
    <p:sldId id="256" r:id="rId2"/>
    <p:sldId id="296" r:id="rId3"/>
    <p:sldId id="314" r:id="rId4"/>
    <p:sldId id="319" r:id="rId5"/>
    <p:sldId id="298" r:id="rId6"/>
    <p:sldId id="294" r:id="rId7"/>
    <p:sldId id="261" r:id="rId8"/>
    <p:sldId id="320" r:id="rId9"/>
    <p:sldId id="281" r:id="rId10"/>
    <p:sldId id="268" r:id="rId11"/>
    <p:sldId id="321" r:id="rId12"/>
    <p:sldId id="336" r:id="rId13"/>
    <p:sldId id="282" r:id="rId14"/>
    <p:sldId id="334" r:id="rId15"/>
    <p:sldId id="301" r:id="rId16"/>
    <p:sldId id="302" r:id="rId17"/>
    <p:sldId id="303" r:id="rId18"/>
    <p:sldId id="304" r:id="rId19"/>
    <p:sldId id="308" r:id="rId20"/>
    <p:sldId id="322" r:id="rId21"/>
    <p:sldId id="335" r:id="rId22"/>
    <p:sldId id="323" r:id="rId23"/>
    <p:sldId id="326" r:id="rId24"/>
    <p:sldId id="337" r:id="rId25"/>
    <p:sldId id="325" r:id="rId26"/>
    <p:sldId id="317" r:id="rId27"/>
    <p:sldId id="284" r:id="rId28"/>
    <p:sldId id="318" r:id="rId29"/>
    <p:sldId id="330" r:id="rId30"/>
    <p:sldId id="280" r:id="rId31"/>
    <p:sldId id="312" r:id="rId32"/>
    <p:sldId id="327" r:id="rId33"/>
    <p:sldId id="328" r:id="rId34"/>
    <p:sldId id="329" r:id="rId35"/>
    <p:sldId id="333" r:id="rId36"/>
    <p:sldId id="331" r:id="rId37"/>
    <p:sldId id="332" r:id="rId38"/>
    <p:sldId id="28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LBERTSON Jennifer" initials="CJ" lastIdx="4" clrIdx="0">
    <p:extLst>
      <p:ext uri="{19B8F6BF-5375-455C-9EA6-DF929625EA0E}">
        <p15:presenceInfo xmlns:p15="http://schemas.microsoft.com/office/powerpoint/2012/main" userId="S::jculbert@ed.ac.uk::3aba8976-f106-47fa-b8c7-69263411ef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925A3-4D0E-5640-AA61-5E8AE109291C}" type="datetimeFigureOut">
              <a:rPr lang="en-US" smtClean="0"/>
              <a:t>12/10/22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E295F-315B-1C45-959E-A55E7E19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0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4977946"/>
          </a:xfrm>
        </p:spPr>
        <p:txBody>
          <a:bodyPr/>
          <a:lstStyle>
            <a:lvl1pPr>
              <a:defRPr sz="3200">
                <a:latin typeface="Helvetica" pitchFamily="2" charset="0"/>
              </a:defRPr>
            </a:lvl1pPr>
            <a:lvl2pPr>
              <a:defRPr sz="3200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3200">
                <a:latin typeface="Helvetica" pitchFamily="2" charset="0"/>
              </a:defRPr>
            </a:lvl4pPr>
            <a:lvl5pPr>
              <a:defRPr sz="32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7714" y="6356350"/>
            <a:ext cx="2743200" cy="365125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GB"/>
              <a:t>Bantu 9, 2022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DB2115-D3B1-AC31-7779-C6571986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sz="4000" dirty="0">
                <a:latin typeface="Helvetica" pitchFamily="2" charset="0"/>
              </a:rPr>
              <a:t>Experiment 1: Semantic Cues</a:t>
            </a:r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hdl.handle.net/10019.1/107220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533"/>
            <a:ext cx="9144000" cy="2387600"/>
          </a:xfrm>
          <a:noFill/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80808"/>
                </a:solidFill>
                <a:latin typeface="Helvetica" pitchFamily="2" charset="0"/>
                <a:cs typeface="Calibri Light"/>
              </a:rPr>
              <a:t>Determinants of noun classification in Kîîtharaka: A synchronic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915" y="3200401"/>
            <a:ext cx="10559142" cy="2928256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endParaRPr lang="en-US" sz="1400" dirty="0">
              <a:solidFill>
                <a:srgbClr val="080808"/>
              </a:solidFill>
              <a:cs typeface="Calibri"/>
            </a:endParaRPr>
          </a:p>
          <a:p>
            <a:r>
              <a:rPr lang="en-US" sz="3000" dirty="0">
                <a:solidFill>
                  <a:srgbClr val="080808"/>
                </a:solidFill>
                <a:cs typeface="Calibri"/>
              </a:rPr>
              <a:t>Patrick Kanampiu</a:t>
            </a:r>
            <a:r>
              <a:rPr lang="en-US" sz="3000" baseline="30000" dirty="0">
                <a:solidFill>
                  <a:srgbClr val="080808"/>
                </a:solidFill>
                <a:cs typeface="Calibri"/>
              </a:rPr>
              <a:t>1</a:t>
            </a:r>
            <a:r>
              <a:rPr lang="en-US" sz="3000" dirty="0">
                <a:solidFill>
                  <a:srgbClr val="080808"/>
                </a:solidFill>
                <a:cs typeface="Calibri"/>
              </a:rPr>
              <a:t>, Alexander Martin</a:t>
            </a:r>
            <a:r>
              <a:rPr lang="en-US" sz="3000" baseline="30000" dirty="0">
                <a:solidFill>
                  <a:srgbClr val="080808"/>
                </a:solidFill>
                <a:cs typeface="Calibri"/>
              </a:rPr>
              <a:t>2</a:t>
            </a:r>
            <a:r>
              <a:rPr lang="en-US" sz="3000" dirty="0">
                <a:solidFill>
                  <a:srgbClr val="080808"/>
                </a:solidFill>
                <a:cs typeface="Calibri"/>
              </a:rPr>
              <a:t>, </a:t>
            </a:r>
            <a:r>
              <a:rPr lang="en-US" sz="3000" dirty="0">
                <a:cs typeface="Calibri"/>
              </a:rPr>
              <a:t>Jennifer</a:t>
            </a:r>
            <a:r>
              <a:rPr lang="en-US" sz="300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3000" dirty="0">
                <a:solidFill>
                  <a:srgbClr val="080808"/>
                </a:solidFill>
                <a:cs typeface="Calibri"/>
              </a:rPr>
              <a:t>Culbertson</a:t>
            </a:r>
            <a:r>
              <a:rPr lang="en-US" sz="3000" baseline="30000" dirty="0">
                <a:solidFill>
                  <a:srgbClr val="080808"/>
                </a:solidFill>
                <a:cs typeface="Calibri"/>
              </a:rPr>
              <a:t>1</a:t>
            </a:r>
            <a:endParaRPr lang="en-US" sz="3000" dirty="0">
              <a:solidFill>
                <a:srgbClr val="080808"/>
              </a:solidFill>
              <a:cs typeface="Calibri"/>
            </a:endParaRPr>
          </a:p>
          <a:p>
            <a:r>
              <a:rPr lang="en-US" sz="3000" baseline="30000" dirty="0">
                <a:cs typeface="Calibri"/>
              </a:rPr>
              <a:t>1</a:t>
            </a:r>
            <a:r>
              <a:rPr lang="en-US" sz="3000" dirty="0">
                <a:cs typeface="Calibri"/>
              </a:rPr>
              <a:t>University of Edinburgh, </a:t>
            </a:r>
            <a:r>
              <a:rPr lang="en-US" sz="3000" baseline="30000" dirty="0">
                <a:cs typeface="Calibri"/>
              </a:rPr>
              <a:t>2</a:t>
            </a:r>
            <a:r>
              <a:rPr lang="en-US" sz="3000" dirty="0">
                <a:cs typeface="Calibri"/>
              </a:rPr>
              <a:t>University of Paris</a:t>
            </a:r>
          </a:p>
          <a:p>
            <a:r>
              <a:rPr lang="en-US" sz="3000" dirty="0">
                <a:cs typeface="Calibri"/>
              </a:rPr>
              <a:t>9</a:t>
            </a:r>
            <a:r>
              <a:rPr lang="en-US" sz="3000" baseline="30000" dirty="0">
                <a:cs typeface="Calibri"/>
              </a:rPr>
              <a:t>th</a:t>
            </a:r>
            <a:r>
              <a:rPr lang="en-US" sz="3000" dirty="0">
                <a:cs typeface="Calibri"/>
              </a:rPr>
              <a:t> Conference on Bantu Linguistics</a:t>
            </a:r>
          </a:p>
          <a:p>
            <a:r>
              <a:rPr lang="en-US" sz="3000" dirty="0">
                <a:cs typeface="Calibri"/>
              </a:rPr>
              <a:t>7</a:t>
            </a:r>
            <a:r>
              <a:rPr lang="en-US" sz="3000" baseline="30000" dirty="0">
                <a:cs typeface="Calibri"/>
              </a:rPr>
              <a:t>th</a:t>
            </a:r>
            <a:r>
              <a:rPr lang="en-US" sz="3000" dirty="0">
                <a:cs typeface="Calibri"/>
              </a:rPr>
              <a:t> -10</a:t>
            </a:r>
            <a:r>
              <a:rPr lang="en-US" sz="3000" baseline="30000" dirty="0">
                <a:cs typeface="Calibri"/>
              </a:rPr>
              <a:t>th</a:t>
            </a:r>
            <a:r>
              <a:rPr lang="en-US" sz="3000" dirty="0">
                <a:cs typeface="Calibri"/>
              </a:rPr>
              <a:t> June,2022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60" y="1074511"/>
            <a:ext cx="11960840" cy="16154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Nouns grouped based on agreement </a:t>
            </a:r>
            <a:r>
              <a:rPr lang="en-GB" sz="2200" dirty="0"/>
              <a:t>(Hockett 1958, Corbett 1991, </a:t>
            </a:r>
            <a:r>
              <a:rPr lang="en-GB" sz="2200" dirty="0" err="1"/>
              <a:t>Katamba</a:t>
            </a:r>
            <a:r>
              <a:rPr lang="en-GB" sz="2200" dirty="0"/>
              <a:t> 2006)</a:t>
            </a:r>
            <a:r>
              <a:rPr lang="en-GB" sz="28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Used interchangeably with gender </a:t>
            </a:r>
            <a:r>
              <a:rPr lang="en-GB" sz="2200" dirty="0"/>
              <a:t>(Corbett, 1991:1; </a:t>
            </a:r>
            <a:r>
              <a:rPr lang="en-GB" sz="2200" dirty="0" err="1"/>
              <a:t>Aikhenvald</a:t>
            </a:r>
            <a:r>
              <a:rPr lang="en-GB" sz="2200" dirty="0"/>
              <a:t>, 2006)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Noun class systems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B139E0-A499-261C-4EAB-A0B034C289DC}"/>
              </a:ext>
            </a:extLst>
          </p:cNvPr>
          <p:cNvSpPr txBox="1">
            <a:spLocks/>
          </p:cNvSpPr>
          <p:nvPr/>
        </p:nvSpPr>
        <p:spPr>
          <a:xfrm>
            <a:off x="1273628" y="2786740"/>
            <a:ext cx="4060372" cy="373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4000" dirty="0"/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900" dirty="0"/>
              <a:t>   </a:t>
            </a:r>
            <a:endParaRPr lang="en-GB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EF3E0B-E7F8-992B-BEDC-F85E99045E4D}"/>
              </a:ext>
            </a:extLst>
          </p:cNvPr>
          <p:cNvSpPr txBox="1">
            <a:spLocks/>
          </p:cNvSpPr>
          <p:nvPr/>
        </p:nvSpPr>
        <p:spPr>
          <a:xfrm>
            <a:off x="3581401" y="4168067"/>
            <a:ext cx="5769429" cy="288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200" dirty="0"/>
              <a:t>		        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EED7F71-7EFB-E2CA-94B4-CD37820DD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945032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AC7D68A-9A80-411E-059B-9ADE3A328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067217"/>
              </p:ext>
            </p:extLst>
          </p:nvPr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42CD770-C9AD-2626-C659-F82C0DA5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185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97751"/>
              </p:ext>
            </p:extLst>
          </p:nvPr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91804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8.rel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/>
              <a:t>Semantics</a:t>
            </a:r>
          </a:p>
          <a:p>
            <a:pPr>
              <a:lnSpc>
                <a:spcPct val="100000"/>
              </a:lnSpc>
            </a:pPr>
            <a:r>
              <a:rPr lang="en-GB" sz="2800" b="1" dirty="0"/>
              <a:t>Form of the noun </a:t>
            </a:r>
            <a:r>
              <a:rPr lang="en-GB" sz="2800" dirty="0"/>
              <a:t>(morphology and/or phonology) </a:t>
            </a:r>
          </a:p>
          <a:p>
            <a:pPr>
              <a:lnSpc>
                <a:spcPct val="100000"/>
              </a:lnSpc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E1D44B-C687-75F3-7A77-585D3B119CCD}"/>
              </a:ext>
            </a:extLst>
          </p:cNvPr>
          <p:cNvSpPr txBox="1"/>
          <p:nvPr/>
        </p:nvSpPr>
        <p:spPr>
          <a:xfrm>
            <a:off x="4787593" y="3094306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45951" y="3074942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AA3514-1925-2AF4-A890-2CA1571DFCA9}"/>
              </a:ext>
            </a:extLst>
          </p:cNvPr>
          <p:cNvSpPr txBox="1"/>
          <p:nvPr/>
        </p:nvSpPr>
        <p:spPr>
          <a:xfrm>
            <a:off x="4846940" y="4207100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</a:t>
            </a:r>
            <a:r>
              <a:rPr lang="en-US" dirty="0" err="1">
                <a:latin typeface="Helvetica" pitchFamily="2" charset="0"/>
              </a:rPr>
              <a:t>kî-kî</a:t>
            </a:r>
            <a:r>
              <a:rPr lang="en-US" dirty="0">
                <a:latin typeface="Helvetica" pitchFamily="2" charset="0"/>
              </a:rPr>
              <a:t>/</a:t>
            </a:r>
            <a:r>
              <a:rPr lang="en-US" i="1" dirty="0" err="1">
                <a:latin typeface="Helvetica" pitchFamily="2" charset="0"/>
              </a:rPr>
              <a:t>kî</a:t>
            </a:r>
            <a:r>
              <a:rPr lang="en-US" i="1" dirty="0">
                <a:latin typeface="Helvetica" pitchFamily="2" charset="0"/>
              </a:rPr>
              <a:t>/</a:t>
            </a:r>
            <a:r>
              <a:rPr lang="en-US" i="1" dirty="0" err="1">
                <a:latin typeface="Helvetica" pitchFamily="2" charset="0"/>
              </a:rPr>
              <a:t>i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24410" y="4188700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4824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F81EE789-B76A-5DCB-52F5-974BA865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818514"/>
              </p:ext>
            </p:extLst>
          </p:nvPr>
        </p:nvGraphicFramePr>
        <p:xfrm>
          <a:off x="6099761" y="2708916"/>
          <a:ext cx="502472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  <a:gridCol w="175098">
                  <a:extLst>
                    <a:ext uri="{9D8B030D-6E8A-4147-A177-3AD203B41FA5}">
                      <a16:colId xmlns:a16="http://schemas.microsoft.com/office/drawing/2014/main" val="2498759456"/>
                    </a:ext>
                  </a:extLst>
                </a:gridCol>
                <a:gridCol w="1212005">
                  <a:extLst>
                    <a:ext uri="{9D8B030D-6E8A-4147-A177-3AD203B41FA5}">
                      <a16:colId xmlns:a16="http://schemas.microsoft.com/office/drawing/2014/main" val="298721630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(9)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41366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(10)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personne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389106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squel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56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skeleton.M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35109"/>
                  </a:ext>
                </a:extLst>
              </a:tr>
            </a:tbl>
          </a:graphicData>
        </a:graphic>
      </p:graphicFrame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F3F054EF-C7E9-619B-437A-90FAF368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94390"/>
              </p:ext>
            </p:extLst>
          </p:nvPr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(6)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(7)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roria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7.prophet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(8)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kûrû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5.father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1.elder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1527563"/>
          </a:xfrm>
        </p:spPr>
        <p:txBody>
          <a:bodyPr anchor="t">
            <a:noAutofit/>
          </a:bodyPr>
          <a:lstStyle/>
          <a:p>
            <a:pPr lvl="0"/>
            <a:r>
              <a:rPr lang="en-GB" sz="2800" dirty="0"/>
              <a:t>Discovering exact set of features that determine noun classification in a given language is an intricate affair!</a:t>
            </a:r>
          </a:p>
          <a:p>
            <a:pPr lvl="0"/>
            <a:r>
              <a:rPr lang="en-GB" sz="2800" dirty="0"/>
              <a:t>Typically, many exceptions…</a:t>
            </a:r>
            <a:endParaRPr lang="en-GB" sz="2000" dirty="0"/>
          </a:p>
          <a:p>
            <a:pPr>
              <a:lnSpc>
                <a:spcPct val="100000"/>
              </a:lnSpc>
            </a:pPr>
            <a:endParaRPr lang="en-GB" sz="2800" dirty="0"/>
          </a:p>
          <a:p>
            <a:pPr marL="0" indent="0">
              <a:lnSpc>
                <a:spcPct val="100000"/>
              </a:lnSpc>
              <a:buNone/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342073" y="59506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98031-286B-8959-3B88-3E49A4C05BAC}"/>
              </a:ext>
            </a:extLst>
          </p:cNvPr>
          <p:cNvSpPr txBox="1"/>
          <p:nvPr/>
        </p:nvSpPr>
        <p:spPr>
          <a:xfrm>
            <a:off x="5339618" y="43673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21A527-3434-1B2B-7BFA-BC48BF9AB826}"/>
              </a:ext>
            </a:extLst>
          </p:cNvPr>
          <p:cNvCxnSpPr>
            <a:cxnSpLocks/>
          </p:cNvCxnSpPr>
          <p:nvPr/>
        </p:nvCxnSpPr>
        <p:spPr>
          <a:xfrm flipH="1">
            <a:off x="4509144" y="5691225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8A31F9-33C9-CF63-9FD2-29D84CDA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4</a:t>
            </a:fld>
            <a:endParaRPr lang="en-US" sz="2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B45CCE-4160-989B-7828-C9D23DC88CEA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8444FA-9946-1CC4-18FF-20286900C062}"/>
              </a:ext>
            </a:extLst>
          </p:cNvPr>
          <p:cNvSpPr txBox="1"/>
          <p:nvPr/>
        </p:nvSpPr>
        <p:spPr>
          <a:xfrm>
            <a:off x="4787593" y="3094306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D41A0-78F3-D850-1884-6505DB21122A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E77461-550D-66AB-A97A-735DBEA10F47}"/>
              </a:ext>
            </a:extLst>
          </p:cNvPr>
          <p:cNvSpPr txBox="1"/>
          <p:nvPr/>
        </p:nvSpPr>
        <p:spPr>
          <a:xfrm>
            <a:off x="10945951" y="3074942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41123-F5D1-F436-8D89-7FC9D71A3244}"/>
              </a:ext>
            </a:extLst>
          </p:cNvPr>
          <p:cNvCxnSpPr>
            <a:cxnSpLocks/>
          </p:cNvCxnSpPr>
          <p:nvPr/>
        </p:nvCxnSpPr>
        <p:spPr>
          <a:xfrm flipH="1">
            <a:off x="4509144" y="4552032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78B90E3-EDB2-83D1-9FF5-7699F48CD119}"/>
              </a:ext>
            </a:extLst>
          </p:cNvPr>
          <p:cNvSpPr txBox="1"/>
          <p:nvPr/>
        </p:nvSpPr>
        <p:spPr>
          <a:xfrm>
            <a:off x="10649912" y="487619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C2FC3A-9A7B-D788-3A1D-5F08E1A2E139}"/>
              </a:ext>
            </a:extLst>
          </p:cNvPr>
          <p:cNvCxnSpPr>
            <a:cxnSpLocks/>
          </p:cNvCxnSpPr>
          <p:nvPr/>
        </p:nvCxnSpPr>
        <p:spPr>
          <a:xfrm flipH="1">
            <a:off x="9993179" y="5239530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F862F3-85E4-8A5F-CB59-71861ABA90A2}"/>
              </a:ext>
            </a:extLst>
          </p:cNvPr>
          <p:cNvCxnSpPr>
            <a:cxnSpLocks/>
          </p:cNvCxnSpPr>
          <p:nvPr/>
        </p:nvCxnSpPr>
        <p:spPr>
          <a:xfrm flipH="1">
            <a:off x="9644284" y="6135277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8E04-8364-2627-8C57-8FE74D47BECB}"/>
              </a:ext>
            </a:extLst>
          </p:cNvPr>
          <p:cNvCxnSpPr>
            <a:cxnSpLocks/>
          </p:cNvCxnSpPr>
          <p:nvPr/>
        </p:nvCxnSpPr>
        <p:spPr>
          <a:xfrm flipH="1">
            <a:off x="9633503" y="4305651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18245F-0F25-3F67-2639-D39B3CF5E07F}"/>
              </a:ext>
            </a:extLst>
          </p:cNvPr>
          <p:cNvSpPr txBox="1"/>
          <p:nvPr/>
        </p:nvSpPr>
        <p:spPr>
          <a:xfrm>
            <a:off x="5347518" y="55329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DFCFF-A997-8AD0-B905-C4203386C229}"/>
              </a:ext>
            </a:extLst>
          </p:cNvPr>
          <p:cNvSpPr txBox="1"/>
          <p:nvPr/>
        </p:nvSpPr>
        <p:spPr>
          <a:xfrm>
            <a:off x="10327718" y="41408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86329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4000" dirty="0"/>
              <a:t>How do we know what semantic or morpho-phonological cues are productive amidst such exceptions?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4000" dirty="0"/>
              <a:t>Do speakers treat different types of cues the same way? (e.g., Karmiloff-Smith, 1981; Perez-Pereira 1991; </a:t>
            </a:r>
            <a:r>
              <a:rPr lang="en-GB" sz="4000" dirty="0" err="1"/>
              <a:t>Gxilishe</a:t>
            </a:r>
            <a:r>
              <a:rPr lang="en-GB" sz="4000" dirty="0"/>
              <a:t> et al., 2009; Gagliardi &amp; </a:t>
            </a:r>
            <a:r>
              <a:rPr lang="en-GB" sz="4000" dirty="0" err="1"/>
              <a:t>Lidz</a:t>
            </a:r>
            <a:r>
              <a:rPr lang="en-GB" sz="4000" dirty="0"/>
              <a:t> 2014 </a:t>
            </a:r>
            <a:r>
              <a:rPr lang="en-GB" sz="4000" dirty="0" err="1"/>
              <a:t>a.o</a:t>
            </a:r>
            <a:r>
              <a:rPr lang="en-GB" sz="4000" dirty="0"/>
              <a:t>)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4000" dirty="0"/>
              <a:t>Required: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4000" dirty="0"/>
              <a:t>A </a:t>
            </a:r>
            <a:r>
              <a:rPr lang="en-GB" sz="4000" b="1" dirty="0"/>
              <a:t>theory</a:t>
            </a:r>
            <a:r>
              <a:rPr lang="en-GB" sz="4000" dirty="0"/>
              <a:t> of productivity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4000" b="1" dirty="0"/>
              <a:t>Empirical</a:t>
            </a:r>
            <a:r>
              <a:rPr lang="en-GB" sz="4000" dirty="0"/>
              <a:t> </a:t>
            </a:r>
            <a:r>
              <a:rPr lang="en-GB" sz="4000" b="1" dirty="0"/>
              <a:t>evidence</a:t>
            </a:r>
            <a:r>
              <a:rPr lang="en-GB" sz="4000" dirty="0"/>
              <a:t> for speakers’ use of different cues.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4000" dirty="0"/>
              <a:t>Have these questions been answered by traditional approaches to Bantu noun classes?</a:t>
            </a:r>
            <a:endParaRPr lang="en-GB" sz="4000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Theoretical and empirical questions…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2742-1351-2AF3-4D8F-58EB001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3BE0-2861-AA45-A99C-8107B4816AEB}" type="slidenum">
              <a:rPr lang="en-US" sz="2800" smtClean="0"/>
              <a:t>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759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EBE080-0118-8C4B-B95B-AD3639D72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859" y="1263235"/>
            <a:ext cx="7543799" cy="5241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469366-EFB9-BC40-83C9-BAFC06DE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Helvetica" pitchFamily="2" charset="0"/>
              </a:rPr>
              <a:t>Traditional approaches to Bantu noun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45C0E-A36D-5149-9F53-E7DF1D773103}"/>
              </a:ext>
            </a:extLst>
          </p:cNvPr>
          <p:cNvSpPr txBox="1"/>
          <p:nvPr/>
        </p:nvSpPr>
        <p:spPr>
          <a:xfrm>
            <a:off x="3372496" y="921013"/>
            <a:ext cx="4008384" cy="47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The Proto-Bantu System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74DEC-38A8-D74A-B2DA-F738199F8FB4}"/>
              </a:ext>
            </a:extLst>
          </p:cNvPr>
          <p:cNvSpPr txBox="1"/>
          <p:nvPr/>
        </p:nvSpPr>
        <p:spPr>
          <a:xfrm>
            <a:off x="8266097" y="908267"/>
            <a:ext cx="382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(Richardson, 1967; </a:t>
            </a:r>
            <a:r>
              <a:rPr lang="en-US" dirty="0" err="1">
                <a:latin typeface="Helvetica" pitchFamily="2" charset="0"/>
              </a:rPr>
              <a:t>Welmers</a:t>
            </a:r>
            <a:r>
              <a:rPr lang="en-US" dirty="0">
                <a:latin typeface="Helvetica" pitchFamily="2" charset="0"/>
              </a:rPr>
              <a:t>, 1973)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A230-1C02-4B99-21F8-BB9654CD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975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457200" lvl="1" indent="0" fontAlgn="base">
              <a:buNone/>
            </a:pPr>
            <a:r>
              <a:rPr lang="en-GB" sz="2800" b="1" dirty="0"/>
              <a:t>Key Features:</a:t>
            </a:r>
          </a:p>
          <a:p>
            <a:pPr lvl="1" fontAlgn="base"/>
            <a:r>
              <a:rPr lang="en-GB" sz="2800" dirty="0"/>
              <a:t>Classes marked by the prefix (rather than agreement) – problematic</a:t>
            </a:r>
          </a:p>
          <a:p>
            <a:pPr marL="914400" lvl="2" indent="0" fontAlgn="base">
              <a:buNone/>
            </a:pPr>
            <a:r>
              <a:rPr lang="en-GB" sz="2800" dirty="0"/>
              <a:t>    </a:t>
            </a:r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marL="914400" lvl="2" indent="0" fontAlgn="base">
              <a:buNone/>
            </a:pPr>
            <a:endParaRPr lang="en-GB" sz="2800" dirty="0"/>
          </a:p>
          <a:p>
            <a:pPr lvl="1" fontAlgn="base"/>
            <a:r>
              <a:rPr lang="en-GB" sz="2800" dirty="0"/>
              <a:t>Centred on semantics – problematic (whether meaning is on the    </a:t>
            </a:r>
          </a:p>
          <a:p>
            <a:pPr marL="457200" lvl="1" indent="0" fontAlgn="base">
              <a:buNone/>
            </a:pPr>
            <a:r>
              <a:rPr lang="en-GB" sz="2800" dirty="0"/>
              <a:t>                                       nominal stem or prefixes)</a:t>
            </a:r>
          </a:p>
          <a:p>
            <a:pPr marL="914400" lvl="2" indent="0" fontAlgn="base">
              <a:buNone/>
            </a:pPr>
            <a:r>
              <a:rPr lang="en-GB" sz="280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Traditional approaches to Bantu noun classes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6F54D0-B9C8-736F-1DE0-2FD30A2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7</a:t>
            </a:fld>
            <a:endParaRPr lang="en-US" sz="28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5FE2F69-B3D2-CE09-7897-97DFAE27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517759"/>
              </p:ext>
            </p:extLst>
          </p:nvPr>
        </p:nvGraphicFramePr>
        <p:xfrm>
          <a:off x="833336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Swahili 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(Carstens 1991)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ki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faru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dogo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rhino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1.small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BA6636-F304-64EC-4C1A-54ADC358A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01710"/>
              </p:ext>
            </p:extLst>
          </p:nvPr>
        </p:nvGraphicFramePr>
        <p:xfrm>
          <a:off x="6121414" y="2191884"/>
          <a:ext cx="559737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8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74399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(corpus data)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thi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389913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9.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devil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1.went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82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CD8A-CDCC-456A-B9F7-56D330D1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0587"/>
            <a:ext cx="11604171" cy="4867386"/>
          </a:xfrm>
        </p:spPr>
        <p:txBody>
          <a:bodyPr vert="horz" lIns="91440" tIns="45720" rIns="91440" bIns="45720" rtlCol="0">
            <a:normAutofit/>
          </a:bodyPr>
          <a:lstStyle/>
          <a:p>
            <a:pPr lvl="1" fontAlgn="base">
              <a:spcAft>
                <a:spcPts val="600"/>
              </a:spcAft>
            </a:pPr>
            <a:r>
              <a:rPr lang="en-US" sz="2800" dirty="0"/>
              <a:t>N</a:t>
            </a:r>
            <a:r>
              <a:rPr lang="en-GB" sz="2800" dirty="0"/>
              <a:t>o theory for saying what makes something productive!</a:t>
            </a:r>
          </a:p>
          <a:p>
            <a:pPr lvl="1" fontAlgn="base">
              <a:spcAft>
                <a:spcPts val="600"/>
              </a:spcAft>
            </a:pPr>
            <a:r>
              <a:rPr lang="en-GB" sz="2800" dirty="0"/>
              <a:t>No evidence that speakers find these things productive!</a:t>
            </a:r>
          </a:p>
          <a:p>
            <a:pPr lvl="1" fontAlgn="base">
              <a:spcAft>
                <a:spcPts val="600"/>
              </a:spcAft>
            </a:pPr>
            <a:r>
              <a:rPr lang="en-GB" sz="2800" dirty="0"/>
              <a:t>A different approach: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quantitative corpus ( e.g., Ngcoco, 2010 (Zulu); Msaka, 2019 (Chichewa).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psycholinguistic experiments with speakers (e.g., Jarro et al, 2021 (Kinyarwanda).</a:t>
            </a:r>
          </a:p>
          <a:p>
            <a:pPr lvl="2" fontAlgn="base">
              <a:spcAft>
                <a:spcPts val="600"/>
              </a:spcAft>
            </a:pPr>
            <a:r>
              <a:rPr lang="en-GB" sz="2800" dirty="0"/>
              <a:t>Ideally both corpus and psycholinguistic experiments  (the current study).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995805-B9D0-00A3-2EEC-F26E12C3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Traditional approaches to Bantu noun classes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10F49-CF1A-3D8D-74A2-555CC731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930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AB7F-1009-D64F-B3BA-3003D335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840936" cy="497794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The study aims to establish productive rules that determine noun class membership in Kîîtharaka: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Corpus analyses using Tolerance Principle (Yang, 2016) (plus native speaker intuitions) provides predictive rules for class assignment.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Run psycholinguistic tests – will show what speakers pay attention to.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GB" sz="2800" dirty="0">
                <a:solidFill>
                  <a:srgbClr val="000000"/>
                </a:solidFill>
              </a:rPr>
              <a:t>Includes testing the  relative importance of semantic and morpho-phonological cues (following e.g., Karmiloff-Smith, 1981; Gagliardi &amp; </a:t>
            </a:r>
            <a:r>
              <a:rPr lang="en-GB" sz="2800" dirty="0" err="1">
                <a:solidFill>
                  <a:srgbClr val="000000"/>
                </a:solidFill>
              </a:rPr>
              <a:t>Lidz</a:t>
            </a:r>
            <a:r>
              <a:rPr lang="en-GB" sz="2800" dirty="0">
                <a:solidFill>
                  <a:srgbClr val="000000"/>
                </a:solidFill>
              </a:rPr>
              <a:t> 2014, and others).</a:t>
            </a:r>
          </a:p>
          <a:p>
            <a:pPr marL="0" indent="0">
              <a:buNone/>
            </a:pPr>
            <a:br>
              <a:rPr lang="en-GB" sz="2800" dirty="0">
                <a:solidFill>
                  <a:srgbClr val="000000"/>
                </a:solidFill>
              </a:rPr>
            </a:br>
            <a:br>
              <a:rPr lang="en-GB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9CA3B-C704-B14A-A81D-7AFDBE6F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latin typeface="Helvetica" pitchFamily="2" charset="0"/>
              </a:rPr>
              <a:t>A different approach to </a:t>
            </a:r>
            <a:r>
              <a:rPr lang="en-US" dirty="0" err="1">
                <a:latin typeface="Helvetica" pitchFamily="2" charset="0"/>
              </a:rPr>
              <a:t>Kîîtharaka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26B6B-B7B9-1108-D938-5305EBBC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595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10" y="724887"/>
            <a:ext cx="11696379" cy="39009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study uses a corpus – Currently (2328 nouns)</a:t>
            </a:r>
          </a:p>
          <a:p>
            <a:pPr marL="0" indent="0" fontAlgn="base">
              <a:buNone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~1000 collected from Kîîtharaka bible and, </a:t>
            </a:r>
          </a:p>
          <a:p>
            <a:pPr marL="0" indent="0" fontAlgn="base">
              <a:buNone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~1300 translated from SIL comparative African Wordlist (Snider    </a:t>
            </a:r>
          </a:p>
          <a:p>
            <a:pPr marL="0" indent="0" fontAlgn="base">
              <a:buNone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and Roberts, 2006).</a:t>
            </a:r>
          </a:p>
          <a:p>
            <a:pPr lvl="1"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Coded for singular/plural agreement, semantics and morphophonological features (prefixes).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Building a Corpus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587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87958"/>
            <a:ext cx="11604171" cy="49779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Corpus analysed for rule productivity using Tolerance Principle (TP) (Yang, 2016)</a:t>
            </a:r>
          </a:p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Tolerance Principle demonstrates how to establish the productivity of rules with exceptions.</a:t>
            </a:r>
          </a:p>
          <a:p>
            <a:pPr lvl="1"/>
            <a:r>
              <a:rPr lang="en-US" sz="2800" dirty="0"/>
              <a:t>provides a threshold beyond which the exceptions should not exceed for the rule to be productive.</a:t>
            </a:r>
          </a:p>
          <a:p>
            <a:pPr lvl="2"/>
            <a:r>
              <a:rPr lang="en-US" sz="2800" dirty="0"/>
              <a:t>Makes use of 2 integer values N (number of items in the lexicon) and e (number of items not obeying the rule)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Let a rule be defined over a set of N items. </a:t>
            </a:r>
          </a:p>
          <a:p>
            <a:pPr lvl="1"/>
            <a:r>
              <a:rPr lang="en-US" sz="2800" dirty="0"/>
              <a:t>The rule is productive if the number of exceptions does not exceed a threshold, 𝛉</a:t>
            </a:r>
            <a:r>
              <a:rPr lang="en-US" sz="2800" baseline="-25000" dirty="0"/>
              <a:t>N.</a:t>
            </a:r>
          </a:p>
          <a:p>
            <a:pPr marL="457200" lvl="1" indent="0">
              <a:buNone/>
            </a:pPr>
            <a:r>
              <a:rPr lang="en-US" sz="2800" b="1" baseline="-25000" dirty="0"/>
              <a:t>               </a:t>
            </a:r>
            <a:r>
              <a:rPr lang="en-US" sz="2800" dirty="0"/>
              <a:t>exceptions ≤ 𝛉</a:t>
            </a:r>
            <a:r>
              <a:rPr lang="en-US" sz="2800" baseline="-25000" dirty="0"/>
              <a:t>N </a:t>
            </a:r>
            <a:r>
              <a:rPr lang="en-US" sz="2800" dirty="0"/>
              <a:t>= N/ln(N)                              (Yang, 2016)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Corpus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51025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TP offers a mechanism of establishing the productivity of linguistic rules in a set of items with exceptions by providing a threshold beyond which the exceptions should not exceed for the rule to be productive.</a:t>
            </a:r>
          </a:p>
          <a:p>
            <a:pPr lvl="1"/>
            <a:r>
              <a:rPr lang="en-US" sz="1400" b="1" dirty="0"/>
              <a:t>Let rule R be defined over a set of N items. R is productive if and only if e the number of exceptions does not exceed 𝛉</a:t>
            </a:r>
            <a:r>
              <a:rPr lang="en-US" sz="1400" b="1" baseline="-25000" dirty="0"/>
              <a:t>N.</a:t>
            </a:r>
          </a:p>
          <a:p>
            <a:pPr marL="457200" lvl="1" indent="0">
              <a:buNone/>
            </a:pPr>
            <a:r>
              <a:rPr lang="en-US" sz="1400" b="1" baseline="-25000" dirty="0"/>
              <a:t>               </a:t>
            </a:r>
            <a:r>
              <a:rPr lang="en-US" sz="1400" b="1" dirty="0"/>
              <a:t>(</a:t>
            </a:r>
            <a:r>
              <a:rPr lang="en-US" sz="1400" dirty="0"/>
              <a:t>e ≤ 𝛉</a:t>
            </a:r>
            <a:r>
              <a:rPr lang="en-US" sz="1400" baseline="-25000" dirty="0"/>
              <a:t>N </a:t>
            </a:r>
            <a:r>
              <a:rPr lang="en-US" sz="1400" dirty="0"/>
              <a:t>= N/ln(N)                              (Yang, 2016)</a:t>
            </a:r>
          </a:p>
          <a:p>
            <a:r>
              <a:rPr lang="en-US" sz="1400" dirty="0"/>
              <a:t>The threshold (</a:t>
            </a:r>
            <a:r>
              <a:rPr lang="en-US" sz="1400" dirty="0" err="1"/>
              <a:t>Theta_N</a:t>
            </a:r>
            <a:r>
              <a:rPr lang="en-US" sz="1400" dirty="0"/>
              <a:t>) is an expression of the time complexity involved in processing all the items in a non-productive rule. </a:t>
            </a:r>
            <a:r>
              <a:rPr lang="en-US" sz="1400" dirty="0" err="1"/>
              <a:t>e.g</a:t>
            </a:r>
            <a:r>
              <a:rPr lang="en-US" sz="1400" dirty="0"/>
              <a:t>, in a list of 100 items with 10 exceptions, the time taken is expressed as:</a:t>
            </a:r>
          </a:p>
          <a:p>
            <a:pPr marL="0" indent="0">
              <a:buNone/>
            </a:pPr>
            <a:r>
              <a:rPr lang="en-US" sz="1400" dirty="0"/>
              <a:t>                Productive rule = T (N, e) = T(100, 10)</a:t>
            </a:r>
          </a:p>
          <a:p>
            <a:pPr marL="0" indent="0">
              <a:buNone/>
            </a:pPr>
            <a:r>
              <a:rPr lang="en-US" sz="1400" dirty="0"/>
              <a:t>               Unproductive rule= T(N,N) = T(100, 100) (takes more time- each item is accessed and listed)</a:t>
            </a:r>
          </a:p>
          <a:p>
            <a:pPr marL="0" indent="0">
              <a:buNone/>
            </a:pPr>
            <a:r>
              <a:rPr lang="en-US" sz="1400" dirty="0"/>
              <a:t>TP borrows substantially from two previous theories:</a:t>
            </a:r>
          </a:p>
          <a:p>
            <a:pPr marL="342900" indent="-342900">
              <a:buAutoNum type="arabicParenR"/>
            </a:pPr>
            <a:r>
              <a:rPr lang="en-US" sz="1400" dirty="0"/>
              <a:t>The Elsewhere Condition (Anderson, 1969; </a:t>
            </a:r>
            <a:r>
              <a:rPr lang="en-US" sz="1400" dirty="0" err="1"/>
              <a:t>Aronoff</a:t>
            </a:r>
            <a:r>
              <a:rPr lang="en-US" sz="1400" dirty="0"/>
              <a:t>, 1976)</a:t>
            </a:r>
          </a:p>
          <a:p>
            <a:pPr lvl="1"/>
            <a:r>
              <a:rPr lang="en-US" sz="1400" dirty="0"/>
              <a:t>Exceptions are processed earlier than regulars</a:t>
            </a:r>
          </a:p>
          <a:p>
            <a:pPr lvl="1"/>
            <a:r>
              <a:rPr lang="en-US" sz="1400" dirty="0"/>
              <a:t>Serial search- frequency sensitive (</a:t>
            </a:r>
            <a:r>
              <a:rPr lang="en-US" sz="1400" dirty="0" err="1"/>
              <a:t>Stermberg</a:t>
            </a:r>
            <a:r>
              <a:rPr lang="en-US" sz="1400" dirty="0"/>
              <a:t>, 1969; Forster, 1976)</a:t>
            </a:r>
          </a:p>
          <a:p>
            <a:pPr lvl="1"/>
            <a:endParaRPr lang="en-US" sz="1400" dirty="0"/>
          </a:p>
          <a:p>
            <a:pPr>
              <a:buFont typeface="+mj-lt"/>
              <a:buAutoNum type="arabicParenR"/>
            </a:pPr>
            <a:r>
              <a:rPr lang="en-US" sz="1400" dirty="0" err="1"/>
              <a:t>Zipf’s</a:t>
            </a:r>
            <a:r>
              <a:rPr lang="en-US" sz="1400" dirty="0"/>
              <a:t> Law (</a:t>
            </a:r>
            <a:r>
              <a:rPr lang="en-US" sz="1400" dirty="0" err="1"/>
              <a:t>Zipf</a:t>
            </a:r>
            <a:r>
              <a:rPr lang="en-US" sz="1400" dirty="0"/>
              <a:t>, 1949)</a:t>
            </a:r>
          </a:p>
          <a:p>
            <a:pPr lvl="1"/>
            <a:r>
              <a:rPr lang="en-US" sz="1400" dirty="0"/>
              <a:t>Yang uses it to derive the tolerance threshold (A function of probability and time needed to access all items in a non-productive rule)</a:t>
            </a:r>
          </a:p>
          <a:p>
            <a:pPr lvl="1"/>
            <a:r>
              <a:rPr lang="en-US" sz="1400" dirty="0"/>
              <a:t>The law states</a:t>
            </a:r>
            <a:r>
              <a:rPr lang="en-US" sz="1400" b="1" dirty="0"/>
              <a:t>: The rank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/>
              <a:t>) and the frequency (f</a:t>
            </a:r>
            <a:r>
              <a:rPr lang="en-US" sz="1400" b="1" baseline="-25000" dirty="0"/>
              <a:t>i</a:t>
            </a:r>
            <a:r>
              <a:rPr lang="en-US" sz="1400" b="1" dirty="0"/>
              <a:t>) of a word (</a:t>
            </a:r>
            <a:r>
              <a:rPr lang="en-US" sz="1400" b="1" dirty="0" err="1"/>
              <a:t>w</a:t>
            </a:r>
            <a:r>
              <a:rPr lang="en-US" sz="1400" b="1" baseline="-25000" dirty="0" err="1"/>
              <a:t>i</a:t>
            </a:r>
            <a:r>
              <a:rPr lang="en-US" sz="1400" b="1" dirty="0"/>
              <a:t>) in a corpus of natural language are inversely proportional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 err="1"/>
              <a:t>f</a:t>
            </a:r>
            <a:r>
              <a:rPr lang="en-US" sz="1400" b="1" baseline="-25000" dirty="0" err="1"/>
              <a:t>i</a:t>
            </a:r>
            <a:r>
              <a:rPr lang="en-US" sz="1400" b="1" dirty="0"/>
              <a:t> = C).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An overview of Tolerance Principle (TP)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F55D-1246-0228-6BC8-3D0C1F89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997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Semantic features coded for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DAD31C-F780-83DE-308B-4BECFDE22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55567"/>
              </p:ext>
            </p:extLst>
          </p:nvPr>
        </p:nvGraphicFramePr>
        <p:xfrm>
          <a:off x="1778749" y="879169"/>
          <a:ext cx="7300963" cy="51456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75920">
                  <a:extLst>
                    <a:ext uri="{9D8B030D-6E8A-4147-A177-3AD203B41FA5}">
                      <a16:colId xmlns:a16="http://schemas.microsoft.com/office/drawing/2014/main" val="570350758"/>
                    </a:ext>
                  </a:extLst>
                </a:gridCol>
                <a:gridCol w="4925043">
                  <a:extLst>
                    <a:ext uri="{9D8B030D-6E8A-4147-A177-3AD203B41FA5}">
                      <a16:colId xmlns:a16="http://schemas.microsoft.com/office/drawing/2014/main" val="1566014375"/>
                    </a:ext>
                  </a:extLst>
                </a:gridCol>
              </a:tblGrid>
              <a:tr h="437134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 dirty="0">
                          <a:solidFill>
                            <a:schemeClr val="tx1"/>
                          </a:solidFill>
                        </a:rPr>
                        <a:t>Target Class</a:t>
                      </a:r>
                    </a:p>
                  </a:txBody>
                  <a:tcPr marL="89163" marR="89163" marT="89163" marB="891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cap="all" spc="60" dirty="0">
                          <a:solidFill>
                            <a:schemeClr val="tx1"/>
                          </a:solidFill>
                        </a:rPr>
                        <a:t>Semantic Feature(s)</a:t>
                      </a:r>
                    </a:p>
                  </a:txBody>
                  <a:tcPr marL="89163" marR="89163" marT="89163" marB="891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518550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1/2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(super)human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63051"/>
                  </a:ext>
                </a:extLst>
              </a:tr>
              <a:tr h="718621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3/4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Extended shape, spread shape, protruding shape, trees &amp; plants, dispersive mass)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4139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5/6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Fruits, round shape, plant part, augmentative, made of wood, cohesive mass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359983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7/8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Artefacts, pejorative, derived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51506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9/10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Animals, artefacts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60216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11/10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Narrow things, wavy-shaped things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14135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12/13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Diminutives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665434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Abstract, mass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984915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Derived, infinitives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99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927A2-545F-F345-9BD8-7392A60A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917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70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Morphophonological features coded for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DAD31C-F780-83DE-308B-4BECFDE22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84776"/>
              </p:ext>
            </p:extLst>
          </p:nvPr>
        </p:nvGraphicFramePr>
        <p:xfrm>
          <a:off x="1398494" y="1074512"/>
          <a:ext cx="8071183" cy="457455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659243">
                  <a:extLst>
                    <a:ext uri="{9D8B030D-6E8A-4147-A177-3AD203B41FA5}">
                      <a16:colId xmlns:a16="http://schemas.microsoft.com/office/drawing/2014/main" val="570350758"/>
                    </a:ext>
                  </a:extLst>
                </a:gridCol>
                <a:gridCol w="5411940">
                  <a:extLst>
                    <a:ext uri="{9D8B030D-6E8A-4147-A177-3AD203B41FA5}">
                      <a16:colId xmlns:a16="http://schemas.microsoft.com/office/drawing/2014/main" val="1566014375"/>
                    </a:ext>
                  </a:extLst>
                </a:gridCol>
              </a:tblGrid>
              <a:tr h="485869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 dirty="0">
                          <a:solidFill>
                            <a:schemeClr val="tx1"/>
                          </a:solidFill>
                        </a:rPr>
                        <a:t>Target Class</a:t>
                      </a:r>
                    </a:p>
                  </a:txBody>
                  <a:tcPr marL="89163" marR="89163" marT="89163" marB="891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cap="all" spc="60" dirty="0">
                          <a:solidFill>
                            <a:schemeClr val="tx1"/>
                          </a:solidFill>
                        </a:rPr>
                        <a:t>Morphophonological Feature(s)</a:t>
                      </a:r>
                    </a:p>
                  </a:txBody>
                  <a:tcPr marL="89163" marR="89163" marT="89163" marB="891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518550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1/2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M(u)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63051"/>
                  </a:ext>
                </a:extLst>
              </a:tr>
              <a:tr h="355076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3/4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4139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5/6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359983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7/8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51506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9/10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Mb-/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Mp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-/Nd-/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Nt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-/Nth-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60216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11/10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Rû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14135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12/13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Ka-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665434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U-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984915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99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8EC7F-02CC-80DD-8271-7426362E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67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D4CFA-B676-20B3-B9BD-502EE3F5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15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B646-FCF9-3ADB-491D-30A5724D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E60299-DD38-C497-8809-32AB10E56C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06DEA4-6A00-58AF-F01F-31275EF50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495026"/>
              </p:ext>
            </p:extLst>
          </p:nvPr>
        </p:nvGraphicFramePr>
        <p:xfrm>
          <a:off x="374573" y="1343086"/>
          <a:ext cx="10774498" cy="3688535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5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Augmentative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Round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part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Fruit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Made from wood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 mass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402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86243-9037-BC13-F23A-195B4100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16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3FDBD8-9EF0-A699-90B4-6EE61B4F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0B753D-C973-4917-0E97-052B280690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unproductive semantic feature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B78FA-C26D-750C-032B-FA1371C36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64307"/>
              </p:ext>
            </p:extLst>
          </p:nvPr>
        </p:nvGraphicFramePr>
        <p:xfrm>
          <a:off x="374573" y="1343086"/>
          <a:ext cx="10774498" cy="4459187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3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Animal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Protruding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Tree/plant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5296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Artefact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14525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Narrow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883809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40773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8233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Dispersive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0435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Extended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0219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Spread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79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0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B483-6BDC-1F27-F856-0DABCD49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17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3F004-F5F5-1704-0850-CF5DE762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CE78AE-41CC-0DDF-8119-AB802DF832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morpho-phonological feature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F644FA-BF31-243E-ADB1-1A2FC89B4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240296"/>
              </p:ext>
            </p:extLst>
          </p:nvPr>
        </p:nvGraphicFramePr>
        <p:xfrm>
          <a:off x="374573" y="1343086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7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8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07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18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unproductive morpho-phonological feature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FDE7A0-DCA2-FB91-6C52-A709CBF13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67551"/>
              </p:ext>
            </p:extLst>
          </p:nvPr>
        </p:nvGraphicFramePr>
        <p:xfrm>
          <a:off x="374573" y="1343086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1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296363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390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Results: </a:t>
            </a:r>
            <a:r>
              <a:rPr lang="en-US" dirty="0">
                <a:latin typeface="Helvetica" pitchFamily="2" charset="0"/>
              </a:rPr>
              <a:t>Productive semantic rules 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19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[+human]            class 1/2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[+augmentative]          class 5/6 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[+human] + [pejorative]           class 7/8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 diminutive]         class 12/13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[+derived]           class 15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[+infinitive]           class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/>
          <p:nvPr/>
        </p:nvCxnSpPr>
        <p:spPr>
          <a:xfrm>
            <a:off x="2946399" y="152988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/>
          <p:nvPr/>
        </p:nvCxnSpPr>
        <p:spPr>
          <a:xfrm>
            <a:off x="3949513" y="2051877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5172027" y="2590801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/>
          <p:nvPr/>
        </p:nvCxnSpPr>
        <p:spPr>
          <a:xfrm>
            <a:off x="3515506" y="3107634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/>
          <p:nvPr/>
        </p:nvCxnSpPr>
        <p:spPr>
          <a:xfrm>
            <a:off x="3056465" y="3590603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D2737-4AB8-BF94-BF19-8CE2B50BE4BD}"/>
              </a:ext>
            </a:extLst>
          </p:cNvPr>
          <p:cNvCxnSpPr/>
          <p:nvPr/>
        </p:nvCxnSpPr>
        <p:spPr>
          <a:xfrm>
            <a:off x="3242732" y="413541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21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Results: Unproductive semantic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61E77-6063-2B75-9FCA-22B3CC26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20</a:t>
            </a:fld>
            <a:endParaRPr lang="en-US" sz="28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55CB89-0A5F-5C3E-B348-1F223C86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635227"/>
            <a:ext cx="11604171" cy="497794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514350" indent="-514350">
              <a:buAutoNum type="romanLcParenR"/>
            </a:pPr>
            <a:r>
              <a:rPr lang="en-US" sz="2800" dirty="0">
                <a:highlight>
                  <a:srgbClr val="FFFF00"/>
                </a:highlight>
              </a:rPr>
              <a:t>If [+animal]          class 3, 5, 7, 9, 11</a:t>
            </a:r>
          </a:p>
          <a:p>
            <a:pPr marL="514350" indent="-514350">
              <a:buAutoNum type="romanLcParenR"/>
            </a:pPr>
            <a:r>
              <a:rPr lang="en-US" sz="2800" dirty="0"/>
              <a:t> If [+plant part]         class 5, 11</a:t>
            </a:r>
          </a:p>
          <a:p>
            <a:pPr marL="514350" indent="-514350">
              <a:buAutoNum type="romanLcParenR"/>
            </a:pPr>
            <a:r>
              <a:rPr lang="en-US" sz="2800" dirty="0"/>
              <a:t>If [+wooden]           class 5</a:t>
            </a:r>
          </a:p>
          <a:p>
            <a:pPr marL="514350" indent="-514350">
              <a:buAutoNum type="romanLcParenR"/>
            </a:pPr>
            <a:r>
              <a:rPr lang="en-US" sz="2800" dirty="0"/>
              <a:t>If [+narrow]            class 11</a:t>
            </a:r>
          </a:p>
          <a:p>
            <a:pPr marL="514350" indent="-514350">
              <a:buAutoNum type="romanLcParenR"/>
            </a:pPr>
            <a:r>
              <a:rPr lang="en-US" sz="2800" dirty="0"/>
              <a:t>If [+wavy]             class 11</a:t>
            </a:r>
          </a:p>
          <a:p>
            <a:pPr marL="514350" indent="-514350">
              <a:buAutoNum type="romanLcParenR"/>
            </a:pPr>
            <a:r>
              <a:rPr lang="en-US" sz="2800" dirty="0">
                <a:highlight>
                  <a:srgbClr val="FFFF00"/>
                </a:highlight>
              </a:rPr>
              <a:t>If [+artefacts]               class 7</a:t>
            </a:r>
          </a:p>
          <a:p>
            <a:pPr marL="514350" indent="-514350">
              <a:buAutoNum type="romanLcParenR"/>
            </a:pPr>
            <a:r>
              <a:rPr lang="en-US" sz="2800" dirty="0"/>
              <a:t>If [+protruding]         class 3</a:t>
            </a:r>
          </a:p>
          <a:p>
            <a:pPr marL="514350" indent="-514350">
              <a:buAutoNum type="romanLcParenR"/>
            </a:pPr>
            <a:r>
              <a:rPr lang="en-US" sz="2800" dirty="0"/>
              <a:t>If [+dispersive mass]         class 3</a:t>
            </a:r>
          </a:p>
          <a:p>
            <a:pPr marL="514350" indent="-514350">
              <a:buAutoNum type="romanLcParenR"/>
            </a:pPr>
            <a:r>
              <a:rPr lang="en-US" sz="2800" dirty="0"/>
              <a:t>If [+cohesive mass]          class  5       </a:t>
            </a:r>
          </a:p>
          <a:p>
            <a:pPr marL="0" indent="0">
              <a:buNone/>
            </a:pPr>
            <a:endParaRPr lang="en-US" sz="1800" dirty="0"/>
          </a:p>
          <a:p>
            <a:pPr marL="514350" indent="-514350">
              <a:buAutoNum type="romanLcParenR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  <a:p>
            <a:pPr marL="514350" indent="-514350"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DEFD5B-CCD9-D854-BBA0-FFFEA68C5A43}"/>
              </a:ext>
            </a:extLst>
          </p:cNvPr>
          <p:cNvCxnSpPr/>
          <p:nvPr/>
        </p:nvCxnSpPr>
        <p:spPr>
          <a:xfrm>
            <a:off x="2929467" y="1268528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67CCB7-E182-E826-50BC-65720D4555AE}"/>
              </a:ext>
            </a:extLst>
          </p:cNvPr>
          <p:cNvCxnSpPr/>
          <p:nvPr/>
        </p:nvCxnSpPr>
        <p:spPr>
          <a:xfrm>
            <a:off x="3242733" y="1766221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2DDCCD-F51B-6561-4220-8B539678F615}"/>
              </a:ext>
            </a:extLst>
          </p:cNvPr>
          <p:cNvCxnSpPr/>
          <p:nvPr/>
        </p:nvCxnSpPr>
        <p:spPr>
          <a:xfrm>
            <a:off x="3042113" y="2277901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334A6F-B34E-4CB2-7F91-B133EB6C5794}"/>
              </a:ext>
            </a:extLst>
          </p:cNvPr>
          <p:cNvCxnSpPr/>
          <p:nvPr/>
        </p:nvCxnSpPr>
        <p:spPr>
          <a:xfrm>
            <a:off x="4398623" y="4847352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7E5D3B-B569-11D7-F72C-B582821708E2}"/>
              </a:ext>
            </a:extLst>
          </p:cNvPr>
          <p:cNvCxnSpPr/>
          <p:nvPr/>
        </p:nvCxnSpPr>
        <p:spPr>
          <a:xfrm>
            <a:off x="2904069" y="2838174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BDC98D-6DC7-83BF-26E8-6F6C37F46BC8}"/>
              </a:ext>
            </a:extLst>
          </p:cNvPr>
          <p:cNvCxnSpPr/>
          <p:nvPr/>
        </p:nvCxnSpPr>
        <p:spPr>
          <a:xfrm>
            <a:off x="2728847" y="3286539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798F89-ED67-B0FF-3CC7-F6C784940D6A}"/>
              </a:ext>
            </a:extLst>
          </p:cNvPr>
          <p:cNvCxnSpPr/>
          <p:nvPr/>
        </p:nvCxnSpPr>
        <p:spPr>
          <a:xfrm>
            <a:off x="4299964" y="5337313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098ADF-78F3-BFE5-76F3-906E760352DE}"/>
              </a:ext>
            </a:extLst>
          </p:cNvPr>
          <p:cNvCxnSpPr/>
          <p:nvPr/>
        </p:nvCxnSpPr>
        <p:spPr>
          <a:xfrm>
            <a:off x="3234267" y="3793066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F6BC4E-F0BE-C505-76FB-47A647DC4642}"/>
              </a:ext>
            </a:extLst>
          </p:cNvPr>
          <p:cNvCxnSpPr/>
          <p:nvPr/>
        </p:nvCxnSpPr>
        <p:spPr>
          <a:xfrm>
            <a:off x="3355379" y="4318736"/>
            <a:ext cx="626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06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Results: </a:t>
            </a:r>
            <a:r>
              <a:rPr lang="en-US" dirty="0">
                <a:latin typeface="Helvetica" pitchFamily="2" charset="0"/>
              </a:rPr>
              <a:t>Productive morpho-phonological rules 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21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[[+human] + [</a:t>
            </a:r>
            <a:r>
              <a:rPr lang="en-US" sz="2800" dirty="0" err="1"/>
              <a:t>mû</a:t>
            </a:r>
            <a:r>
              <a:rPr lang="en-US" sz="2800" dirty="0"/>
              <a:t>-]]            class 1/2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[[-human]+ [</a:t>
            </a:r>
            <a:r>
              <a:rPr lang="en-US" sz="2800" dirty="0" err="1"/>
              <a:t>mû</a:t>
            </a:r>
            <a:r>
              <a:rPr lang="en-US" sz="2800" dirty="0"/>
              <a:t>-]]           class 3/4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</a:t>
            </a:r>
            <a:r>
              <a:rPr lang="en-US" sz="2800" dirty="0" err="1"/>
              <a:t>î</a:t>
            </a:r>
            <a:r>
              <a:rPr lang="en-US" sz="2800" dirty="0"/>
              <a:t>-/</a:t>
            </a:r>
            <a:r>
              <a:rPr lang="en-US" sz="2800" dirty="0" err="1"/>
              <a:t>rî</a:t>
            </a:r>
            <a:r>
              <a:rPr lang="en-US" sz="2800" dirty="0"/>
              <a:t>-]          class 5/6 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</a:t>
            </a:r>
            <a:r>
              <a:rPr lang="en-US" sz="2800" dirty="0" err="1"/>
              <a:t>kî</a:t>
            </a:r>
            <a:r>
              <a:rPr lang="en-US" sz="2800" dirty="0"/>
              <a:t>-]           class 7/8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[+n-]            class 12/13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</a:t>
            </a:r>
            <a:r>
              <a:rPr lang="en-US" sz="2800" dirty="0" err="1"/>
              <a:t>rû</a:t>
            </a:r>
            <a:r>
              <a:rPr lang="en-US" sz="2800" dirty="0"/>
              <a:t>-]           class 11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</a:t>
            </a:r>
            <a:r>
              <a:rPr lang="en-US" sz="2800" dirty="0" err="1"/>
              <a:t>û</a:t>
            </a:r>
            <a:r>
              <a:rPr lang="en-US" sz="2800" dirty="0"/>
              <a:t>-]          class 14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If [+</a:t>
            </a:r>
            <a:r>
              <a:rPr lang="en-US" sz="2800" dirty="0" err="1"/>
              <a:t>kû</a:t>
            </a:r>
            <a:r>
              <a:rPr lang="en-US" sz="2800" dirty="0"/>
              <a:t>-]           class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>
            <a:cxnSpLocks/>
          </p:cNvCxnSpPr>
          <p:nvPr/>
        </p:nvCxnSpPr>
        <p:spPr>
          <a:xfrm>
            <a:off x="4227443" y="1529889"/>
            <a:ext cx="728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>
            <a:cxnSpLocks/>
          </p:cNvCxnSpPr>
          <p:nvPr/>
        </p:nvCxnSpPr>
        <p:spPr>
          <a:xfrm>
            <a:off x="4108173" y="2025372"/>
            <a:ext cx="765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2499137" y="2604054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/>
          <p:nvPr/>
        </p:nvCxnSpPr>
        <p:spPr>
          <a:xfrm>
            <a:off x="2322072" y="3094382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/>
          <p:nvPr/>
        </p:nvCxnSpPr>
        <p:spPr>
          <a:xfrm>
            <a:off x="2322072" y="360385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D2737-4AB8-BF94-BF19-8CE2B50BE4BD}"/>
              </a:ext>
            </a:extLst>
          </p:cNvPr>
          <p:cNvCxnSpPr/>
          <p:nvPr/>
        </p:nvCxnSpPr>
        <p:spPr>
          <a:xfrm>
            <a:off x="2322809" y="413541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6E74E2-E844-91E0-222B-BDCEA32BD58E}"/>
              </a:ext>
            </a:extLst>
          </p:cNvPr>
          <p:cNvCxnSpPr/>
          <p:nvPr/>
        </p:nvCxnSpPr>
        <p:spPr>
          <a:xfrm>
            <a:off x="2202803" y="461911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D77124-11F4-B865-DA72-56F3FF6C2149}"/>
              </a:ext>
            </a:extLst>
          </p:cNvPr>
          <p:cNvCxnSpPr/>
          <p:nvPr/>
        </p:nvCxnSpPr>
        <p:spPr>
          <a:xfrm>
            <a:off x="2432136" y="5102824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579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Most semantic features predicted to be unproductive under Tolerance Principle </a:t>
            </a:r>
          </a:p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Most morphological features predicted to be productive</a:t>
            </a:r>
          </a:p>
          <a:p>
            <a:pPr marL="457200" lvl="1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2800" dirty="0"/>
              <a:t>- class 1/2, 3/4 have exceptions</a:t>
            </a:r>
          </a:p>
          <a:p>
            <a:r>
              <a:rPr lang="en-US" sz="2800" dirty="0"/>
              <a:t>[±(super)human] a prime semantic feature in classification of   </a:t>
            </a:r>
          </a:p>
          <a:p>
            <a:pPr marL="0" indent="0">
              <a:buNone/>
            </a:pPr>
            <a:r>
              <a:rPr lang="en-US" sz="2800" dirty="0"/>
              <a:t>   Kîîtharaka nouns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5464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D142-4E60-95BD-E624-D1E1C6B6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23</a:t>
            </a:fld>
            <a:endParaRPr lang="en-US" sz="2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BF9CBC-D055-FFDE-3CC5-4FECCEE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a possible schema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7C943D7-F34D-84C2-05E7-EA3A4A107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75" y="1148503"/>
            <a:ext cx="10149915" cy="49263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A6514D-B578-6F02-E802-ED9386290F9E}"/>
              </a:ext>
            </a:extLst>
          </p:cNvPr>
          <p:cNvSpPr txBox="1"/>
          <p:nvPr/>
        </p:nvSpPr>
        <p:spPr>
          <a:xfrm>
            <a:off x="7261229" y="4314029"/>
            <a:ext cx="254538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n – n (9/10) </a:t>
            </a:r>
          </a:p>
        </p:txBody>
      </p:sp>
    </p:spTree>
    <p:extLst>
      <p:ext uri="{BB962C8B-B14F-4D97-AF65-F5344CB8AC3E}">
        <p14:creationId xmlns:p14="http://schemas.microsoft.com/office/powerpoint/2010/main" val="49916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D142-4E60-95BD-E624-D1E1C6B6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24</a:t>
            </a:fld>
            <a:endParaRPr lang="en-US" sz="2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BF9CBC-D055-FFDE-3CC5-4FECCEE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a possible schema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8787EB4-C67B-A47B-3599-6062E6A62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336024"/>
              </p:ext>
            </p:extLst>
          </p:nvPr>
        </p:nvGraphicFramePr>
        <p:xfrm>
          <a:off x="1049868" y="719665"/>
          <a:ext cx="10498664" cy="5320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777">
                  <a:extLst>
                    <a:ext uri="{9D8B030D-6E8A-4147-A177-3AD203B41FA5}">
                      <a16:colId xmlns:a16="http://schemas.microsoft.com/office/drawing/2014/main" val="4053188033"/>
                    </a:ext>
                  </a:extLst>
                </a:gridCol>
                <a:gridCol w="1749777">
                  <a:extLst>
                    <a:ext uri="{9D8B030D-6E8A-4147-A177-3AD203B41FA5}">
                      <a16:colId xmlns:a16="http://schemas.microsoft.com/office/drawing/2014/main" val="1585029149"/>
                    </a:ext>
                  </a:extLst>
                </a:gridCol>
                <a:gridCol w="1546578">
                  <a:extLst>
                    <a:ext uri="{9D8B030D-6E8A-4147-A177-3AD203B41FA5}">
                      <a16:colId xmlns:a16="http://schemas.microsoft.com/office/drawing/2014/main" val="2256166331"/>
                    </a:ext>
                  </a:extLst>
                </a:gridCol>
                <a:gridCol w="1134533">
                  <a:extLst>
                    <a:ext uri="{9D8B030D-6E8A-4147-A177-3AD203B41FA5}">
                      <a16:colId xmlns:a16="http://schemas.microsoft.com/office/drawing/2014/main" val="7647769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04648970"/>
                    </a:ext>
                  </a:extLst>
                </a:gridCol>
                <a:gridCol w="2692399">
                  <a:extLst>
                    <a:ext uri="{9D8B030D-6E8A-4147-A177-3AD203B41FA5}">
                      <a16:colId xmlns:a16="http://schemas.microsoft.com/office/drawing/2014/main" val="125124812"/>
                    </a:ext>
                  </a:extLst>
                </a:gridCol>
              </a:tblGrid>
              <a:tr h="628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Thing (most prototypical)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311396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r>
                        <a:rPr lang="en-US" dirty="0"/>
                        <a:t>Evaluative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Non-evaluative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158764"/>
                  </a:ext>
                </a:extLst>
              </a:tr>
              <a:tr h="9120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(Super)Human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Non-(super)human</a:t>
                      </a:r>
                    </a:p>
                    <a:p>
                      <a:r>
                        <a:rPr lang="en-US" dirty="0"/>
                        <a:t>Morphophonological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97846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û-î</a:t>
                      </a:r>
                      <a:r>
                        <a:rPr lang="en-US" dirty="0"/>
                        <a:t> (3/4)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09217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Î</a:t>
                      </a:r>
                      <a:r>
                        <a:rPr lang="en-US" dirty="0"/>
                        <a:t> -ma (5/6)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45001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-k(g)</a:t>
                      </a:r>
                      <a:r>
                        <a:rPr lang="en-US" dirty="0" err="1"/>
                        <a:t>î</a:t>
                      </a:r>
                      <a:r>
                        <a:rPr lang="en-US" dirty="0"/>
                        <a:t> (7/8)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962046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9888"/>
                  </a:ext>
                </a:extLst>
              </a:tr>
              <a:tr h="6280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787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813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Two super-agreement noun classes (</a:t>
            </a:r>
            <a:r>
              <a:rPr lang="en-US" sz="2800" dirty="0" err="1"/>
              <a:t>Msaka</a:t>
            </a:r>
            <a:r>
              <a:rPr lang="en-US" sz="2800" dirty="0"/>
              <a:t>, 2019)</a:t>
            </a:r>
          </a:p>
          <a:p>
            <a:pPr marL="0" indent="0">
              <a:buNone/>
            </a:pPr>
            <a:r>
              <a:rPr lang="en-US" sz="2800" dirty="0"/>
              <a:t>              a) human/animate/agentive ~ animate </a:t>
            </a:r>
          </a:p>
          <a:p>
            <a:pPr marL="0" indent="0">
              <a:buNone/>
            </a:pPr>
            <a:r>
              <a:rPr lang="en-US" sz="2800" dirty="0"/>
              <a:t>               b) non-human/inanimate/non-agentive ~ inanimate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Diagram, table&#10;&#10;Description automatically generated with medium confidence">
            <a:extLst>
              <a:ext uri="{FF2B5EF4-FFF2-40B4-BE49-F238E27FC236}">
                <a16:creationId xmlns:a16="http://schemas.microsoft.com/office/drawing/2014/main" id="{AF220D5F-88E3-E24A-B5BA-108C44E7A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14" y="2681394"/>
            <a:ext cx="9436100" cy="345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45B3-057B-9C69-6607-E83C73F8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25</a:t>
            </a:fld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B3E2E-FFE2-A6CB-B064-D0DD219D173A}"/>
              </a:ext>
            </a:extLst>
          </p:cNvPr>
          <p:cNvSpPr txBox="1"/>
          <p:nvPr/>
        </p:nvSpPr>
        <p:spPr>
          <a:xfrm>
            <a:off x="671514" y="2681394"/>
            <a:ext cx="741944" cy="5423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C62E5C-D336-1058-AFDF-468AB66B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Implications: comparison with Chichewa</a:t>
            </a:r>
          </a:p>
        </p:txBody>
      </p:sp>
    </p:spTree>
    <p:extLst>
      <p:ext uri="{BB962C8B-B14F-4D97-AF65-F5344CB8AC3E}">
        <p14:creationId xmlns:p14="http://schemas.microsoft.com/office/powerpoint/2010/main" val="3973873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Limited variety of written Kîîtharaka text- relied on Kîîtharaka bible (BTL, 2019)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Bible lacked diversity on some semantic domains (e.g., names of local trees, local animals, body parts </a:t>
            </a:r>
            <a:r>
              <a:rPr lang="en-US" sz="2800" dirty="0" err="1"/>
              <a:t>etc</a:t>
            </a:r>
            <a:r>
              <a:rPr lang="en-US" sz="2800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Translated SIL comparative African word list (Snider &amp; Roberts, 2006)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Tolerance Principle is a mere prediction of human </a:t>
            </a:r>
            <a:r>
              <a:rPr lang="en-US" sz="2800" dirty="0" err="1"/>
              <a:t>behaviour</a:t>
            </a:r>
            <a:endParaRPr lang="en-US" sz="2800" dirty="0"/>
          </a:p>
          <a:p>
            <a:pPr lvl="1">
              <a:spcAft>
                <a:spcPts val="600"/>
              </a:spcAft>
            </a:pPr>
            <a:r>
              <a:rPr lang="en-US" sz="2800" dirty="0"/>
              <a:t>Need for confirmation through experimenting with humans.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Corpus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3EAF-1C6A-EB5D-9778-6CC876F5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4127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0"/>
            <a:ext cx="11830851" cy="5447313"/>
          </a:xfrm>
        </p:spPr>
        <p:txBody>
          <a:bodyPr>
            <a:noAutofit/>
          </a:bodyPr>
          <a:lstStyle/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latin typeface="Helvetica" pitchFamily="2" charset="0"/>
              </a:rPr>
              <a:t>Goals: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Test TP predictions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What semantic and morpho-phonological rules are speakers sensitive to when classifying novel nouns?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latin typeface="Helvetica" pitchFamily="2" charset="0"/>
              </a:rPr>
              <a:t>What is the relative importance of semantic and morpho-phonological cues?</a:t>
            </a:r>
          </a:p>
          <a:p>
            <a:pPr lvl="2">
              <a:spcAft>
                <a:spcPts val="600"/>
              </a:spcAft>
            </a:pPr>
            <a:r>
              <a:rPr lang="en-US" sz="2800" dirty="0"/>
              <a:t>Results of similar experiments outside Bantu: children learning noun classes prefer phonology cues even when statistically less reliable than semantic cues </a:t>
            </a:r>
            <a:r>
              <a:rPr lang="en-US" sz="2400" dirty="0"/>
              <a:t>(as in Karmiloff-Smith, 1981; Gagliardi &amp; </a:t>
            </a:r>
            <a:r>
              <a:rPr lang="en-US" sz="2400" dirty="0" err="1"/>
              <a:t>Lidz</a:t>
            </a:r>
            <a:r>
              <a:rPr lang="en-US" sz="2400" dirty="0"/>
              <a:t>, 2014 </a:t>
            </a:r>
            <a:r>
              <a:rPr lang="en-US" sz="2400" dirty="0" err="1"/>
              <a:t>a.o.</a:t>
            </a:r>
            <a:r>
              <a:rPr lang="en-US" sz="2400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Next steps: Psycholinguistic 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5FA9B-923E-811E-E849-3923D80F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106" y="6375086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27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4796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Noun classes are hard to understand…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If approached from a diachronically centric point of view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Without a theory of productivity, and without empirical evidence from speakers</a:t>
            </a:r>
          </a:p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A new approach that makes use of data from synchronic corpus and observation of human behaviour can help us better understand </a:t>
            </a:r>
            <a:r>
              <a:rPr lang="en-GB" sz="2800" dirty="0" err="1"/>
              <a:t>Kîîtharaka</a:t>
            </a:r>
            <a:r>
              <a:rPr lang="en-GB" sz="2800"/>
              <a:t> noun </a:t>
            </a:r>
            <a:r>
              <a:rPr lang="en-GB" sz="2800" dirty="0"/>
              <a:t>classes</a:t>
            </a:r>
            <a:endParaRPr lang="en-GB" sz="24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D2A8D-7E5E-B3ED-214A-C9E9CA76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1861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 algn="ctr">
              <a:buNone/>
            </a:pPr>
            <a:r>
              <a:rPr lang="en-US" sz="5400" dirty="0">
                <a:cs typeface="Calibri"/>
              </a:rPr>
              <a:t>Thank you!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4C62C-138C-3503-4343-9CE0302E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1769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GB" dirty="0" err="1"/>
              <a:t>Aikhenvald</a:t>
            </a:r>
            <a:r>
              <a:rPr lang="en-GB" dirty="0"/>
              <a:t>, A. (2003). </a:t>
            </a:r>
            <a:r>
              <a:rPr lang="en-GB" i="1" dirty="0"/>
              <a:t>Classifiers: A typology of noun categorization devices.</a:t>
            </a:r>
            <a:r>
              <a:rPr lang="en-GB" dirty="0"/>
              <a:t> Oxford: Oxford University Press.</a:t>
            </a:r>
          </a:p>
          <a:p>
            <a:r>
              <a:rPr lang="en-GB" dirty="0" err="1"/>
              <a:t>Amidu</a:t>
            </a:r>
            <a:r>
              <a:rPr lang="en-GB" dirty="0"/>
              <a:t>, A.A. 1997. </a:t>
            </a:r>
            <a:r>
              <a:rPr lang="en-GB" i="1" dirty="0"/>
              <a:t>Classes in Kiswahili</a:t>
            </a:r>
            <a:r>
              <a:rPr lang="en-GB" dirty="0"/>
              <a:t>. Köln: </a:t>
            </a:r>
            <a:r>
              <a:rPr lang="en-GB" dirty="0" err="1"/>
              <a:t>Rüdiger</a:t>
            </a:r>
            <a:r>
              <a:rPr lang="en-GB" dirty="0"/>
              <a:t> </a:t>
            </a:r>
            <a:r>
              <a:rPr lang="en-GB" dirty="0" err="1"/>
              <a:t>Köppe</a:t>
            </a:r>
            <a:r>
              <a:rPr lang="en-GB" dirty="0"/>
              <a:t> Verlag.</a:t>
            </a:r>
          </a:p>
          <a:p>
            <a:r>
              <a:rPr lang="en-GB" dirty="0"/>
              <a:t>Bible Translation &amp; Literacy (EA). (2019). </a:t>
            </a:r>
            <a:r>
              <a:rPr lang="en-GB" i="1" dirty="0" err="1"/>
              <a:t>Bibiria</a:t>
            </a:r>
            <a:r>
              <a:rPr lang="en-GB" i="1" dirty="0"/>
              <a:t>: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gîkûrû</a:t>
            </a:r>
            <a:r>
              <a:rPr lang="en-GB" i="1" dirty="0"/>
              <a:t> </a:t>
            </a:r>
            <a:r>
              <a:rPr lang="en-GB" i="1" dirty="0" err="1"/>
              <a:t>na</a:t>
            </a:r>
            <a:r>
              <a:rPr lang="en-GB" i="1" dirty="0"/>
              <a:t>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kîyerû</a:t>
            </a:r>
            <a:r>
              <a:rPr lang="en-GB" i="1" dirty="0"/>
              <a:t>.</a:t>
            </a:r>
            <a:r>
              <a:rPr lang="en-GB" dirty="0"/>
              <a:t> Nairobi: Bible Translation &amp; Literacy (EA).</a:t>
            </a:r>
          </a:p>
          <a:p>
            <a:r>
              <a:rPr lang="en-GB" dirty="0" err="1"/>
              <a:t>Bleek</a:t>
            </a:r>
            <a:r>
              <a:rPr lang="en-GB" dirty="0"/>
              <a:t>, W.H.I. (1862-1969). A Comparative Grammar of South African Languages, I: Phonology (1862), II: The Concord, section I: The Noun (1869). London: </a:t>
            </a:r>
            <a:r>
              <a:rPr lang="en-GB" dirty="0" err="1"/>
              <a:t>Trubner</a:t>
            </a:r>
            <a:r>
              <a:rPr lang="en-GB" dirty="0"/>
              <a:t>. (Republished 1971 in one volume, Farnborough: Gregg.)</a:t>
            </a:r>
          </a:p>
          <a:p>
            <a:r>
              <a:rPr lang="en-GB" dirty="0"/>
              <a:t>Brooks, P. J., Braine, M. D., Catalano, L., Brody, R. E., &amp; Sudhalter, V. (1993). Acquisition of gender-like noun subclasses in an artificial language: The contribution of phonological markers to learning. Journal of Memory and Language, 32, 76–95.</a:t>
            </a:r>
          </a:p>
          <a:p>
            <a:r>
              <a:rPr lang="en-GB" dirty="0"/>
              <a:t>Carstens, V., (1991). The morphology and syntax of determiner phrases in Kiswahili. UCLA PhD thesis.</a:t>
            </a:r>
          </a:p>
          <a:p>
            <a:r>
              <a:rPr lang="en-GB" dirty="0"/>
              <a:t> Corbett, G.G. 1991. </a:t>
            </a:r>
            <a:r>
              <a:rPr lang="en-GB" i="1" dirty="0"/>
              <a:t>Gender</a:t>
            </a:r>
            <a:r>
              <a:rPr lang="en-GB" dirty="0"/>
              <a:t>. Cambridge Mass.: Cambridge University Press.</a:t>
            </a:r>
          </a:p>
          <a:p>
            <a:r>
              <a:rPr lang="en-GB" dirty="0"/>
              <a:t>Demuth, K. (1992). Acquisition of Sesotho. In </a:t>
            </a:r>
            <a:r>
              <a:rPr lang="en-GB" dirty="0" err="1"/>
              <a:t>Slobin</a:t>
            </a:r>
            <a:r>
              <a:rPr lang="en-GB" dirty="0"/>
              <a:t>, D. (Ed.), The cross-linguistic study of language acquisition (Vol. 3, pp. 557–638). Hillsdale, NJ: Lawrence Erlbaum.</a:t>
            </a:r>
          </a:p>
          <a:p>
            <a:r>
              <a:rPr lang="en-GB" dirty="0"/>
              <a:t>Demuth, K. (1994). On the ‘</a:t>
            </a:r>
            <a:r>
              <a:rPr lang="en-GB" dirty="0" err="1"/>
              <a:t>underspecification</a:t>
            </a:r>
            <a:r>
              <a:rPr lang="en-GB" dirty="0"/>
              <a:t>’ of functional categories in early grammars. In Lust, B., </a:t>
            </a:r>
            <a:r>
              <a:rPr lang="en-GB" dirty="0" err="1"/>
              <a:t>Suñer</a:t>
            </a:r>
            <a:r>
              <a:rPr lang="en-GB" dirty="0"/>
              <a:t>, M., Whitman, J. (Eds.), Syntactic theory and first language acquisition: Cross-linguistic perspectives (pp. 119–134). Hillsdale, NJ: Lawrence Erlbaum.</a:t>
            </a:r>
          </a:p>
          <a:p>
            <a:r>
              <a:rPr lang="en-GB" dirty="0"/>
              <a:t>Demuth, K. (2000). Bantu noun class system: Loan words and acquisition. (G. </a:t>
            </a:r>
            <a:r>
              <a:rPr lang="en-GB" dirty="0" err="1"/>
              <a:t>Senft</a:t>
            </a:r>
            <a:r>
              <a:rPr lang="en-GB" dirty="0"/>
              <a:t>, Ed.) </a:t>
            </a:r>
            <a:r>
              <a:rPr lang="en-GB" i="1" dirty="0"/>
              <a:t>Classification Systems</a:t>
            </a:r>
            <a:r>
              <a:rPr lang="en-GB" dirty="0"/>
              <a:t>, 270-292.</a:t>
            </a:r>
          </a:p>
          <a:p>
            <a:r>
              <a:rPr lang="en-GB" dirty="0"/>
              <a:t>Demuth, K., &amp; Ellis, D. (2008). Revisiting the acquisition of Sesotho noun class prefixes. Mahwah, NJ: Lawrence Erlbaum.</a:t>
            </a:r>
          </a:p>
          <a:p>
            <a:r>
              <a:rPr lang="en-GB" dirty="0"/>
              <a:t>Denny, J.P. &amp; </a:t>
            </a:r>
            <a:r>
              <a:rPr lang="en-GB" dirty="0" err="1"/>
              <a:t>Creider</a:t>
            </a:r>
            <a:r>
              <a:rPr lang="en-GB" dirty="0"/>
              <a:t>, C.A. 1986. The semantics of noun classes in Proto-Bantu. In </a:t>
            </a:r>
            <a:r>
              <a:rPr lang="en-GB" i="1" dirty="0"/>
              <a:t>Noun classes and categorization</a:t>
            </a:r>
            <a:r>
              <a:rPr lang="en-GB" dirty="0"/>
              <a:t>. C. Craig, Ed. Amsterdam/ Philadelphia: John </a:t>
            </a:r>
            <a:r>
              <a:rPr lang="en-GB" dirty="0" err="1"/>
              <a:t>Benjamins</a:t>
            </a:r>
            <a:r>
              <a:rPr lang="en-GB" dirty="0"/>
              <a:t> Publishing Company.</a:t>
            </a:r>
          </a:p>
          <a:p>
            <a:r>
              <a:rPr lang="en-GB" dirty="0"/>
              <a:t>Desrochers, A., </a:t>
            </a:r>
            <a:r>
              <a:rPr lang="en-GB" dirty="0" err="1"/>
              <a:t>Paivio</a:t>
            </a:r>
            <a:r>
              <a:rPr lang="en-GB" dirty="0"/>
              <a:t>, A., &amp; Desrochers, S. (1989). </a:t>
            </a:r>
            <a:r>
              <a:rPr lang="en-GB" dirty="0" err="1"/>
              <a:t>L’effet</a:t>
            </a:r>
            <a:r>
              <a:rPr lang="en-GB" dirty="0"/>
              <a:t> de la </a:t>
            </a:r>
            <a:r>
              <a:rPr lang="en-GB" dirty="0" err="1"/>
              <a:t>fréquence</a:t>
            </a:r>
            <a:r>
              <a:rPr lang="en-GB" dirty="0"/>
              <a:t> </a:t>
            </a:r>
            <a:r>
              <a:rPr lang="en-GB" dirty="0" err="1"/>
              <a:t>d’usage</a:t>
            </a:r>
            <a:r>
              <a:rPr lang="en-GB" dirty="0"/>
              <a:t> des </a:t>
            </a:r>
            <a:r>
              <a:rPr lang="en-GB" dirty="0" err="1"/>
              <a:t>noms</a:t>
            </a:r>
            <a:r>
              <a:rPr lang="en-GB" dirty="0"/>
              <a:t> </a:t>
            </a:r>
            <a:r>
              <a:rPr lang="en-GB" dirty="0" err="1"/>
              <a:t>inanimés</a:t>
            </a:r>
            <a:r>
              <a:rPr lang="en-GB" dirty="0"/>
              <a:t> et de la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prédictive</a:t>
            </a:r>
            <a:r>
              <a:rPr lang="en-GB" dirty="0"/>
              <a:t> de </a:t>
            </a:r>
            <a:r>
              <a:rPr lang="en-GB" dirty="0" err="1"/>
              <a:t>leur</a:t>
            </a:r>
            <a:r>
              <a:rPr lang="en-GB" dirty="0"/>
              <a:t> </a:t>
            </a:r>
            <a:r>
              <a:rPr lang="en-GB" dirty="0" err="1"/>
              <a:t>terminaison</a:t>
            </a:r>
            <a:r>
              <a:rPr lang="en-GB" dirty="0"/>
              <a:t> sur </a:t>
            </a:r>
            <a:r>
              <a:rPr lang="en-GB" dirty="0" err="1"/>
              <a:t>l’identification</a:t>
            </a:r>
            <a:r>
              <a:rPr lang="en-GB" dirty="0"/>
              <a:t> du genre grammatical. </a:t>
            </a:r>
            <a:r>
              <a:rPr lang="en-GB" i="1" dirty="0"/>
              <a:t>Revue Canadienne de </a:t>
            </a:r>
            <a:r>
              <a:rPr lang="en-GB" i="1" dirty="0" err="1"/>
              <a:t>Psychologie</a:t>
            </a:r>
            <a:r>
              <a:rPr lang="en-GB" i="1" dirty="0"/>
              <a:t>, </a:t>
            </a:r>
            <a:r>
              <a:rPr lang="en-GB" b="1" dirty="0"/>
              <a:t>43, </a:t>
            </a:r>
            <a:r>
              <a:rPr lang="en-GB" dirty="0"/>
              <a:t>62–73.</a:t>
            </a:r>
          </a:p>
          <a:p>
            <a:r>
              <a:rPr lang="en-GB" dirty="0"/>
              <a:t>Dixon, R. (1986). Noun classes and noun classification in typological perspective. In C. G. Craig (Ed.), Noun classes and categorization (pp. 105–112). Philadelphia, PA: John </a:t>
            </a:r>
            <a:r>
              <a:rPr lang="en-GB" dirty="0" err="1"/>
              <a:t>Benjamins</a:t>
            </a:r>
            <a:r>
              <a:rPr lang="en-GB" dirty="0"/>
              <a:t>.</a:t>
            </a:r>
          </a:p>
          <a:p>
            <a:r>
              <a:rPr lang="en-GB" dirty="0"/>
              <a:t>Eberhard, David M, F. Simons and Charles, D. (2019). </a:t>
            </a:r>
            <a:r>
              <a:rPr lang="en-GB" i="1" dirty="0"/>
              <a:t>Kîîtharaka.</a:t>
            </a:r>
            <a:r>
              <a:rPr lang="en-GB" dirty="0"/>
              <a:t> (</a:t>
            </a:r>
            <a:r>
              <a:rPr lang="en-GB" dirty="0" err="1"/>
              <a:t>Fennigh</a:t>
            </a:r>
            <a:r>
              <a:rPr lang="en-GB" dirty="0"/>
              <a:t>, Ed.) Retrieved 09 28, 2019, from </a:t>
            </a:r>
            <a:r>
              <a:rPr lang="en-GB" dirty="0" err="1"/>
              <a:t>Ethnologue</a:t>
            </a:r>
            <a:r>
              <a:rPr lang="en-GB" dirty="0"/>
              <a:t>: Languages of the World: http://</a:t>
            </a:r>
            <a:r>
              <a:rPr lang="en-GB" dirty="0" err="1"/>
              <a:t>www.ethnologue.com</a:t>
            </a:r>
            <a:endParaRPr lang="en-GB" dirty="0"/>
          </a:p>
          <a:p>
            <a:r>
              <a:rPr lang="en-GB" dirty="0" err="1"/>
              <a:t>Frigo</a:t>
            </a:r>
            <a:r>
              <a:rPr lang="en-GB" dirty="0"/>
              <a:t>, L., &amp; McDonald, J. (1998). Properties of phonological markers that affect the acquisition of gender-like subclasses. Journal of Memory and Language, 39, 218–245.</a:t>
            </a:r>
          </a:p>
          <a:p>
            <a:r>
              <a:rPr lang="en-GB" dirty="0"/>
              <a:t>Gagliardi, A. and </a:t>
            </a:r>
            <a:r>
              <a:rPr lang="en-GB" dirty="0" err="1"/>
              <a:t>Lidz</a:t>
            </a:r>
            <a:r>
              <a:rPr lang="en-GB" dirty="0"/>
              <a:t>, J. (2014). Statistical insensitivity in the acquisition of </a:t>
            </a:r>
            <a:r>
              <a:rPr lang="en-GB" dirty="0" err="1"/>
              <a:t>Tsez</a:t>
            </a:r>
            <a:r>
              <a:rPr lang="en-GB" dirty="0"/>
              <a:t> noun classes. Language, 90(1):58–89..</a:t>
            </a:r>
          </a:p>
          <a:p>
            <a:r>
              <a:rPr lang="en-GB" dirty="0" err="1"/>
              <a:t>Givón</a:t>
            </a:r>
            <a:r>
              <a:rPr lang="en-GB" dirty="0"/>
              <a:t>, T. (1971b). Historical syntax and synchronic morphology: an archaeologist's field trip. </a:t>
            </a:r>
            <a:r>
              <a:rPr lang="en-GB" i="1" dirty="0"/>
              <a:t>CLS</a:t>
            </a:r>
            <a:r>
              <a:rPr lang="en-GB" dirty="0"/>
              <a:t>. 7:394–415.</a:t>
            </a:r>
          </a:p>
          <a:p>
            <a:r>
              <a:rPr lang="en-GB" dirty="0"/>
              <a:t>Guthrie, Malcolm (1967–71) </a:t>
            </a:r>
            <a:r>
              <a:rPr lang="en-GB" i="1" dirty="0"/>
              <a:t>Comparative Bantu: an introduction to the comparative linguistics and prehistory of the Bantu languages</a:t>
            </a:r>
            <a:r>
              <a:rPr lang="en-GB" dirty="0"/>
              <a:t>. 4 vols. Farnborough: Gregg Press.</a:t>
            </a:r>
          </a:p>
          <a:p>
            <a:r>
              <a:rPr lang="en-GB" dirty="0"/>
              <a:t>Hockett, C. F. (1958) A Course in Modern Linguistics. New York: Macmillan. 1966. What Algonquian is really like. </a:t>
            </a:r>
            <a:r>
              <a:rPr lang="en-GB" i="1" dirty="0"/>
              <a:t>International Journal of American Linguistics </a:t>
            </a:r>
            <a:r>
              <a:rPr lang="en-GB" dirty="0"/>
              <a:t>32:59-73</a:t>
            </a:r>
          </a:p>
          <a:p>
            <a:r>
              <a:rPr lang="en-GB" dirty="0" err="1"/>
              <a:t>Msaka</a:t>
            </a:r>
            <a:r>
              <a:rPr lang="en-GB" dirty="0"/>
              <a:t>, P.(2019) Nominal classification in </a:t>
            </a:r>
            <a:r>
              <a:rPr lang="en-GB" dirty="0" err="1"/>
              <a:t>bantu</a:t>
            </a:r>
            <a:r>
              <a:rPr lang="en-GB" dirty="0"/>
              <a:t> revisited: The perspective from Chichewa. PhD dissertation: </a:t>
            </a:r>
            <a:r>
              <a:rPr lang="en-GB" i="1" dirty="0"/>
              <a:t>Stellenbosch University. Available at:</a:t>
            </a:r>
            <a:r>
              <a:rPr lang="en-GB" dirty="0">
                <a:hlinkClick r:id="rId2"/>
              </a:rPr>
              <a:t> </a:t>
            </a:r>
            <a:r>
              <a:rPr lang="en-GB" i="1" dirty="0">
                <a:hlinkClick r:id="rId2"/>
              </a:rPr>
              <a:t>http://hdl.handle.net/10019.1/107220</a:t>
            </a:r>
            <a:endParaRPr lang="en-GB" dirty="0"/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F6EDD-9CA0-0BEF-6AE8-8D5D0D39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7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TP offers a mechanism of establishing the productivity of linguistic rules in a set of items with exceptions by providing a threshold beyond which the exceptions should not exceed for the rule to be productive.</a:t>
            </a:r>
          </a:p>
          <a:p>
            <a:pPr lvl="1"/>
            <a:r>
              <a:rPr lang="en-US" sz="1400" b="1" dirty="0"/>
              <a:t>Let rule R be defined over a set of N items. R is productive if and only if e the number of exceptions does not exceed 𝛉</a:t>
            </a:r>
            <a:r>
              <a:rPr lang="en-US" sz="1400" b="1" baseline="-25000" dirty="0"/>
              <a:t>N.</a:t>
            </a:r>
          </a:p>
          <a:p>
            <a:pPr marL="457200" lvl="1" indent="0">
              <a:buNone/>
            </a:pPr>
            <a:r>
              <a:rPr lang="en-US" sz="1400" b="1" baseline="-25000" dirty="0"/>
              <a:t>               </a:t>
            </a:r>
            <a:r>
              <a:rPr lang="en-US" sz="1400" b="1" dirty="0"/>
              <a:t>(</a:t>
            </a:r>
            <a:r>
              <a:rPr lang="en-US" sz="1400" dirty="0"/>
              <a:t>e ≤ 𝛉</a:t>
            </a:r>
            <a:r>
              <a:rPr lang="en-US" sz="1400" baseline="-25000" dirty="0"/>
              <a:t>N </a:t>
            </a:r>
            <a:r>
              <a:rPr lang="en-US" sz="1400" dirty="0"/>
              <a:t>= N/ln(N)                              (Yang, 2016)</a:t>
            </a:r>
          </a:p>
          <a:p>
            <a:r>
              <a:rPr lang="en-US" sz="1400" dirty="0"/>
              <a:t>The threshold (</a:t>
            </a:r>
            <a:r>
              <a:rPr lang="en-US" sz="1400" dirty="0" err="1"/>
              <a:t>Theta_N</a:t>
            </a:r>
            <a:r>
              <a:rPr lang="en-US" sz="1400" dirty="0"/>
              <a:t>) is an expression of the time complexity involved in processing all the items in a non-productive rule. </a:t>
            </a:r>
            <a:r>
              <a:rPr lang="en-US" sz="1400" dirty="0" err="1"/>
              <a:t>e.g</a:t>
            </a:r>
            <a:r>
              <a:rPr lang="en-US" sz="1400" dirty="0"/>
              <a:t>, in a list of 100 items with 10 exceptions, the time taken is expressed as:</a:t>
            </a:r>
          </a:p>
          <a:p>
            <a:pPr marL="0" indent="0">
              <a:buNone/>
            </a:pPr>
            <a:r>
              <a:rPr lang="en-US" sz="1400" dirty="0"/>
              <a:t>                Productive rule = T (N, e) = T(100, 10)</a:t>
            </a:r>
          </a:p>
          <a:p>
            <a:pPr marL="0" indent="0">
              <a:buNone/>
            </a:pPr>
            <a:r>
              <a:rPr lang="en-US" sz="1400" dirty="0"/>
              <a:t>               Unproductive rule= T(N,N) = T(100, 100) (takes more time- each item is accessed and listed)</a:t>
            </a:r>
          </a:p>
          <a:p>
            <a:pPr marL="0" indent="0">
              <a:buNone/>
            </a:pPr>
            <a:r>
              <a:rPr lang="en-US" sz="1400" dirty="0"/>
              <a:t>TP borrows substantially from two previous theories:</a:t>
            </a:r>
          </a:p>
          <a:p>
            <a:pPr marL="342900" indent="-342900">
              <a:buAutoNum type="arabicParenR"/>
            </a:pPr>
            <a:r>
              <a:rPr lang="en-US" sz="1400" dirty="0"/>
              <a:t>The Elsewhere Condition (Anderson, 1969; </a:t>
            </a:r>
            <a:r>
              <a:rPr lang="en-US" sz="1400" dirty="0" err="1"/>
              <a:t>Aronoff</a:t>
            </a:r>
            <a:r>
              <a:rPr lang="en-US" sz="1400" dirty="0"/>
              <a:t>, 1976)</a:t>
            </a:r>
          </a:p>
          <a:p>
            <a:pPr lvl="1"/>
            <a:r>
              <a:rPr lang="en-US" sz="1400" dirty="0"/>
              <a:t>Exceptions are processed earlier than regulars</a:t>
            </a:r>
          </a:p>
          <a:p>
            <a:pPr lvl="1"/>
            <a:r>
              <a:rPr lang="en-US" sz="1400" dirty="0"/>
              <a:t>Serial search- frequency sensitive (</a:t>
            </a:r>
            <a:r>
              <a:rPr lang="en-US" sz="1400" dirty="0" err="1"/>
              <a:t>Stermberg</a:t>
            </a:r>
            <a:r>
              <a:rPr lang="en-US" sz="1400" dirty="0"/>
              <a:t>, 1969; Forster, 1976)</a:t>
            </a:r>
          </a:p>
          <a:p>
            <a:pPr lvl="1"/>
            <a:endParaRPr lang="en-US" sz="1400" dirty="0"/>
          </a:p>
          <a:p>
            <a:pPr>
              <a:buFont typeface="+mj-lt"/>
              <a:buAutoNum type="arabicParenR"/>
            </a:pPr>
            <a:r>
              <a:rPr lang="en-US" sz="1400" dirty="0" err="1"/>
              <a:t>Zipf’s</a:t>
            </a:r>
            <a:r>
              <a:rPr lang="en-US" sz="1400" dirty="0"/>
              <a:t> Law (</a:t>
            </a:r>
            <a:r>
              <a:rPr lang="en-US" sz="1400" dirty="0" err="1"/>
              <a:t>Zipf</a:t>
            </a:r>
            <a:r>
              <a:rPr lang="en-US" sz="1400" dirty="0"/>
              <a:t>, 1949)</a:t>
            </a:r>
          </a:p>
          <a:p>
            <a:pPr lvl="1"/>
            <a:r>
              <a:rPr lang="en-US" sz="1400" dirty="0"/>
              <a:t>Yang uses it to derive the tolerance threshold (A function of probability and time needed to access all items in a non-productive rule)</a:t>
            </a:r>
          </a:p>
          <a:p>
            <a:pPr lvl="1"/>
            <a:r>
              <a:rPr lang="en-US" sz="1400" dirty="0"/>
              <a:t>The law states</a:t>
            </a:r>
            <a:r>
              <a:rPr lang="en-US" sz="1400" b="1" dirty="0"/>
              <a:t>: The rank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/>
              <a:t>) and the frequency (f</a:t>
            </a:r>
            <a:r>
              <a:rPr lang="en-US" sz="1400" b="1" baseline="-25000" dirty="0"/>
              <a:t>i</a:t>
            </a:r>
            <a:r>
              <a:rPr lang="en-US" sz="1400" b="1" dirty="0"/>
              <a:t>) of a word (</a:t>
            </a:r>
            <a:r>
              <a:rPr lang="en-US" sz="1400" b="1" dirty="0" err="1"/>
              <a:t>w</a:t>
            </a:r>
            <a:r>
              <a:rPr lang="en-US" sz="1400" b="1" baseline="-25000" dirty="0" err="1"/>
              <a:t>i</a:t>
            </a:r>
            <a:r>
              <a:rPr lang="en-US" sz="1400" b="1" dirty="0"/>
              <a:t>) in a corpus of natural language are inversely proportional (</a:t>
            </a:r>
            <a:r>
              <a:rPr lang="en-US" sz="1400" b="1" dirty="0" err="1"/>
              <a:t>r</a:t>
            </a:r>
            <a:r>
              <a:rPr lang="en-US" sz="1400" b="1" baseline="-25000" dirty="0" err="1"/>
              <a:t>i</a:t>
            </a:r>
            <a:r>
              <a:rPr lang="en-US" sz="1400" b="1" dirty="0" err="1"/>
              <a:t>f</a:t>
            </a:r>
            <a:r>
              <a:rPr lang="en-US" sz="1400" b="1" baseline="-25000" dirty="0" err="1"/>
              <a:t>i</a:t>
            </a:r>
            <a:r>
              <a:rPr lang="en-US" sz="1400" b="1" dirty="0"/>
              <a:t> = C).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An overview of Tolerance Principle (TP)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F55D-1246-0228-6BC8-3D0C1F89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0937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Determine what semantic rules speakers are sensitive to when classifying nouns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Test the predictions of the Tolerance Principle derived from our corpus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Present unfamiliar images with semantic characteristics of interest, paired with nonce words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Prefixes and agreement masked, participants produce them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</a:t>
            </a:r>
            <a:r>
              <a:rPr lang="en-US" sz="3200" dirty="0" err="1">
                <a:latin typeface="Helvetica" pitchFamily="2" charset="0"/>
              </a:rPr>
              <a:t>Kîîtharaka</a:t>
            </a:r>
            <a:r>
              <a:rPr lang="en-US" sz="3200" dirty="0">
                <a:latin typeface="Helvetica" pitchFamily="2" charset="0"/>
              </a:rPr>
              <a:t>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1: Semantic </a:t>
            </a:r>
            <a:r>
              <a:rPr lang="en-US" dirty="0">
                <a:latin typeface="Helvetica" pitchFamily="2" charset="0"/>
              </a:rPr>
              <a:t>C</a:t>
            </a:r>
            <a:r>
              <a:rPr lang="en-US" sz="4000" dirty="0">
                <a:latin typeface="Helvetica" pitchFamily="2" charset="0"/>
              </a:rPr>
              <a:t>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7D73CB-CB82-3077-B237-1CD9967C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03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Determine whether speakers sensitive to morpho-phonological cues in classifying nouns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3200" dirty="0">
                <a:latin typeface="Helvetica" pitchFamily="2" charset="0"/>
              </a:rPr>
              <a:t>Test the predictions of the Tolerance Principle derived from our corpus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sz="3200" dirty="0">
                <a:latin typeface="Helvetica" pitchFamily="2" charset="0"/>
              </a:rPr>
              <a:t>Present nonce words with prefixes of interest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P</a:t>
            </a:r>
            <a:r>
              <a:rPr lang="en-US" sz="3200" dirty="0">
                <a:latin typeface="Helvetica" pitchFamily="2" charset="0"/>
              </a:rPr>
              <a:t>articipants produce agreement in plural versions of the words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</a:t>
            </a:r>
            <a:r>
              <a:rPr lang="en-US" sz="3200" dirty="0" err="1">
                <a:latin typeface="Helvetica" pitchFamily="2" charset="0"/>
              </a:rPr>
              <a:t>Kîîtharaka</a:t>
            </a:r>
            <a:r>
              <a:rPr lang="en-US" sz="3200" dirty="0">
                <a:latin typeface="Helvetica" pitchFamily="2" charset="0"/>
              </a:rPr>
              <a:t>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2: Morphophonological Cues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ECEFD-AB02-4DE4-2AAB-6A275E27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90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A5195-8DF0-D637-BE35-981CCE2C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Goal: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Determine which cues (between semantics and morphophonology) speakers prime in classifying nouns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Method: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Present unfamiliar images with semantic characteristics of interest, paired with nonce words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Provide prefixes cuing a different class from image , participants produce agreement</a:t>
            </a:r>
          </a:p>
          <a:p>
            <a:pPr lvl="0">
              <a:lnSpc>
                <a:spcPct val="110000"/>
              </a:lnSpc>
            </a:pPr>
            <a:r>
              <a:rPr lang="en-US" sz="3200" b="1" dirty="0">
                <a:latin typeface="Helvetica" pitchFamily="2" charset="0"/>
              </a:rPr>
              <a:t>Participants:</a:t>
            </a:r>
            <a:r>
              <a:rPr lang="en-US" sz="3200" dirty="0">
                <a:latin typeface="Helvetica" pitchFamily="2" charset="0"/>
              </a:rPr>
              <a:t> Kîîtharaka speakers 18 and 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90D9-1E8B-D94B-A81B-6736CCAF87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Experiment 1: Contrasting Cues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6AA3C7-EAF9-7972-953C-8C11F7AC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83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An overview of Tolerance Principle (TP)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F55D-1246-0228-6BC8-3D0C1F89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35</a:t>
            </a:fld>
            <a:endParaRPr lang="en-US" sz="28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DA454EE-10F3-BF9B-007D-34402E3E5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353" y="1351835"/>
            <a:ext cx="4052324" cy="4726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C60126-43EC-9CAF-C99F-5181375F90ED}"/>
              </a:ext>
            </a:extLst>
          </p:cNvPr>
          <p:cNvSpPr txBox="1"/>
          <p:nvPr/>
        </p:nvSpPr>
        <p:spPr>
          <a:xfrm>
            <a:off x="7829550" y="5686425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Yang, 2016:104</a:t>
            </a:r>
          </a:p>
        </p:txBody>
      </p:sp>
    </p:spTree>
    <p:extLst>
      <p:ext uri="{BB962C8B-B14F-4D97-AF65-F5344CB8AC3E}">
        <p14:creationId xmlns:p14="http://schemas.microsoft.com/office/powerpoint/2010/main" val="684102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36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 (class-feature mapping)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5D59F6-2366-ED24-13DF-473E38F31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199289"/>
              </p:ext>
            </p:extLst>
          </p:nvPr>
        </p:nvGraphicFramePr>
        <p:xfrm>
          <a:off x="524933" y="1183341"/>
          <a:ext cx="10041003" cy="4861857"/>
        </p:xfrm>
        <a:graphic>
          <a:graphicData uri="http://schemas.openxmlformats.org/drawingml/2006/table">
            <a:tbl>
              <a:tblPr firstRow="1" bandRow="1"/>
              <a:tblGrid>
                <a:gridCol w="2281222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545637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180103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81539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1807381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245121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45894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441495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0501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109164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245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412273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956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166871"/>
                  </a:ext>
                </a:extLst>
              </a:tr>
              <a:tr h="441987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1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49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A6EE5-DDFE-D8AC-1E03-DA91A1F878B6}"/>
              </a:ext>
            </a:extLst>
          </p:cNvPr>
          <p:cNvSpPr txBox="1"/>
          <p:nvPr/>
        </p:nvSpPr>
        <p:spPr>
          <a:xfrm>
            <a:off x="491066" y="3386960"/>
            <a:ext cx="10293071" cy="47490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37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61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morpho-phonological feature</a:t>
            </a:r>
          </a:p>
          <a:p>
            <a:r>
              <a:rPr lang="en-US" dirty="0">
                <a:latin typeface="Helvetica" pitchFamily="2" charset="0"/>
              </a:rPr>
              <a:t>            (class-feature mapping)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FD26AE-1707-77EE-BCC3-FAE594770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635698"/>
              </p:ext>
            </p:extLst>
          </p:nvPr>
        </p:nvGraphicFramePr>
        <p:xfrm>
          <a:off x="491067" y="1331260"/>
          <a:ext cx="10293071" cy="4578475"/>
        </p:xfrm>
        <a:graphic>
          <a:graphicData uri="http://schemas.openxmlformats.org/drawingml/2006/table">
            <a:tbl>
              <a:tblPr firstRow="1" bandRow="1"/>
              <a:tblGrid>
                <a:gridCol w="2157700">
                  <a:extLst>
                    <a:ext uri="{9D8B030D-6E8A-4147-A177-3AD203B41FA5}">
                      <a16:colId xmlns:a16="http://schemas.microsoft.com/office/drawing/2014/main" val="2012013455"/>
                    </a:ext>
                  </a:extLst>
                </a:gridCol>
                <a:gridCol w="1624452">
                  <a:extLst>
                    <a:ext uri="{9D8B030D-6E8A-4147-A177-3AD203B41FA5}">
                      <a16:colId xmlns:a16="http://schemas.microsoft.com/office/drawing/2014/main" val="2936427638"/>
                    </a:ext>
                  </a:extLst>
                </a:gridCol>
                <a:gridCol w="1624452">
                  <a:extLst>
                    <a:ext uri="{9D8B030D-6E8A-4147-A177-3AD203B41FA5}">
                      <a16:colId xmlns:a16="http://schemas.microsoft.com/office/drawing/2014/main" val="3921145813"/>
                    </a:ext>
                  </a:extLst>
                </a:gridCol>
                <a:gridCol w="1053130">
                  <a:extLst>
                    <a:ext uri="{9D8B030D-6E8A-4147-A177-3AD203B41FA5}">
                      <a16:colId xmlns:a16="http://schemas.microsoft.com/office/drawing/2014/main" val="2818784910"/>
                    </a:ext>
                  </a:extLst>
                </a:gridCol>
                <a:gridCol w="1709765">
                  <a:extLst>
                    <a:ext uri="{9D8B030D-6E8A-4147-A177-3AD203B41FA5}">
                      <a16:colId xmlns:a16="http://schemas.microsoft.com/office/drawing/2014/main" val="775246417"/>
                    </a:ext>
                  </a:extLst>
                </a:gridCol>
                <a:gridCol w="2123572">
                  <a:extLst>
                    <a:ext uri="{9D8B030D-6E8A-4147-A177-3AD203B41FA5}">
                      <a16:colId xmlns:a16="http://schemas.microsoft.com/office/drawing/2014/main" val="1256882497"/>
                    </a:ext>
                  </a:extLst>
                </a:gridCol>
              </a:tblGrid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Prefix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Theta_N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52178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843935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86686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08905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202281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98603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973949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36134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22002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17655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251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79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2EA1716-BEBC-6C54-72B5-3F4AED925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4" y="2013669"/>
            <a:ext cx="2141550" cy="19036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9EF25-7897-8547-98A5-8DF31CAA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Helvetica" pitchFamily="2" charset="0"/>
              </a:rPr>
              <a:t>Sample Stimulus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11CA3-C159-DF4B-9F83-9D4EDF722242}"/>
              </a:ext>
            </a:extLst>
          </p:cNvPr>
          <p:cNvSpPr txBox="1"/>
          <p:nvPr/>
        </p:nvSpPr>
        <p:spPr>
          <a:xfrm>
            <a:off x="838200" y="150602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Training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E4876-0EA7-5947-9A8F-3FE886385136}"/>
              </a:ext>
            </a:extLst>
          </p:cNvPr>
          <p:cNvSpPr txBox="1"/>
          <p:nvPr/>
        </p:nvSpPr>
        <p:spPr>
          <a:xfrm>
            <a:off x="6845300" y="144327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Trial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0BEDDE-950A-7447-857E-17CA1D526589}"/>
              </a:ext>
            </a:extLst>
          </p:cNvPr>
          <p:cNvCxnSpPr/>
          <p:nvPr/>
        </p:nvCxnSpPr>
        <p:spPr>
          <a:xfrm>
            <a:off x="5135880" y="1690688"/>
            <a:ext cx="0" cy="430934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24AE820-AB59-F278-F821-0842C143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1" y="4465615"/>
            <a:ext cx="2242272" cy="2027260"/>
          </a:xfrm>
          <a:prstGeom prst="rect">
            <a:avLst/>
          </a:prstGeom>
        </p:spPr>
      </p:pic>
      <p:pic>
        <p:nvPicPr>
          <p:cNvPr id="15" name="Picture 1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EFCA18A-D75C-AA0C-E0B3-91AF063DE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871" y="2142985"/>
            <a:ext cx="1946482" cy="22127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0E7D8-90B5-C059-10B2-AECEB3AE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685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34023</TotalTime>
  <Words>3491</Words>
  <Application>Microsoft Macintosh PowerPoint</Application>
  <PresentationFormat>Widescreen</PresentationFormat>
  <Paragraphs>821</Paragraphs>
  <Slides>38</Slides>
  <Notes>2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Helvetica</vt:lpstr>
      <vt:lpstr>office theme</vt:lpstr>
      <vt:lpstr>Determinants of noun classification in Kîîtharaka: A synchronic approach</vt:lpstr>
      <vt:lpstr>Noun class systems</vt:lpstr>
      <vt:lpstr>What determines noun class in a language?</vt:lpstr>
      <vt:lpstr>What determines noun class in a language?</vt:lpstr>
      <vt:lpstr>Theoretical and empirical questions…</vt:lpstr>
      <vt:lpstr>Traditional approaches to Bantu noun classes</vt:lpstr>
      <vt:lpstr>Traditional approaches to Bantu noun classes</vt:lpstr>
      <vt:lpstr>Traditional approaches to Bantu noun classes</vt:lpstr>
      <vt:lpstr>A different approach to Kîîtharaka</vt:lpstr>
      <vt:lpstr>Building a Corpus</vt:lpstr>
      <vt:lpstr>Corpus Analysis</vt:lpstr>
      <vt:lpstr>An overview of Tolerance Principle (TP)</vt:lpstr>
      <vt:lpstr>Semantic features coded for </vt:lpstr>
      <vt:lpstr>Morphophonological features coded for</vt:lpstr>
      <vt:lpstr>PowerPoint Presentation</vt:lpstr>
      <vt:lpstr>PowerPoint Presentation</vt:lpstr>
      <vt:lpstr>PowerPoint Presentation</vt:lpstr>
      <vt:lpstr>PowerPoint Presentation</vt:lpstr>
      <vt:lpstr>Results: Productive semantic rules </vt:lpstr>
      <vt:lpstr>Results: Unproductive semantic rules</vt:lpstr>
      <vt:lpstr>Results: Productive morpho-phonological rules </vt:lpstr>
      <vt:lpstr>Implications</vt:lpstr>
      <vt:lpstr>Implications: a possible schema</vt:lpstr>
      <vt:lpstr>Implications: a possible schema</vt:lpstr>
      <vt:lpstr>Implications: comparison with Chichewa</vt:lpstr>
      <vt:lpstr>Corpus Limitations</vt:lpstr>
      <vt:lpstr>Next steps: Psycholinguistic experiments</vt:lpstr>
      <vt:lpstr>Conclusion</vt:lpstr>
      <vt:lpstr>The End</vt:lpstr>
      <vt:lpstr>References</vt:lpstr>
      <vt:lpstr>An overview of Tolerance Principle (TP)</vt:lpstr>
      <vt:lpstr>Experiment 1: Semantic Cues</vt:lpstr>
      <vt:lpstr>Experiment 2: Morphophonological Cues</vt:lpstr>
      <vt:lpstr>Experiment 1: Contrasting Cues</vt:lpstr>
      <vt:lpstr>An overview of Tolerance Principle (TP)</vt:lpstr>
      <vt:lpstr>PowerPoint Presentation</vt:lpstr>
      <vt:lpstr>PowerPoint Presentation</vt:lpstr>
      <vt:lpstr>Sample Stimulus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Patrick Kanampiu</cp:lastModifiedBy>
  <cp:revision>1636</cp:revision>
  <dcterms:created xsi:type="dcterms:W3CDTF">2021-11-19T17:00:59Z</dcterms:created>
  <dcterms:modified xsi:type="dcterms:W3CDTF">2022-12-12T18:30:39Z</dcterms:modified>
</cp:coreProperties>
</file>