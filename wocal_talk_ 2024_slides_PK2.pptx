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458" r:id="rId4"/>
    <p:sldId id="459" r:id="rId5"/>
    <p:sldId id="466" r:id="rId6"/>
    <p:sldId id="457" r:id="rId7"/>
    <p:sldId id="460" r:id="rId8"/>
    <p:sldId id="467" r:id="rId9"/>
    <p:sldId id="461" r:id="rId10"/>
    <p:sldId id="462" r:id="rId11"/>
    <p:sldId id="463" r:id="rId12"/>
    <p:sldId id="464" r:id="rId13"/>
    <p:sldId id="271" r:id="rId14"/>
    <p:sldId id="272" r:id="rId15"/>
    <p:sldId id="292" r:id="rId16"/>
    <p:sldId id="468" r:id="rId17"/>
    <p:sldId id="278" r:id="rId18"/>
    <p:sldId id="456" r:id="rId19"/>
    <p:sldId id="293" r:id="rId20"/>
    <p:sldId id="445" r:id="rId21"/>
    <p:sldId id="434" r:id="rId22"/>
    <p:sldId id="469" r:id="rId23"/>
    <p:sldId id="274" r:id="rId24"/>
    <p:sldId id="276" r:id="rId25"/>
    <p:sldId id="420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67"/>
    <p:restoredTop sz="94720"/>
  </p:normalViewPr>
  <p:slideViewPr>
    <p:cSldViewPr snapToGrid="0">
      <p:cViewPr varScale="1">
        <p:scale>
          <a:sx n="97" d="100"/>
          <a:sy n="97" d="100"/>
        </p:scale>
        <p:origin x="4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26C1FC-4C52-0D4A-AA7C-0FD8A0B01CE5}" type="datetimeFigureOut">
              <a:rPr lang="en-US" smtClean="0"/>
              <a:t>11/8/24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2ACC2-641D-9A4C-9790-6D223F72E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079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2ACC2-641D-9A4C-9790-6D223F72E8E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18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9D176-83FB-8889-9AF2-66298CF5D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7BCC0-A71E-AACE-CF82-A4D3EAB0F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D53E7-EF36-2973-34E5-C13116AA8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70CC-37AB-5643-879F-52D622F73C28}" type="datetime1">
              <a:rPr lang="en-GB" smtClean="0"/>
              <a:t>08/11/2024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55252-B15F-9F62-D130-31B3EAFD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B6723-9743-3772-3969-5ED82416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7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76F0B-01F4-0785-01EE-5708CFD9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0AE56-6CA9-7ED4-8C7F-382CC2992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21761-B53F-71CC-ACA9-EAF6D24C2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0B3CF-2EE2-D34A-BC90-A17D5C574F9D}" type="datetime1">
              <a:rPr lang="en-GB" smtClean="0"/>
              <a:t>08/11/2024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B56AB-8C60-A078-C988-0BB083DCA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BE547-9A32-372F-B155-54BF7860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0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80EDE-239D-04AC-9331-90872125D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FCEAA-F754-4C87-7956-173866F1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04EB4-9A1E-DBDD-2236-2C5295C15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549CC-D38F-DC42-9B45-0FD10095655B}" type="datetime1">
              <a:rPr lang="en-GB" smtClean="0"/>
              <a:t>08/11/2024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959DB-CDDA-3054-C011-EF1CEBF4C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62DB5-67D2-804D-8285-7E8C3D44A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70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B34F0-874F-B8D3-54FE-B1998347E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72D79-4E7F-79C6-D43C-3129F12CC6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3180F-828E-EB20-18C8-36D985CF7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C8606-9478-4AB1-259D-0CAF65132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94D3-A1C6-394A-9997-29DF56878950}" type="datetime1">
              <a:rPr lang="en-GB" smtClean="0"/>
              <a:t>08/11/2024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483A5-BFDC-347F-25E6-2AA054EAE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08362-5EB7-E88D-2348-DF4F66498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829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23831-A4F4-0801-25C0-75F8CB319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1337A-9063-1B71-BA95-2ECA8AAAF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5CD88-B7F9-DD08-D055-97B345E827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62A63-893A-3ED3-E087-DE2CF84F86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E1538E-077D-6812-AFD6-DF56AA8BF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FE89C3-189C-98D2-63CE-34780289B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CC7F4-544E-A74A-92E9-FB664BA2B734}" type="datetime1">
              <a:rPr lang="en-GB" smtClean="0"/>
              <a:t>08/11/2024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698241-D5F5-7AD5-CF5E-0C91B2483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260347-F827-2D73-AFF0-156FE3C00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77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6AB72-39CA-784E-FDB7-A97BF8BC8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14969F-66B6-4DBD-922C-F7D3B9D4B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7ABDB-70FA-F741-8F9C-76B97C095E54}" type="datetime1">
              <a:rPr lang="en-GB" smtClean="0"/>
              <a:t>08/11/2024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FD3279-8C67-7B3F-185C-AF7E7E8D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B80F6-0BCD-9798-9844-81C4B2E0A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8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BB16B3-1CBF-36AA-1FDA-E393FDF9A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4B9C-536E-2149-A927-C7CE57BFA8D8}" type="datetime1">
              <a:rPr lang="en-GB" smtClean="0"/>
              <a:t>08/11/2024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3F7854-1147-FCE1-0656-7CA9B0338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EC569-36D1-A1F3-C3EF-E53A2E6C0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76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35708-110C-2A60-4518-BFFF9BA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E7919-CF81-30CC-85D7-809957889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45A0C-7C32-C013-6235-E5B9CB0F6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AA2AB-829C-C77D-40B9-3ADFB5B7A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FC5A6-34A8-2249-9BE0-5BA40705C376}" type="datetime1">
              <a:rPr lang="en-GB" smtClean="0"/>
              <a:t>08/11/2024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841DB-7994-96E0-E103-E9F294013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72A35-08A8-26E1-4B70-63F0AD238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12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DEE94-8B8C-B2B3-82C6-D23502769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4D592-5F14-64B2-6238-AE4AA08808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22A641-279A-CB93-AF70-43F11AA17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7D8E4-61DB-A01D-DCD5-0F8DB028C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32B6-E44C-8941-8ADF-0814CF04B5FE}" type="datetime1">
              <a:rPr lang="en-GB" smtClean="0"/>
              <a:t>08/11/2024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4BC0D-7DF6-0968-0004-89BCF331D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CA2609-1D44-7973-2515-B05521B5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27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8BE1-3AF3-5AE7-6162-BB72C5587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D2C47-1FCC-0C45-AF3C-6276537D1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5236E-F611-7DA4-619A-99FEC5E3F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FFB2-2F07-9F43-AC90-9028ABC346B6}" type="datetime1">
              <a:rPr lang="en-GB" smtClean="0"/>
              <a:t>08/11/2024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C85FD-9EFA-F7CD-352B-DF80D18F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C2BC-11B4-8D79-C6A3-8C543819C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6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364EFA-DF97-CB62-6D1A-9CCA6E40E0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53D063-A2E4-EE5D-AFA1-793F83E4F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096AB-DBBD-6FC2-8765-3155C6B2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2DE4C-3425-8341-874B-5994AB76136A}" type="datetime1">
              <a:rPr lang="en-GB" smtClean="0"/>
              <a:t>08/11/2024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92FFF-F982-6448-911E-05E0B3DC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CBEFF-816C-6374-6322-D30CDE576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70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22879C-292B-C89F-977B-11D3280E3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9B338-C885-0DD0-EAF6-A3B6FA6AA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5C5EF-94E2-AB56-0BE3-6A2CB69A8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F9117-022E-014B-A12D-A9B5CFA6E17B}" type="datetime1">
              <a:rPr lang="en-GB" smtClean="0"/>
              <a:t>08/11/2024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5905A-2821-A7A0-D7CB-E9A3E3270F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78473-EBDF-52EA-7D69-41F102B4F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8E85C4-44AF-CB41-9265-DD580831A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6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DA511-FFB5-3DC3-65A1-918FAFDE6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3078" y="363557"/>
            <a:ext cx="9144000" cy="2387600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GB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ifferential preference in the choice of nominal classification rules in Kîîtharaka</a:t>
            </a:r>
            <a:br>
              <a:rPr lang="en-GB" sz="2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DA7A0-F093-910E-EB39-D60208447800}"/>
              </a:ext>
            </a:extLst>
          </p:cNvPr>
          <p:cNvSpPr txBox="1"/>
          <p:nvPr/>
        </p:nvSpPr>
        <p:spPr>
          <a:xfrm>
            <a:off x="2244671" y="2887682"/>
            <a:ext cx="77026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Patrick </a:t>
            </a:r>
            <a:r>
              <a:rPr lang="en-GB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anampiu</a:t>
            </a:r>
            <a:r>
              <a:rPr lang="en-GB" sz="28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Alexander Martin</a:t>
            </a:r>
            <a:r>
              <a:rPr lang="en-GB" sz="28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Jennifer Culbertson</a:t>
            </a:r>
            <a:r>
              <a:rPr lang="en-GB" sz="28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</a:p>
          <a:p>
            <a:pPr algn="ctr"/>
            <a:endParaRPr lang="en-GB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US" sz="2800" dirty="0"/>
              <a:t>WOCAL 11</a:t>
            </a:r>
          </a:p>
          <a:p>
            <a:pPr algn="ctr"/>
            <a:r>
              <a:rPr lang="en-US" sz="2800" dirty="0"/>
              <a:t>August 6</a:t>
            </a:r>
            <a:r>
              <a:rPr lang="en-US" sz="2800" baseline="30000" dirty="0"/>
              <a:t>th</a:t>
            </a:r>
            <a:r>
              <a:rPr lang="en-US" sz="2800" dirty="0"/>
              <a:t>, 2024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r>
              <a:rPr lang="en-GB" sz="14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GB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University of Edinburgh</a:t>
            </a:r>
            <a:endParaRPr lang="en-GB" sz="1400" baseline="30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14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</a:t>
            </a:r>
            <a:r>
              <a:rPr lang="en-GB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University of Groningen</a:t>
            </a:r>
          </a:p>
          <a:p>
            <a:pPr algn="ctr"/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21188-1D58-015F-5C27-93E4EA096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mtClean="0"/>
              <a:t>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E1116E-21F6-69C9-2513-470C1B89C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7221" y="5184588"/>
            <a:ext cx="2801415" cy="1536887"/>
          </a:xfrm>
          <a:prstGeom prst="rect">
            <a:avLst/>
          </a:prstGeom>
        </p:spPr>
      </p:pic>
      <p:pic>
        <p:nvPicPr>
          <p:cNvPr id="1028" name="Picture 4" descr="University of Groningen Vector Logo">
            <a:extLst>
              <a:ext uri="{FF2B5EF4-FFF2-40B4-BE49-F238E27FC236}">
                <a16:creationId xmlns:a16="http://schemas.microsoft.com/office/drawing/2014/main" id="{48C1EEF3-9D59-DAAD-6990-F237134F7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5840" y="5184588"/>
            <a:ext cx="3034469" cy="1685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ue and white sign with white text&#10;&#10;Description automatically generated">
            <a:extLst>
              <a:ext uri="{FF2B5EF4-FFF2-40B4-BE49-F238E27FC236}">
                <a16:creationId xmlns:a16="http://schemas.microsoft.com/office/drawing/2014/main" id="{90720D72-FE1F-088E-18B0-EA9B0E3B8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8787" y="5430956"/>
            <a:ext cx="1129956" cy="106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843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C08B9EB-AB31-C032-757B-99A7216E2296}"/>
              </a:ext>
            </a:extLst>
          </p:cNvPr>
          <p:cNvSpPr txBox="1"/>
          <p:nvPr/>
        </p:nvSpPr>
        <p:spPr>
          <a:xfrm>
            <a:off x="671594" y="1039776"/>
            <a:ext cx="1084881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Systems that group nouns based on nominal agreement (see e.g., Hockett 1958, </a:t>
            </a:r>
            <a:r>
              <a:rPr lang="en-GB" sz="2400" dirty="0"/>
              <a:t>Corbett 1991, </a:t>
            </a:r>
            <a:r>
              <a:rPr lang="en-GB" sz="2400" dirty="0" err="1"/>
              <a:t>Guldemann</a:t>
            </a:r>
            <a:r>
              <a:rPr lang="en-GB" sz="2400" dirty="0"/>
              <a:t> &amp; Fiedler 2019)</a:t>
            </a:r>
            <a:endParaRPr lang="en-US" sz="2400" dirty="0"/>
          </a:p>
          <a:p>
            <a:endParaRPr lang="en-US" sz="2800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5AE423A-B424-18E9-BA7F-7D20EBC3D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1</a:t>
            </a:fld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948FD5-0137-4AA9-D4C7-799CE0C7C98D}"/>
              </a:ext>
            </a:extLst>
          </p:cNvPr>
          <p:cNvSpPr txBox="1"/>
          <p:nvPr/>
        </p:nvSpPr>
        <p:spPr>
          <a:xfrm>
            <a:off x="671594" y="278296"/>
            <a:ext cx="9148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Grammatical gender systems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8BA8AD-CFD7-B0FD-58CA-29EC7FE03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051656"/>
              </p:ext>
            </p:extLst>
          </p:nvPr>
        </p:nvGraphicFramePr>
        <p:xfrm>
          <a:off x="5944405" y="3079637"/>
          <a:ext cx="31499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917">
                  <a:extLst>
                    <a:ext uri="{9D8B030D-6E8A-4147-A177-3AD203B41FA5}">
                      <a16:colId xmlns:a16="http://schemas.microsoft.com/office/drawing/2014/main" val="2200798452"/>
                    </a:ext>
                  </a:extLst>
                </a:gridCol>
                <a:gridCol w="1463660">
                  <a:extLst>
                    <a:ext uri="{9D8B030D-6E8A-4147-A177-3AD203B41FA5}">
                      <a16:colId xmlns:a16="http://schemas.microsoft.com/office/drawing/2014/main" val="691160855"/>
                    </a:ext>
                  </a:extLst>
                </a:gridCol>
                <a:gridCol w="1217323">
                  <a:extLst>
                    <a:ext uri="{9D8B030D-6E8A-4147-A177-3AD203B41FA5}">
                      <a16:colId xmlns:a16="http://schemas.microsoft.com/office/drawing/2014/main" val="3860275334"/>
                    </a:ext>
                  </a:extLst>
                </a:gridCol>
              </a:tblGrid>
              <a:tr h="325941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3.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mu-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ntû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accent5"/>
                          </a:solidFill>
                          <a:latin typeface="+mn-lt"/>
                        </a:rPr>
                        <a:t>û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-mwe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183763"/>
                  </a:ext>
                </a:extLst>
              </a:tr>
              <a:tr h="325941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1-person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accent5"/>
                          </a:solidFill>
                          <a:latin typeface="+mn-lt"/>
                        </a:rPr>
                        <a:t>1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-one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49399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8FC30BC-5EFA-5874-99D1-7DF719043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953687"/>
              </p:ext>
            </p:extLst>
          </p:nvPr>
        </p:nvGraphicFramePr>
        <p:xfrm>
          <a:off x="5944405" y="4377627"/>
          <a:ext cx="34962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482">
                  <a:extLst>
                    <a:ext uri="{9D8B030D-6E8A-4147-A177-3AD203B41FA5}">
                      <a16:colId xmlns:a16="http://schemas.microsoft.com/office/drawing/2014/main" val="2200798452"/>
                    </a:ext>
                  </a:extLst>
                </a:gridCol>
                <a:gridCol w="1624612">
                  <a:extLst>
                    <a:ext uri="{9D8B030D-6E8A-4147-A177-3AD203B41FA5}">
                      <a16:colId xmlns:a16="http://schemas.microsoft.com/office/drawing/2014/main" val="691160855"/>
                    </a:ext>
                  </a:extLst>
                </a:gridCol>
                <a:gridCol w="1351186">
                  <a:extLst>
                    <a:ext uri="{9D8B030D-6E8A-4147-A177-3AD203B41FA5}">
                      <a16:colId xmlns:a16="http://schemas.microsoft.com/office/drawing/2014/main" val="3860275334"/>
                    </a:ext>
                  </a:extLst>
                </a:gridCol>
              </a:tblGrid>
              <a:tr h="325941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4.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ka-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bûri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accent5"/>
                          </a:solidFill>
                          <a:latin typeface="+mn-lt"/>
                        </a:rPr>
                        <a:t>ka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mwe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183763"/>
                  </a:ext>
                </a:extLst>
              </a:tr>
              <a:tr h="325941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12-kid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accent5"/>
                          </a:solidFill>
                          <a:latin typeface="+mn-lt"/>
                        </a:rPr>
                        <a:t>12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-one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49399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5BA1B49-0642-1DC0-B2BF-B4C3D8771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280910"/>
              </p:ext>
            </p:extLst>
          </p:nvPr>
        </p:nvGraphicFramePr>
        <p:xfrm>
          <a:off x="1036029" y="3084922"/>
          <a:ext cx="31499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917">
                  <a:extLst>
                    <a:ext uri="{9D8B030D-6E8A-4147-A177-3AD203B41FA5}">
                      <a16:colId xmlns:a16="http://schemas.microsoft.com/office/drawing/2014/main" val="2200798452"/>
                    </a:ext>
                  </a:extLst>
                </a:gridCol>
                <a:gridCol w="1140283">
                  <a:extLst>
                    <a:ext uri="{9D8B030D-6E8A-4147-A177-3AD203B41FA5}">
                      <a16:colId xmlns:a16="http://schemas.microsoft.com/office/drawing/2014/main" val="691160855"/>
                    </a:ext>
                  </a:extLst>
                </a:gridCol>
                <a:gridCol w="1540700">
                  <a:extLst>
                    <a:ext uri="{9D8B030D-6E8A-4147-A177-3AD203B41FA5}">
                      <a16:colId xmlns:a16="http://schemas.microsoft.com/office/drawing/2014/main" val="3860275334"/>
                    </a:ext>
                  </a:extLst>
                </a:gridCol>
              </a:tblGrid>
              <a:tr h="325941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1.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accent5"/>
                          </a:solidFill>
                        </a:rPr>
                        <a:t>le</a:t>
                      </a:r>
                      <a:endParaRPr lang="en-US" sz="2400" b="0" dirty="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ballon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183763"/>
                  </a:ext>
                </a:extLst>
              </a:tr>
              <a:tr h="325941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the.</a:t>
                      </a:r>
                      <a:r>
                        <a:rPr lang="en-US" sz="2400" b="0" dirty="0" err="1">
                          <a:solidFill>
                            <a:schemeClr val="accent5"/>
                          </a:solidFill>
                          <a:latin typeface="+mn-lt"/>
                        </a:rPr>
                        <a:t>M</a:t>
                      </a:r>
                      <a:endParaRPr lang="en-US" sz="2400" b="0" dirty="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Ball.M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49399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AAC1CA6-E4AE-B934-0E89-591E47F30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649340"/>
              </p:ext>
            </p:extLst>
          </p:nvPr>
        </p:nvGraphicFramePr>
        <p:xfrm>
          <a:off x="1036029" y="4383876"/>
          <a:ext cx="365027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150">
                  <a:extLst>
                    <a:ext uri="{9D8B030D-6E8A-4147-A177-3AD203B41FA5}">
                      <a16:colId xmlns:a16="http://schemas.microsoft.com/office/drawing/2014/main" val="2200798452"/>
                    </a:ext>
                  </a:extLst>
                </a:gridCol>
                <a:gridCol w="1061735">
                  <a:extLst>
                    <a:ext uri="{9D8B030D-6E8A-4147-A177-3AD203B41FA5}">
                      <a16:colId xmlns:a16="http://schemas.microsoft.com/office/drawing/2014/main" val="691160855"/>
                    </a:ext>
                  </a:extLst>
                </a:gridCol>
                <a:gridCol w="2106386">
                  <a:extLst>
                    <a:ext uri="{9D8B030D-6E8A-4147-A177-3AD203B41FA5}">
                      <a16:colId xmlns:a16="http://schemas.microsoft.com/office/drawing/2014/main" val="3860275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2.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accent5"/>
                          </a:solidFill>
                        </a:rPr>
                        <a:t>la</a:t>
                      </a:r>
                      <a:endParaRPr lang="en-US" sz="2400" b="0" dirty="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Camionnette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183763"/>
                  </a:ext>
                </a:extLst>
              </a:tr>
              <a:tr h="325941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the.</a:t>
                      </a:r>
                      <a:r>
                        <a:rPr lang="en-US" sz="2400" b="0" dirty="0" err="1">
                          <a:solidFill>
                            <a:schemeClr val="accent5"/>
                          </a:solidFill>
                          <a:latin typeface="+mn-lt"/>
                        </a:rPr>
                        <a:t>F</a:t>
                      </a:r>
                      <a:endParaRPr lang="en-US" sz="2400" b="0" dirty="0">
                        <a:solidFill>
                          <a:schemeClr val="accent5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van.F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49399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AD4FE6B-A189-859A-D33B-90601513FAAF}"/>
              </a:ext>
            </a:extLst>
          </p:cNvPr>
          <p:cNvSpPr txBox="1"/>
          <p:nvPr/>
        </p:nvSpPr>
        <p:spPr>
          <a:xfrm>
            <a:off x="1457073" y="2264482"/>
            <a:ext cx="11539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French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D65742-72F0-0B7C-441D-72EEE662E4D6}"/>
              </a:ext>
            </a:extLst>
          </p:cNvPr>
          <p:cNvSpPr txBox="1"/>
          <p:nvPr/>
        </p:nvSpPr>
        <p:spPr>
          <a:xfrm>
            <a:off x="6400586" y="2264482"/>
            <a:ext cx="1602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Kîîtharaka</a:t>
            </a:r>
          </a:p>
        </p:txBody>
      </p:sp>
    </p:spTree>
    <p:extLst>
      <p:ext uri="{BB962C8B-B14F-4D97-AF65-F5344CB8AC3E}">
        <p14:creationId xmlns:p14="http://schemas.microsoft.com/office/powerpoint/2010/main" val="3408849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C08B9EB-AB31-C032-757B-99A7216E2296}"/>
              </a:ext>
            </a:extLst>
          </p:cNvPr>
          <p:cNvSpPr txBox="1"/>
          <p:nvPr/>
        </p:nvSpPr>
        <p:spPr>
          <a:xfrm>
            <a:off x="671594" y="1039776"/>
            <a:ext cx="1084881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Gender agreement mainly depends on meaning and formal cues of the noun: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The different cues (prefixes or suffixes, semantic or formal) differ in reliability (see e.g., Karmiloff, 1981; Gagliardi &amp; </a:t>
            </a:r>
            <a:r>
              <a:rPr lang="en-US" sz="2400" dirty="0" err="1"/>
              <a:t>Lidz</a:t>
            </a:r>
            <a:r>
              <a:rPr lang="en-US" sz="2400" dirty="0"/>
              <a:t> , 2014)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Sometimes there is no overlap between cues (semantic and formal) and agreement ( i.e., exceptions)</a:t>
            </a:r>
          </a:p>
          <a:p>
            <a:pPr lvl="1"/>
            <a:r>
              <a:rPr lang="en-GB" sz="2400" dirty="0"/>
              <a:t>              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There are novel/loan nouns without formal features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5AE423A-B424-18E9-BA7F-7D20EBC3D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2</a:t>
            </a:fld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948FD5-0137-4AA9-D4C7-799CE0C7C98D}"/>
              </a:ext>
            </a:extLst>
          </p:cNvPr>
          <p:cNvSpPr txBox="1"/>
          <p:nvPr/>
        </p:nvSpPr>
        <p:spPr>
          <a:xfrm>
            <a:off x="671594" y="278296"/>
            <a:ext cx="9148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Grammatical gender system are complex</a:t>
            </a:r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01CE2DF-B8F9-1DD1-5D61-3F3642ED8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85754"/>
              </p:ext>
            </p:extLst>
          </p:nvPr>
        </p:nvGraphicFramePr>
        <p:xfrm>
          <a:off x="2221491" y="3499198"/>
          <a:ext cx="3149900" cy="1269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917">
                  <a:extLst>
                    <a:ext uri="{9D8B030D-6E8A-4147-A177-3AD203B41FA5}">
                      <a16:colId xmlns:a16="http://schemas.microsoft.com/office/drawing/2014/main" val="2200798452"/>
                    </a:ext>
                  </a:extLst>
                </a:gridCol>
                <a:gridCol w="1463660">
                  <a:extLst>
                    <a:ext uri="{9D8B030D-6E8A-4147-A177-3AD203B41FA5}">
                      <a16:colId xmlns:a16="http://schemas.microsoft.com/office/drawing/2014/main" val="691160855"/>
                    </a:ext>
                  </a:extLst>
                </a:gridCol>
                <a:gridCol w="1217323">
                  <a:extLst>
                    <a:ext uri="{9D8B030D-6E8A-4147-A177-3AD203B41FA5}">
                      <a16:colId xmlns:a16="http://schemas.microsoft.com/office/drawing/2014/main" val="386027533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3.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mu-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ntû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accent5"/>
                          </a:solidFill>
                          <a:latin typeface="+mn-lt"/>
                        </a:rPr>
                        <a:t>û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-mwe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183763"/>
                  </a:ext>
                </a:extLst>
              </a:tr>
              <a:tr h="811876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1-person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accent5"/>
                          </a:solidFill>
                          <a:latin typeface="+mn-lt"/>
                        </a:rPr>
                        <a:t>1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-one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49399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E7A6606-4157-4F29-59B2-1E2A55460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020514"/>
              </p:ext>
            </p:extLst>
          </p:nvPr>
        </p:nvGraphicFramePr>
        <p:xfrm>
          <a:off x="2221491" y="4730885"/>
          <a:ext cx="411399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439">
                  <a:extLst>
                    <a:ext uri="{9D8B030D-6E8A-4147-A177-3AD203B41FA5}">
                      <a16:colId xmlns:a16="http://schemas.microsoft.com/office/drawing/2014/main" val="2200798452"/>
                    </a:ext>
                  </a:extLst>
                </a:gridCol>
                <a:gridCol w="1852370">
                  <a:extLst>
                    <a:ext uri="{9D8B030D-6E8A-4147-A177-3AD203B41FA5}">
                      <a16:colId xmlns:a16="http://schemas.microsoft.com/office/drawing/2014/main" val="691160855"/>
                    </a:ext>
                  </a:extLst>
                </a:gridCol>
                <a:gridCol w="1649186">
                  <a:extLst>
                    <a:ext uri="{9D8B030D-6E8A-4147-A177-3AD203B41FA5}">
                      <a16:colId xmlns:a16="http://schemas.microsoft.com/office/drawing/2014/main" val="386027533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5.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Kî-roria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accent5"/>
                          </a:solidFill>
                          <a:latin typeface="+mn-lt"/>
                        </a:rPr>
                        <a:t>kî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-mwe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18376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7-prophet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accent5"/>
                          </a:solidFill>
                          <a:latin typeface="+mn-lt"/>
                        </a:rPr>
                        <a:t>7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-one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49399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06B061D-C0C5-0F2B-28B7-DCDE2B372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024382"/>
              </p:ext>
            </p:extLst>
          </p:nvPr>
        </p:nvGraphicFramePr>
        <p:xfrm>
          <a:off x="7786764" y="3481464"/>
          <a:ext cx="317660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618">
                  <a:extLst>
                    <a:ext uri="{9D8B030D-6E8A-4147-A177-3AD203B41FA5}">
                      <a16:colId xmlns:a16="http://schemas.microsoft.com/office/drawing/2014/main" val="2200798452"/>
                    </a:ext>
                  </a:extLst>
                </a:gridCol>
                <a:gridCol w="1463660">
                  <a:extLst>
                    <a:ext uri="{9D8B030D-6E8A-4147-A177-3AD203B41FA5}">
                      <a16:colId xmlns:a16="http://schemas.microsoft.com/office/drawing/2014/main" val="691160855"/>
                    </a:ext>
                  </a:extLst>
                </a:gridCol>
                <a:gridCol w="1217323">
                  <a:extLst>
                    <a:ext uri="{9D8B030D-6E8A-4147-A177-3AD203B41FA5}">
                      <a16:colId xmlns:a16="http://schemas.microsoft.com/office/drawing/2014/main" val="386027533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4.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î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-the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accent5"/>
                          </a:solidFill>
                          <a:latin typeface="+mn-lt"/>
                        </a:rPr>
                        <a:t>û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-mwe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18376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5-father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accent5"/>
                          </a:solidFill>
                          <a:latin typeface="+mn-lt"/>
                        </a:rPr>
                        <a:t>1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-one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493992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31527EC-E352-4818-EE23-5431F2CCC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48974"/>
              </p:ext>
            </p:extLst>
          </p:nvPr>
        </p:nvGraphicFramePr>
        <p:xfrm>
          <a:off x="7786764" y="4730885"/>
          <a:ext cx="373364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817">
                  <a:extLst>
                    <a:ext uri="{9D8B030D-6E8A-4147-A177-3AD203B41FA5}">
                      <a16:colId xmlns:a16="http://schemas.microsoft.com/office/drawing/2014/main" val="2200798452"/>
                    </a:ext>
                  </a:extLst>
                </a:gridCol>
                <a:gridCol w="1699490">
                  <a:extLst>
                    <a:ext uri="{9D8B030D-6E8A-4147-A177-3AD203B41FA5}">
                      <a16:colId xmlns:a16="http://schemas.microsoft.com/office/drawing/2014/main" val="691160855"/>
                    </a:ext>
                  </a:extLst>
                </a:gridCol>
                <a:gridCol w="1478334">
                  <a:extLst>
                    <a:ext uri="{9D8B030D-6E8A-4147-A177-3AD203B41FA5}">
                      <a16:colId xmlns:a16="http://schemas.microsoft.com/office/drawing/2014/main" val="386027533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6.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thaa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accent5"/>
                          </a:solidFill>
                          <a:latin typeface="+mn-lt"/>
                        </a:rPr>
                        <a:t>î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-mwe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18376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watch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accent5"/>
                          </a:solidFill>
                          <a:latin typeface="+mn-lt"/>
                        </a:rPr>
                        <a:t>9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-one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49399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510C82B-5299-1389-DDAE-F3B97744360A}"/>
              </a:ext>
            </a:extLst>
          </p:cNvPr>
          <p:cNvSpPr txBox="1"/>
          <p:nvPr/>
        </p:nvSpPr>
        <p:spPr>
          <a:xfrm>
            <a:off x="2738619" y="3059506"/>
            <a:ext cx="7231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meaning                                                                    form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833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C08B9EB-AB31-C032-757B-99A7216E2296}"/>
              </a:ext>
            </a:extLst>
          </p:cNvPr>
          <p:cNvSpPr txBox="1"/>
          <p:nvPr/>
        </p:nvSpPr>
        <p:spPr>
          <a:xfrm>
            <a:off x="671594" y="539906"/>
            <a:ext cx="10848812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400" dirty="0"/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Previous studies have sought to establish: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Which rules are productive for gender assignment in specific languages (see e.g., </a:t>
            </a:r>
            <a:r>
              <a:rPr lang="en-GB" sz="2400" dirty="0" err="1"/>
              <a:t>Enger</a:t>
            </a:r>
            <a:r>
              <a:rPr lang="en-GB" sz="2400" dirty="0"/>
              <a:t> 2009, Morin 2010, </a:t>
            </a:r>
            <a:r>
              <a:rPr lang="en-GB" sz="2400" dirty="0" err="1"/>
              <a:t>Mastropavlou</a:t>
            </a:r>
            <a:r>
              <a:rPr lang="en-GB" sz="2400" dirty="0"/>
              <a:t> &amp; </a:t>
            </a:r>
            <a:r>
              <a:rPr lang="en-GB" sz="2400" dirty="0" err="1"/>
              <a:t>Tsimpli</a:t>
            </a:r>
            <a:r>
              <a:rPr lang="en-GB" sz="2400" dirty="0"/>
              <a:t> 2011, Del </a:t>
            </a:r>
            <a:r>
              <a:rPr lang="en-GB" sz="2400" dirty="0" err="1"/>
              <a:t>Tomba</a:t>
            </a:r>
            <a:r>
              <a:rPr lang="en-GB" sz="2400" dirty="0"/>
              <a:t> 2023, Kanampiu et al. 2024 )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How nouns that do not conform to gender assignment cues are treated (see e.g., </a:t>
            </a:r>
            <a:r>
              <a:rPr lang="en-GB" sz="2400" dirty="0" err="1"/>
              <a:t>Rabeno</a:t>
            </a:r>
            <a:r>
              <a:rPr lang="en-GB" sz="2400" dirty="0"/>
              <a:t> &amp; </a:t>
            </a:r>
            <a:r>
              <a:rPr lang="en-GB" sz="2400" dirty="0" err="1"/>
              <a:t>Repetti</a:t>
            </a:r>
            <a:r>
              <a:rPr lang="en-GB" sz="2400" dirty="0"/>
              <a:t> 1997, Demuth 2000, Van de Velde 2006, </a:t>
            </a:r>
            <a:r>
              <a:rPr lang="en-GB" sz="2400" dirty="0" err="1"/>
              <a:t>Melissaropoulou</a:t>
            </a:r>
            <a:r>
              <a:rPr lang="en-GB" sz="2400" dirty="0"/>
              <a:t> 2016, Mar ́</a:t>
            </a:r>
            <a:r>
              <a:rPr lang="en-GB" sz="2400" dirty="0" err="1"/>
              <a:t>ıa</a:t>
            </a:r>
            <a:r>
              <a:rPr lang="en-GB" sz="2400" dirty="0"/>
              <a:t> del R ́</a:t>
            </a:r>
            <a:r>
              <a:rPr lang="en-GB" sz="2400" dirty="0" err="1"/>
              <a:t>ıo-Gonza</a:t>
            </a:r>
            <a:r>
              <a:rPr lang="en-GB" sz="2400" dirty="0"/>
              <a:t> ́lez 2021)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5AE423A-B424-18E9-BA7F-7D20EBC3D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3</a:t>
            </a:fld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948FD5-0137-4AA9-D4C7-799CE0C7C98D}"/>
              </a:ext>
            </a:extLst>
          </p:cNvPr>
          <p:cNvSpPr txBox="1"/>
          <p:nvPr/>
        </p:nvSpPr>
        <p:spPr>
          <a:xfrm>
            <a:off x="671594" y="278296"/>
            <a:ext cx="9148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State of the 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719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C08B9EB-AB31-C032-757B-99A7216E2296}"/>
              </a:ext>
            </a:extLst>
          </p:cNvPr>
          <p:cNvSpPr txBox="1"/>
          <p:nvPr/>
        </p:nvSpPr>
        <p:spPr>
          <a:xfrm>
            <a:off x="671594" y="539906"/>
            <a:ext cx="10848812" cy="460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Interaction between gender assignment cues of different types (see e.g., Karmiloff 1981,  </a:t>
            </a:r>
            <a:r>
              <a:rPr lang="en-GB" sz="2400" dirty="0" err="1"/>
              <a:t>Kilarski</a:t>
            </a:r>
            <a:r>
              <a:rPr lang="en-GB" sz="2400" dirty="0"/>
              <a:t> 2003, </a:t>
            </a:r>
            <a:r>
              <a:rPr lang="en-GB" sz="2400" dirty="0" err="1"/>
              <a:t>Nesset</a:t>
            </a:r>
            <a:r>
              <a:rPr lang="en-GB" sz="2400" dirty="0"/>
              <a:t> 2006, </a:t>
            </a:r>
            <a:r>
              <a:rPr lang="en-GB" sz="2400" dirty="0" err="1"/>
              <a:t>Enger</a:t>
            </a:r>
            <a:r>
              <a:rPr lang="en-GB" sz="2400" dirty="0"/>
              <a:t> 2009, Thornton 2009, Gagliardi &amp; </a:t>
            </a:r>
            <a:r>
              <a:rPr lang="en-GB" sz="2400" dirty="0" err="1"/>
              <a:t>Lidz</a:t>
            </a:r>
            <a:r>
              <a:rPr lang="en-GB" sz="2400" dirty="0"/>
              <a:t> 2014 )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Some  of these (influential)  experimental studies have established: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Developmental difference: children acquiring noun classes, unlike adults prefer to use formal cues (e.g., phonology) even when more statistically reliable semantic cues are available ( e.g., Karmiloff 1981)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Adults more likely to use semantics (Culbertson et al. 2017, 2019)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GB" sz="2400" dirty="0"/>
              <a:t>But are sensitive to highly salient formal cues as well ( e.g., </a:t>
            </a:r>
            <a:r>
              <a:rPr lang="en-GB" sz="2400" dirty="0" err="1"/>
              <a:t>Frigo</a:t>
            </a:r>
            <a:r>
              <a:rPr lang="en-GB" sz="2400" dirty="0"/>
              <a:t> &amp; McDonald 1998, Culbertson et al. 2017)</a:t>
            </a:r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5AE423A-B424-18E9-BA7F-7D20EBC3D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4</a:t>
            </a:fld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948FD5-0137-4AA9-D4C7-799CE0C7C98D}"/>
              </a:ext>
            </a:extLst>
          </p:cNvPr>
          <p:cNvSpPr txBox="1"/>
          <p:nvPr/>
        </p:nvSpPr>
        <p:spPr>
          <a:xfrm>
            <a:off x="671594" y="278296"/>
            <a:ext cx="9148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State of the 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289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C08B9EB-AB31-C032-757B-99A7216E2296}"/>
              </a:ext>
            </a:extLst>
          </p:cNvPr>
          <p:cNvSpPr txBox="1"/>
          <p:nvPr/>
        </p:nvSpPr>
        <p:spPr>
          <a:xfrm>
            <a:off x="671594" y="1039776"/>
            <a:ext cx="1084881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Focus on gender assignment Kîîtharaka (Bantu, E54)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Relatively little prior research using psycholinguistic methods to evaluate cues that learners/speakers find productive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Gender in Bantu languages differ (mainly) from I.E counterparts in important ways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Many genders/classes genders involved (2–22)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Ubiquitous nominal prefixes and rich prefixal  agreement morphology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5AE423A-B424-18E9-BA7F-7D20EBC3D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5</a:t>
            </a:fld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948FD5-0137-4AA9-D4C7-799CE0C7C98D}"/>
              </a:ext>
            </a:extLst>
          </p:cNvPr>
          <p:cNvSpPr txBox="1"/>
          <p:nvPr/>
        </p:nvSpPr>
        <p:spPr>
          <a:xfrm>
            <a:off x="671594" y="278296"/>
            <a:ext cx="9148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 aim of the current study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62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5AE423A-B424-18E9-BA7F-7D20EBC3D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6</a:t>
            </a:fld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948FD5-0137-4AA9-D4C7-799CE0C7C98D}"/>
              </a:ext>
            </a:extLst>
          </p:cNvPr>
          <p:cNvSpPr txBox="1"/>
          <p:nvPr/>
        </p:nvSpPr>
        <p:spPr>
          <a:xfrm>
            <a:off x="671594" y="278296"/>
            <a:ext cx="112482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 speakers and learners of these languages show consistent preference for given cue types?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703AD0-F745-75AC-A808-B830F71A50EF}"/>
              </a:ext>
            </a:extLst>
          </p:cNvPr>
          <p:cNvSpPr txBox="1"/>
          <p:nvPr/>
        </p:nvSpPr>
        <p:spPr>
          <a:xfrm>
            <a:off x="965508" y="1311915"/>
            <a:ext cx="10954349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/>
              <a:t>Sesotho (Demuth 2000; corpus-based study):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Children acquiring noun classes mainly rely on nominal prefixes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Evidence in adults come only from loan 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Open question: Do adults use form more productively than meaning?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262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5AE423A-B424-18E9-BA7F-7D20EBC3D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7</a:t>
            </a:fld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948FD5-0137-4AA9-D4C7-799CE0C7C98D}"/>
              </a:ext>
            </a:extLst>
          </p:cNvPr>
          <p:cNvSpPr txBox="1"/>
          <p:nvPr/>
        </p:nvSpPr>
        <p:spPr>
          <a:xfrm>
            <a:off x="671594" y="278296"/>
            <a:ext cx="112482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 speakers and learners of these languages show consistent preference for given cue types?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703AD0-F745-75AC-A808-B830F71A50EF}"/>
              </a:ext>
            </a:extLst>
          </p:cNvPr>
          <p:cNvSpPr txBox="1"/>
          <p:nvPr/>
        </p:nvSpPr>
        <p:spPr>
          <a:xfrm>
            <a:off x="965508" y="1311915"/>
            <a:ext cx="1095434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/>
              <a:t>Kinyarwanda (Jerro et al., Under review); experimental study):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Tested whether speakers categorize nouns based on morphology or meaning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Based on a triad task; participants given sets 3 nouns sharing meaning, morphology or neither, and asked to select the most different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Participants were more likely to group nouns based on meaning but were more likely to use morphology if they spoke Swahili.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Did not directly address productive use of cues in classifying novel nouns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644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5AE423A-B424-18E9-BA7F-7D20EBC3D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8</a:t>
            </a:fld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948FD5-0137-4AA9-D4C7-799CE0C7C98D}"/>
              </a:ext>
            </a:extLst>
          </p:cNvPr>
          <p:cNvSpPr txBox="1"/>
          <p:nvPr/>
        </p:nvSpPr>
        <p:spPr>
          <a:xfrm>
            <a:off x="671594" y="278296"/>
            <a:ext cx="112482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 speakers and learners of these languages show consistent preference for particular cue types?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703AD0-F745-75AC-A808-B830F71A50EF}"/>
              </a:ext>
            </a:extLst>
          </p:cNvPr>
          <p:cNvSpPr txBox="1"/>
          <p:nvPr/>
        </p:nvSpPr>
        <p:spPr>
          <a:xfrm>
            <a:off x="965508" y="1311915"/>
            <a:ext cx="1095434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/>
              <a:t>Kîîtharaka (Kanampiu et al., in print); experimental study):</a:t>
            </a:r>
            <a:endParaRPr lang="en-US" sz="2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Investigated whether adult speakers of Kîîtharaka productively use semantic and morphophonological cues in novel nouns to determine gender agreement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All formal features tested were productive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Only a subset of semantic features (e.g., Human, fruit, narrow, evaluative meaning) were productive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Did not investigate whether speakers rely on meaning or form </a:t>
            </a:r>
            <a:r>
              <a:rPr lang="en-US" sz="2400" i="1" dirty="0"/>
              <a:t>when they conflict – i.e., which takes priority?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814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5AE423A-B424-18E9-BA7F-7D20EBC3D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9</a:t>
            </a:fld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948FD5-0137-4AA9-D4C7-799CE0C7C98D}"/>
              </a:ext>
            </a:extLst>
          </p:cNvPr>
          <p:cNvSpPr txBox="1"/>
          <p:nvPr/>
        </p:nvSpPr>
        <p:spPr>
          <a:xfrm>
            <a:off x="671594" y="278296"/>
            <a:ext cx="9148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 Kîîtharaka gender system</a:t>
            </a:r>
            <a:endParaRPr lang="en-US" dirty="0"/>
          </a:p>
        </p:txBody>
      </p:sp>
      <p:pic>
        <p:nvPicPr>
          <p:cNvPr id="4" name="Picture 3" descr="A table of different languages&#10;&#10;Description automatically generated">
            <a:extLst>
              <a:ext uri="{FF2B5EF4-FFF2-40B4-BE49-F238E27FC236}">
                <a16:creationId xmlns:a16="http://schemas.microsoft.com/office/drawing/2014/main" id="{93610585-846F-23E0-12D0-82577E29E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94" y="755618"/>
            <a:ext cx="6422572" cy="56466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6EA237-D974-C9C5-5122-7CAB7F653A88}"/>
              </a:ext>
            </a:extLst>
          </p:cNvPr>
          <p:cNvSpPr txBox="1"/>
          <p:nvPr/>
        </p:nvSpPr>
        <p:spPr>
          <a:xfrm>
            <a:off x="7170309" y="1128088"/>
            <a:ext cx="500399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Typical of Bantu gender system, different </a:t>
            </a:r>
          </a:p>
          <a:p>
            <a:r>
              <a:rPr lang="en-US" sz="2000" dirty="0"/>
              <a:t>       from Indo-European systems: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Many classes: 8 genders </a:t>
            </a:r>
          </a:p>
          <a:p>
            <a:pPr lvl="1"/>
            <a:r>
              <a:rPr lang="en-US" sz="2000" dirty="0"/>
              <a:t>      (sing/plural pairs)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Ubiquitous nominal prefixes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Rich agreement morphology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Semantic </a:t>
            </a:r>
            <a:r>
              <a:rPr lang="en-US" sz="2000" dirty="0" err="1"/>
              <a:t>heterogeneighty</a:t>
            </a:r>
            <a:r>
              <a:rPr lang="en-US" sz="2000" dirty="0"/>
              <a:t> </a:t>
            </a:r>
          </a:p>
          <a:p>
            <a:pPr lvl="1"/>
            <a:r>
              <a:rPr lang="en-US" sz="2000" dirty="0"/>
              <a:t>         (</a:t>
            </a:r>
            <a:r>
              <a:rPr lang="en-US" sz="2000" dirty="0" err="1"/>
              <a:t>see,e.g</a:t>
            </a:r>
            <a:r>
              <a:rPr lang="en-US" sz="2000" dirty="0"/>
              <a:t>., </a:t>
            </a:r>
            <a:r>
              <a:rPr lang="en-US" sz="2000" dirty="0" err="1"/>
              <a:t>wa</a:t>
            </a:r>
            <a:r>
              <a:rPr lang="en-US" sz="2000" dirty="0"/>
              <a:t> </a:t>
            </a:r>
            <a:r>
              <a:rPr lang="en-US" sz="2000" dirty="0" err="1"/>
              <a:t>Mberia</a:t>
            </a:r>
            <a:r>
              <a:rPr lang="en-US" sz="2000" dirty="0"/>
              <a:t>, 1993)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70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C08B9EB-AB31-C032-757B-99A7216E2296}"/>
              </a:ext>
            </a:extLst>
          </p:cNvPr>
          <p:cNvSpPr txBox="1"/>
          <p:nvPr/>
        </p:nvSpPr>
        <p:spPr>
          <a:xfrm>
            <a:off x="671594" y="1039776"/>
            <a:ext cx="10848812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Current study investigated what cue types speakers of Kîîtharaka rely on when both conflict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Previous studies (non-Bantu) found that participants may prefer certain cue types based on: 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Cue (statistical) reliability, relative salience (</a:t>
            </a:r>
            <a:r>
              <a:rPr lang="en-US" sz="2400" dirty="0" err="1"/>
              <a:t>Gargliardi</a:t>
            </a:r>
            <a:r>
              <a:rPr lang="en-US" sz="2400" dirty="0"/>
              <a:t> &amp; </a:t>
            </a:r>
            <a:r>
              <a:rPr lang="en-US" sz="2400" dirty="0" err="1"/>
              <a:t>Lidz</a:t>
            </a:r>
            <a:r>
              <a:rPr lang="en-US" sz="2400" dirty="0"/>
              <a:t>, 2014, Culbertson et al. 2017)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Cognitive biases e.g., tendency to form categories based on </a:t>
            </a:r>
            <a:r>
              <a:rPr lang="en-US" sz="2400" i="1" dirty="0"/>
              <a:t>core knowledge</a:t>
            </a:r>
            <a:r>
              <a:rPr lang="en-US" sz="2400" dirty="0"/>
              <a:t> (</a:t>
            </a:r>
            <a:r>
              <a:rPr lang="en-GB" sz="2400" dirty="0"/>
              <a:t>Strickland  2017, Meir et al. 2017)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GB" sz="2400" dirty="0"/>
              <a:t>Even in infancy, learners are primed to classify entities in certain ways (e.g., mass/kind-; animate/inanimate distinctions)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5AE423A-B424-18E9-BA7F-7D20EBC3D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10</a:t>
            </a:fld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948FD5-0137-4AA9-D4C7-799CE0C7C98D}"/>
              </a:ext>
            </a:extLst>
          </p:cNvPr>
          <p:cNvSpPr txBox="1"/>
          <p:nvPr/>
        </p:nvSpPr>
        <p:spPr>
          <a:xfrm>
            <a:off x="671594" y="278296"/>
            <a:ext cx="10970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An experimental investigation of conflicting cues in </a:t>
            </a:r>
            <a:r>
              <a:rPr lang="en-GB" sz="2800" b="1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Kîîıtharaka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096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C08B9EB-AB31-C032-757B-99A7216E2296}"/>
              </a:ext>
            </a:extLst>
          </p:cNvPr>
          <p:cNvSpPr txBox="1"/>
          <p:nvPr/>
        </p:nvSpPr>
        <p:spPr>
          <a:xfrm>
            <a:off x="214394" y="1018553"/>
            <a:ext cx="10848812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/>
              <a:t>Materials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The experiment included visual and linguistic stimuli (orthographically presented)</a:t>
            </a: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Participants saw an image depicting a target semantic feature followed by a  descriptive phrase in a carrier sentence e.g.,  </a:t>
            </a:r>
          </a:p>
          <a:p>
            <a:pPr lvl="1"/>
            <a:r>
              <a:rPr lang="en-GB" sz="2400" dirty="0"/>
              <a:t>			a Kîîtharaka speaker saw  ‘</a:t>
            </a:r>
            <a:r>
              <a:rPr lang="en-GB" sz="2400" i="1" dirty="0" err="1"/>
              <a:t>mûkithe</a:t>
            </a:r>
            <a:r>
              <a:rPr lang="en-GB" sz="2400" i="1" dirty="0"/>
              <a:t> __</a:t>
            </a:r>
            <a:r>
              <a:rPr lang="en-GB" sz="2400" i="1" dirty="0" err="1"/>
              <a:t>mwe</a:t>
            </a:r>
            <a:r>
              <a:rPr lang="en-GB" sz="2400" i="1" dirty="0"/>
              <a:t>.’</a:t>
            </a:r>
            <a:endParaRPr lang="en-GB" sz="2400" dirty="0"/>
          </a:p>
          <a:p>
            <a:pPr lvl="1"/>
            <a:endParaRPr lang="en-GB" sz="2400" b="1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5AE423A-B424-18E9-BA7F-7D20EBC3D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11</a:t>
            </a:fld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948FD5-0137-4AA9-D4C7-799CE0C7C98D}"/>
              </a:ext>
            </a:extLst>
          </p:cNvPr>
          <p:cNvSpPr txBox="1"/>
          <p:nvPr/>
        </p:nvSpPr>
        <p:spPr>
          <a:xfrm>
            <a:off x="671594" y="278296"/>
            <a:ext cx="9148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Methods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9EDA46-7926-EF94-3904-9F8A8B799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474231"/>
              </p:ext>
            </p:extLst>
          </p:nvPr>
        </p:nvGraphicFramePr>
        <p:xfrm>
          <a:off x="2058102" y="3706776"/>
          <a:ext cx="6375249" cy="27928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31241">
                  <a:extLst>
                    <a:ext uri="{9D8B030D-6E8A-4147-A177-3AD203B41FA5}">
                      <a16:colId xmlns:a16="http://schemas.microsoft.com/office/drawing/2014/main" val="3099888489"/>
                    </a:ext>
                  </a:extLst>
                </a:gridCol>
                <a:gridCol w="1838739">
                  <a:extLst>
                    <a:ext uri="{9D8B030D-6E8A-4147-A177-3AD203B41FA5}">
                      <a16:colId xmlns:a16="http://schemas.microsoft.com/office/drawing/2014/main" val="3437631440"/>
                    </a:ext>
                  </a:extLst>
                </a:gridCol>
                <a:gridCol w="2405269">
                  <a:extLst>
                    <a:ext uri="{9D8B030D-6E8A-4147-A177-3AD203B41FA5}">
                      <a16:colId xmlns:a16="http://schemas.microsoft.com/office/drawing/2014/main" val="2570693930"/>
                    </a:ext>
                  </a:extLst>
                </a:gridCol>
              </a:tblGrid>
              <a:tr h="451422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Semantic feature</a:t>
                      </a:r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morphophonological feature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086251"/>
                  </a:ext>
                </a:extLst>
              </a:tr>
              <a:tr h="451422">
                <a:tc vMerge="1"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Aligned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Conflicting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83243"/>
                  </a:ext>
                </a:extLst>
              </a:tr>
              <a:tr h="45142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Human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solidFill>
                            <a:schemeClr val="accent5"/>
                          </a:solidFill>
                        </a:rPr>
                        <a:t>mû</a:t>
                      </a:r>
                      <a:r>
                        <a:rPr lang="en-US" sz="2400" b="1" dirty="0">
                          <a:solidFill>
                            <a:schemeClr val="accent5"/>
                          </a:solidFill>
                        </a:rPr>
                        <a:t>-</a:t>
                      </a:r>
                      <a:endParaRPr 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rû</a:t>
                      </a:r>
                      <a:r>
                        <a:rPr lang="en-US" sz="2400" dirty="0"/>
                        <a:t>-, û-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753983"/>
                  </a:ext>
                </a:extLst>
              </a:tr>
              <a:tr h="48701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Augmentative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solidFill>
                            <a:schemeClr val="accent5"/>
                          </a:solidFill>
                        </a:rPr>
                        <a:t>î</a:t>
                      </a:r>
                      <a:r>
                        <a:rPr lang="en-US" sz="2400" b="1" dirty="0">
                          <a:solidFill>
                            <a:schemeClr val="accent5"/>
                          </a:solidFill>
                        </a:rPr>
                        <a:t>-</a:t>
                      </a:r>
                      <a:endParaRPr lang="en-US" sz="2400" dirty="0"/>
                    </a:p>
                  </a:txBody>
                  <a:tcP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mû</a:t>
                      </a:r>
                      <a:r>
                        <a:rPr lang="en-US" sz="2400" dirty="0"/>
                        <a:t>-, n-, </a:t>
                      </a:r>
                      <a:r>
                        <a:rPr lang="en-US" sz="2400" dirty="0" err="1"/>
                        <a:t>rû</a:t>
                      </a:r>
                      <a:r>
                        <a:rPr lang="en-US" sz="2400" dirty="0"/>
                        <a:t>-, </a:t>
                      </a:r>
                      <a:r>
                        <a:rPr lang="en-US" sz="2400" dirty="0" err="1"/>
                        <a:t>û</a:t>
                      </a:r>
                      <a:r>
                        <a:rPr lang="en-US" sz="2400" dirty="0"/>
                        <a:t>-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597343"/>
                  </a:ext>
                </a:extLst>
              </a:tr>
              <a:tr h="47707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Pejorative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solidFill>
                            <a:schemeClr val="accent5"/>
                          </a:solidFill>
                        </a:rPr>
                        <a:t>gî</a:t>
                      </a:r>
                      <a:r>
                        <a:rPr lang="en-US" sz="2400" b="1" dirty="0">
                          <a:solidFill>
                            <a:schemeClr val="accent5"/>
                          </a:solidFill>
                        </a:rPr>
                        <a:t>-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602264"/>
                  </a:ext>
                </a:extLst>
              </a:tr>
              <a:tr h="45142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Diminutive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5"/>
                          </a:solidFill>
                        </a:rPr>
                        <a:t>ga-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07670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AF4CDAE-D16C-84CD-D90E-25EA27DD2CB6}"/>
              </a:ext>
            </a:extLst>
          </p:cNvPr>
          <p:cNvSpPr txBox="1"/>
          <p:nvPr/>
        </p:nvSpPr>
        <p:spPr>
          <a:xfrm>
            <a:off x="8625266" y="3912981"/>
            <a:ext cx="33035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/>
              <a:t>Aligned</a:t>
            </a:r>
            <a:r>
              <a:rPr lang="en-GB" sz="2400" dirty="0"/>
              <a:t>: prefix cues </a:t>
            </a:r>
            <a:r>
              <a:rPr lang="en-GB" sz="2400" u="sng" dirty="0"/>
              <a:t>same</a:t>
            </a:r>
            <a:r>
              <a:rPr lang="en-GB" sz="2400" dirty="0"/>
              <a:t> class as meaning</a:t>
            </a:r>
          </a:p>
          <a:p>
            <a:endParaRPr lang="en-GB" sz="2400" dirty="0"/>
          </a:p>
          <a:p>
            <a:r>
              <a:rPr lang="en-GB" sz="2400" i="1" dirty="0"/>
              <a:t>Conflicting</a:t>
            </a:r>
            <a:r>
              <a:rPr lang="en-GB" sz="2400" dirty="0"/>
              <a:t>: prefix cues </a:t>
            </a:r>
            <a:r>
              <a:rPr lang="en-GB" sz="2400" u="sng" dirty="0"/>
              <a:t>different</a:t>
            </a:r>
            <a:r>
              <a:rPr lang="en-GB" sz="2400" dirty="0"/>
              <a:t> class from meaning</a:t>
            </a:r>
          </a:p>
          <a:p>
            <a:pPr lvl="1"/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955577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E1F6D-ECB8-3798-1728-A3528A817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594" y="1103243"/>
            <a:ext cx="10715000" cy="52531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Procedure:</a:t>
            </a:r>
            <a:endParaRPr lang="en-US" sz="2400" dirty="0"/>
          </a:p>
          <a:p>
            <a:r>
              <a:rPr lang="en-US" sz="2400" dirty="0"/>
              <a:t>Administered via Qualtrics</a:t>
            </a:r>
          </a:p>
          <a:p>
            <a:r>
              <a:rPr lang="en-US" sz="2400" dirty="0"/>
              <a:t>Four  blocks: Human, Augmentative, Pejorative, Diminutive</a:t>
            </a:r>
          </a:p>
          <a:p>
            <a:r>
              <a:rPr lang="en-US" sz="2400" dirty="0"/>
              <a:t>Image appeared along with critical </a:t>
            </a:r>
            <a:r>
              <a:rPr lang="en-US" sz="2400" dirty="0" err="1"/>
              <a:t>prefix+stem</a:t>
            </a:r>
            <a:endParaRPr lang="en-US" dirty="0"/>
          </a:p>
          <a:p>
            <a:r>
              <a:rPr lang="en-US" sz="2400" dirty="0"/>
              <a:t>Participants were asked to provide missing agreement on numeral ‘one’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400" b="1" dirty="0"/>
              <a:t>Participants:</a:t>
            </a:r>
          </a:p>
          <a:p>
            <a:r>
              <a:rPr lang="en-US" sz="2400" dirty="0"/>
              <a:t>44 native speakers of </a:t>
            </a:r>
            <a:r>
              <a:rPr lang="en-US" sz="2400" dirty="0" err="1"/>
              <a:t>Kîîtharaka</a:t>
            </a:r>
            <a:r>
              <a:rPr lang="en-US" sz="2400" dirty="0"/>
              <a:t> (students of </a:t>
            </a:r>
            <a:r>
              <a:rPr lang="en-US" sz="2400" dirty="0" err="1"/>
              <a:t>Tharaka</a:t>
            </a:r>
            <a:r>
              <a:rPr lang="en-US" sz="2400" dirty="0"/>
              <a:t> University, Kenya)</a:t>
            </a:r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E598C-8C18-78A1-43F9-4B2195166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12</a:t>
            </a:fld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007B15-209D-40E4-4F53-E13CC6718281}"/>
              </a:ext>
            </a:extLst>
          </p:cNvPr>
          <p:cNvSpPr txBox="1"/>
          <p:nvPr/>
        </p:nvSpPr>
        <p:spPr>
          <a:xfrm>
            <a:off x="671594" y="278296"/>
            <a:ext cx="9148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431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B5594-C8D8-8603-B574-9CF1F9892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565" y="341708"/>
            <a:ext cx="10515600" cy="536022"/>
          </a:xfrm>
        </p:spPr>
        <p:txBody>
          <a:bodyPr>
            <a:normAutofit/>
          </a:bodyPr>
          <a:lstStyle/>
          <a:p>
            <a:r>
              <a:rPr lang="en-US" sz="2800" b="1" dirty="0"/>
              <a:t>Sample trial: Human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E1F6D-ECB8-3798-1728-A3528A817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22" y="1046045"/>
            <a:ext cx="10515600" cy="4351338"/>
          </a:xfrm>
        </p:spPr>
        <p:txBody>
          <a:bodyPr>
            <a:normAutofit/>
          </a:bodyPr>
          <a:lstStyle/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>
                <a:solidFill>
                  <a:srgbClr val="7030A0"/>
                </a:solidFill>
              </a:rPr>
              <a:t>rûtinki  _one</a:t>
            </a:r>
            <a:endParaRPr lang="en-US" dirty="0"/>
          </a:p>
        </p:txBody>
      </p:sp>
      <p:pic>
        <p:nvPicPr>
          <p:cNvPr id="5" name="Picture 4" descr="A person in a garment&#10;&#10;Description automatically generated">
            <a:extLst>
              <a:ext uri="{FF2B5EF4-FFF2-40B4-BE49-F238E27FC236}">
                <a16:creationId xmlns:a16="http://schemas.microsoft.com/office/drawing/2014/main" id="{FCD11DB7-7A0C-9710-7F67-9100E22FEB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55" b="31964"/>
          <a:stretch/>
        </p:blipFill>
        <p:spPr>
          <a:xfrm>
            <a:off x="852959" y="1669144"/>
            <a:ext cx="3200400" cy="3323772"/>
          </a:xfrm>
          <a:prstGeom prst="rect">
            <a:avLst/>
          </a:prstGeom>
        </p:spPr>
      </p:pic>
      <p:pic>
        <p:nvPicPr>
          <p:cNvPr id="9" name="Picture 8" descr="A person in a garment&#10;&#10;Description automatically generated">
            <a:extLst>
              <a:ext uri="{FF2B5EF4-FFF2-40B4-BE49-F238E27FC236}">
                <a16:creationId xmlns:a16="http://schemas.microsoft.com/office/drawing/2014/main" id="{B0E9806C-240E-DCFD-FBA5-BF605F28C8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316"/>
          <a:stretch/>
        </p:blipFill>
        <p:spPr>
          <a:xfrm>
            <a:off x="644565" y="5070947"/>
            <a:ext cx="3200400" cy="5481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B7E785-074D-6B68-FD36-FA205BC685ED}"/>
              </a:ext>
            </a:extLst>
          </p:cNvPr>
          <p:cNvSpPr txBox="1"/>
          <p:nvPr/>
        </p:nvSpPr>
        <p:spPr>
          <a:xfrm>
            <a:off x="644565" y="5804612"/>
            <a:ext cx="3623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“This picture shows: </a:t>
            </a:r>
            <a:r>
              <a:rPr lang="en-US" dirty="0">
                <a:solidFill>
                  <a:schemeClr val="accent5"/>
                </a:solidFill>
              </a:rPr>
              <a:t>[mû-]“police</a:t>
            </a:r>
            <a:r>
              <a:rPr lang="en-US" b="1" dirty="0"/>
              <a:t>”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92DC5AE-2D29-A8BE-9179-4377CFA5F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13</a:t>
            </a:fld>
            <a:endParaRPr lang="en-US" sz="18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145CC65-17ED-69A6-501C-544E3A27FC87}"/>
              </a:ext>
            </a:extLst>
          </p:cNvPr>
          <p:cNvGrpSpPr/>
          <p:nvPr/>
        </p:nvGrpSpPr>
        <p:grpSpPr>
          <a:xfrm>
            <a:off x="5522977" y="1091285"/>
            <a:ext cx="4245073" cy="5401050"/>
            <a:chOff x="5522977" y="1091285"/>
            <a:chExt cx="4245073" cy="5401050"/>
          </a:xfrm>
        </p:grpSpPr>
        <p:pic>
          <p:nvPicPr>
            <p:cNvPr id="8" name="Picture 7" descr="A screenshot of a phone&#10;&#10;Description automatically generated">
              <a:extLst>
                <a:ext uri="{FF2B5EF4-FFF2-40B4-BE49-F238E27FC236}">
                  <a16:creationId xmlns:a16="http://schemas.microsoft.com/office/drawing/2014/main" id="{5098CAD6-8D2B-7548-9493-45E9F0A643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8085"/>
            <a:stretch/>
          </p:blipFill>
          <p:spPr>
            <a:xfrm>
              <a:off x="5695042" y="5811416"/>
              <a:ext cx="3314700" cy="68091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0BA5DBE-7696-4ECD-EB71-B963D6F63EA2}"/>
                </a:ext>
              </a:extLst>
            </p:cNvPr>
            <p:cNvSpPr txBox="1"/>
            <p:nvPr/>
          </p:nvSpPr>
          <p:spPr>
            <a:xfrm>
              <a:off x="5522977" y="1091285"/>
              <a:ext cx="42450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“A Kîîtharaka speaker saw: </a:t>
              </a:r>
              <a:r>
                <a:rPr lang="en-US" dirty="0">
                  <a:solidFill>
                    <a:schemeClr val="accent5"/>
                  </a:solidFill>
                </a:rPr>
                <a:t>rûtinki  _one</a:t>
              </a:r>
              <a:r>
                <a:rPr lang="en-US" b="1" dirty="0"/>
                <a:t>”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6628816-0794-E24D-75FC-31F8ECDC130B}"/>
                </a:ext>
              </a:extLst>
            </p:cNvPr>
            <p:cNvGrpSpPr/>
            <p:nvPr/>
          </p:nvGrpSpPr>
          <p:grpSpPr>
            <a:xfrm>
              <a:off x="5708458" y="1393175"/>
              <a:ext cx="3314700" cy="4505326"/>
              <a:chOff x="5708458" y="1393175"/>
              <a:chExt cx="3314700" cy="4505326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242B2F39-6F6D-7F91-873E-0BD797814631}"/>
                  </a:ext>
                </a:extLst>
              </p:cNvPr>
              <p:cNvGrpSpPr/>
              <p:nvPr/>
            </p:nvGrpSpPr>
            <p:grpSpPr>
              <a:xfrm>
                <a:off x="5708458" y="1393175"/>
                <a:ext cx="3314700" cy="4505326"/>
                <a:chOff x="5708458" y="1393175"/>
                <a:chExt cx="3314700" cy="4505326"/>
              </a:xfrm>
            </p:grpSpPr>
            <p:pic>
              <p:nvPicPr>
                <p:cNvPr id="7" name="Picture 6" descr="A screenshot of a phone&#10;&#10;Description automatically generated">
                  <a:extLst>
                    <a:ext uri="{FF2B5EF4-FFF2-40B4-BE49-F238E27FC236}">
                      <a16:creationId xmlns:a16="http://schemas.microsoft.com/office/drawing/2014/main" id="{73473C23-ECFE-1C9C-F3D2-68E2BC5C9A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b="21167"/>
                <a:stretch/>
              </p:blipFill>
              <p:spPr>
                <a:xfrm>
                  <a:off x="5708458" y="1393175"/>
                  <a:ext cx="3314700" cy="4505326"/>
                </a:xfrm>
                <a:prstGeom prst="rect">
                  <a:avLst/>
                </a:prstGeom>
              </p:spPr>
            </p:pic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D0DE844-C8F2-4E35-D991-E6E394C99A74}"/>
                    </a:ext>
                  </a:extLst>
                </p:cNvPr>
                <p:cNvSpPr txBox="1"/>
                <p:nvPr/>
              </p:nvSpPr>
              <p:spPr>
                <a:xfrm>
                  <a:off x="6983452" y="4701615"/>
                  <a:ext cx="1420960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5784BC-410A-A78F-32FD-E6FEE8E5DE5C}"/>
                  </a:ext>
                </a:extLst>
              </p:cNvPr>
              <p:cNvSpPr txBox="1"/>
              <p:nvPr/>
            </p:nvSpPr>
            <p:spPr>
              <a:xfrm>
                <a:off x="7154414" y="4799974"/>
                <a:ext cx="1494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</a:rPr>
                  <a:t>rûtinki  _mwe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44972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262F9C5-B7EF-54D9-3918-9D0FBB403534}"/>
              </a:ext>
            </a:extLst>
          </p:cNvPr>
          <p:cNvSpPr/>
          <p:nvPr/>
        </p:nvSpPr>
        <p:spPr>
          <a:xfrm>
            <a:off x="6553673" y="3429000"/>
            <a:ext cx="1480457" cy="349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7EA04F-0CCF-0711-4B70-97D4A1C737DC}"/>
              </a:ext>
            </a:extLst>
          </p:cNvPr>
          <p:cNvSpPr/>
          <p:nvPr/>
        </p:nvSpPr>
        <p:spPr>
          <a:xfrm>
            <a:off x="6297027" y="3493534"/>
            <a:ext cx="1480457" cy="349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4931226-0F8C-0E58-1339-18C40089376C}"/>
              </a:ext>
            </a:extLst>
          </p:cNvPr>
          <p:cNvSpPr/>
          <p:nvPr/>
        </p:nvSpPr>
        <p:spPr>
          <a:xfrm>
            <a:off x="8952968" y="3570338"/>
            <a:ext cx="1480457" cy="349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0190CA-508A-B0B2-84D2-C5DA09BE6B3D}"/>
              </a:ext>
            </a:extLst>
          </p:cNvPr>
          <p:cNvGrpSpPr/>
          <p:nvPr/>
        </p:nvGrpSpPr>
        <p:grpSpPr>
          <a:xfrm>
            <a:off x="1455862" y="2392516"/>
            <a:ext cx="5657509" cy="3963834"/>
            <a:chOff x="1455862" y="2392516"/>
            <a:chExt cx="5657509" cy="396383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63D3F55-876E-B3FB-1895-028BDA2C1BB5}"/>
                </a:ext>
              </a:extLst>
            </p:cNvPr>
            <p:cNvSpPr txBox="1"/>
            <p:nvPr/>
          </p:nvSpPr>
          <p:spPr>
            <a:xfrm>
              <a:off x="4724608" y="5966533"/>
              <a:ext cx="2388763" cy="389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(a) Augmentative      </a:t>
              </a:r>
            </a:p>
          </p:txBody>
        </p:sp>
        <p:pic>
          <p:nvPicPr>
            <p:cNvPr id="25" name="Picture 24" descr="A person in a garment&#10;&#10;Description automatically generated">
              <a:extLst>
                <a:ext uri="{FF2B5EF4-FFF2-40B4-BE49-F238E27FC236}">
                  <a16:creationId xmlns:a16="http://schemas.microsoft.com/office/drawing/2014/main" id="{A79E25F4-0530-5734-D0D6-91A746C9C5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/>
            </a:blip>
            <a:srcRect t="58238" r="41783" b="33779"/>
            <a:stretch/>
          </p:blipFill>
          <p:spPr>
            <a:xfrm>
              <a:off x="2041511" y="3452586"/>
              <a:ext cx="2074640" cy="46750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E8460C8-F196-AF58-DC61-716DF0EF4045}"/>
                </a:ext>
              </a:extLst>
            </p:cNvPr>
            <p:cNvSpPr txBox="1"/>
            <p:nvPr/>
          </p:nvSpPr>
          <p:spPr>
            <a:xfrm>
              <a:off x="4067538" y="3560908"/>
              <a:ext cx="14135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mukero</a:t>
              </a:r>
            </a:p>
          </p:txBody>
        </p:sp>
        <p:pic>
          <p:nvPicPr>
            <p:cNvPr id="14" name="Picture 13" descr="Screenshot of a screenshot of a computer&#10;&#10;Description automatically generated">
              <a:extLst>
                <a:ext uri="{FF2B5EF4-FFF2-40B4-BE49-F238E27FC236}">
                  <a16:creationId xmlns:a16="http://schemas.microsoft.com/office/drawing/2014/main" id="{ADCD2DAA-B96A-3739-1191-EE64C2AEF5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/>
            </a:blip>
            <a:srcRect t="83604"/>
            <a:stretch/>
          </p:blipFill>
          <p:spPr>
            <a:xfrm>
              <a:off x="1455862" y="3966558"/>
              <a:ext cx="3715289" cy="718686"/>
            </a:xfrm>
            <a:prstGeom prst="rect">
              <a:avLst/>
            </a:prstGeom>
            <a:noFill/>
          </p:spPr>
        </p:pic>
        <p:pic>
          <p:nvPicPr>
            <p:cNvPr id="26" name="Picture 25" descr="Screenshot of a screenshot of a computer&#10;&#10;Description automatically generated">
              <a:extLst>
                <a:ext uri="{FF2B5EF4-FFF2-40B4-BE49-F238E27FC236}">
                  <a16:creationId xmlns:a16="http://schemas.microsoft.com/office/drawing/2014/main" id="{1137DAEF-A684-3C95-B13E-9EABC05107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/>
            </a:blip>
            <a:srcRect t="8294" b="54979"/>
            <a:stretch/>
          </p:blipFill>
          <p:spPr>
            <a:xfrm>
              <a:off x="1917377" y="2392516"/>
              <a:ext cx="2979896" cy="1291206"/>
            </a:xfrm>
            <a:prstGeom prst="rect">
              <a:avLst/>
            </a:prstGeom>
            <a:noFill/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76BC129-639F-C060-AC8B-B1076F9DCAC6}"/>
                </a:ext>
              </a:extLst>
            </p:cNvPr>
            <p:cNvSpPr txBox="1"/>
            <p:nvPr/>
          </p:nvSpPr>
          <p:spPr>
            <a:xfrm>
              <a:off x="1647272" y="5100535"/>
              <a:ext cx="3621054" cy="3898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“This picture shows: </a:t>
              </a:r>
              <a:r>
                <a:rPr lang="en-US" dirty="0">
                  <a:solidFill>
                    <a:srgbClr val="7030A0"/>
                  </a:solidFill>
                </a:rPr>
                <a:t>mû-</a:t>
              </a:r>
              <a:r>
                <a:rPr lang="en-US" dirty="0" err="1">
                  <a:solidFill>
                    <a:srgbClr val="7030A0"/>
                  </a:solidFill>
                </a:rPr>
                <a:t>kero</a:t>
              </a:r>
              <a:r>
                <a:rPr lang="en-US" b="1" dirty="0"/>
                <a:t>”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BFED2D7-347F-FBE1-F8D5-553FFE6999A8}"/>
              </a:ext>
            </a:extLst>
          </p:cNvPr>
          <p:cNvGrpSpPr/>
          <p:nvPr/>
        </p:nvGrpSpPr>
        <p:grpSpPr>
          <a:xfrm>
            <a:off x="5589441" y="1455203"/>
            <a:ext cx="4306754" cy="3925738"/>
            <a:chOff x="5987007" y="1455203"/>
            <a:chExt cx="4306754" cy="3925738"/>
          </a:xfrm>
        </p:grpSpPr>
        <p:pic>
          <p:nvPicPr>
            <p:cNvPr id="16" name="Picture 15" descr="Screenshot of a screenshot of a computer&#10;&#10;Description automatically generated">
              <a:extLst>
                <a:ext uri="{FF2B5EF4-FFF2-40B4-BE49-F238E27FC236}">
                  <a16:creationId xmlns:a16="http://schemas.microsoft.com/office/drawing/2014/main" id="{41720E73-0922-3245-106C-0BA12F54E2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/>
            </a:blip>
            <a:srcRect l="-1" r="764" b="90435"/>
            <a:stretch/>
          </p:blipFill>
          <p:spPr>
            <a:xfrm>
              <a:off x="6624054" y="1679969"/>
              <a:ext cx="3472716" cy="422114"/>
            </a:xfrm>
            <a:prstGeom prst="rect">
              <a:avLst/>
            </a:prstGeom>
            <a:noFill/>
          </p:spPr>
        </p:pic>
        <p:pic>
          <p:nvPicPr>
            <p:cNvPr id="19" name="Picture 18" descr="Screenshot of a screenshot of a computer&#10;&#10;Description automatically generated">
              <a:extLst>
                <a:ext uri="{FF2B5EF4-FFF2-40B4-BE49-F238E27FC236}">
                  <a16:creationId xmlns:a16="http://schemas.microsoft.com/office/drawing/2014/main" id="{0056E709-A82B-8942-3853-43A23C5EF0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/>
            </a:blip>
            <a:srcRect t="83604"/>
            <a:stretch/>
          </p:blipFill>
          <p:spPr>
            <a:xfrm>
              <a:off x="5987007" y="4662255"/>
              <a:ext cx="3715289" cy="718686"/>
            </a:xfrm>
            <a:prstGeom prst="rect">
              <a:avLst/>
            </a:prstGeom>
            <a:noFill/>
          </p:spPr>
        </p:pic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94034786-0D56-1A30-80B0-77032F21B4DC}"/>
                </a:ext>
              </a:extLst>
            </p:cNvPr>
            <p:cNvGrpSpPr/>
            <p:nvPr/>
          </p:nvGrpSpPr>
          <p:grpSpPr>
            <a:xfrm>
              <a:off x="6716913" y="2326849"/>
              <a:ext cx="3053274" cy="2194174"/>
              <a:chOff x="4316605" y="2302143"/>
              <a:chExt cx="2734502" cy="2078871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2E887A51-1903-1386-631F-BAF6E994A551}"/>
                  </a:ext>
                </a:extLst>
              </p:cNvPr>
              <p:cNvGrpSpPr/>
              <p:nvPr/>
            </p:nvGrpSpPr>
            <p:grpSpPr>
              <a:xfrm>
                <a:off x="4316605" y="2302143"/>
                <a:ext cx="2734502" cy="2078871"/>
                <a:chOff x="4316605" y="2302143"/>
                <a:chExt cx="2734502" cy="2078871"/>
              </a:xfrm>
              <a:noFill/>
            </p:grpSpPr>
            <p:pic>
              <p:nvPicPr>
                <p:cNvPr id="6" name="Picture 5" descr="Screenshot of a screenshot of a computer&#10;&#10;Description automatically generated">
                  <a:extLst>
                    <a:ext uri="{FF2B5EF4-FFF2-40B4-BE49-F238E27FC236}">
                      <a16:creationId xmlns:a16="http://schemas.microsoft.com/office/drawing/2014/main" id="{34168BE1-402E-1C6C-F66F-4E80E49B72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alphaModFix/>
                </a:blip>
                <a:srcRect t="8294" b="30794"/>
                <a:stretch/>
              </p:blipFill>
              <p:spPr>
                <a:xfrm>
                  <a:off x="4316605" y="2302143"/>
                  <a:ext cx="2734502" cy="2078871"/>
                </a:xfrm>
                <a:prstGeom prst="rect">
                  <a:avLst/>
                </a:prstGeom>
                <a:grpFill/>
              </p:spPr>
            </p:pic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5A46B8F2-34CD-D5D2-DB18-56017B54D67A}"/>
                    </a:ext>
                  </a:extLst>
                </p:cNvPr>
                <p:cNvSpPr/>
                <p:nvPr/>
              </p:nvSpPr>
              <p:spPr>
                <a:xfrm>
                  <a:off x="4876800" y="3488740"/>
                  <a:ext cx="1411148" cy="28959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noFill/>
                  </a:endParaRPr>
                </a:p>
              </p:txBody>
            </p:sp>
          </p:grp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BC5FE76C-F83C-8DEE-A818-38336BBA135D}"/>
                  </a:ext>
                </a:extLst>
              </p:cNvPr>
              <p:cNvSpPr/>
              <p:nvPr/>
            </p:nvSpPr>
            <p:spPr>
              <a:xfrm>
                <a:off x="5081275" y="3454329"/>
                <a:ext cx="1680800" cy="3365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F3A2702-1D05-1F2A-848F-0FAE542F2412}"/>
                </a:ext>
              </a:extLst>
            </p:cNvPr>
            <p:cNvSpPr txBox="1"/>
            <p:nvPr/>
          </p:nvSpPr>
          <p:spPr>
            <a:xfrm>
              <a:off x="8154352" y="3501819"/>
              <a:ext cx="1984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mukero _mwe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9A8EC2-A70A-9015-489B-C4B59BF07AFB}"/>
                </a:ext>
              </a:extLst>
            </p:cNvPr>
            <p:cNvSpPr txBox="1"/>
            <p:nvPr/>
          </p:nvSpPr>
          <p:spPr>
            <a:xfrm>
              <a:off x="5995597" y="1455203"/>
              <a:ext cx="42981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“A Kîîtharaka speaker saw: </a:t>
              </a:r>
              <a:r>
                <a:rPr lang="en-US" dirty="0" err="1">
                  <a:solidFill>
                    <a:schemeClr val="accent5"/>
                  </a:solidFill>
                </a:rPr>
                <a:t>mûkero</a:t>
              </a:r>
              <a:r>
                <a:rPr lang="en-US" dirty="0">
                  <a:solidFill>
                    <a:schemeClr val="accent5"/>
                  </a:solidFill>
                </a:rPr>
                <a:t>  _one</a:t>
              </a:r>
              <a:r>
                <a:rPr lang="en-US" b="1" dirty="0"/>
                <a:t>”</a:t>
              </a: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E7DD2BA-35F8-49E6-5009-0EEAA7C8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14</a:t>
            </a:fld>
            <a:endParaRPr lang="en-US" sz="180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9EF804F-3A54-E141-9E71-CA3B821331E3}"/>
              </a:ext>
            </a:extLst>
          </p:cNvPr>
          <p:cNvSpPr txBox="1">
            <a:spLocks/>
          </p:cNvSpPr>
          <p:nvPr/>
        </p:nvSpPr>
        <p:spPr>
          <a:xfrm>
            <a:off x="644565" y="341708"/>
            <a:ext cx="10515600" cy="5360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Sample trial: Evaluative blocks</a:t>
            </a:r>
          </a:p>
        </p:txBody>
      </p:sp>
    </p:spTree>
    <p:extLst>
      <p:ext uri="{BB962C8B-B14F-4D97-AF65-F5344CB8AC3E}">
        <p14:creationId xmlns:p14="http://schemas.microsoft.com/office/powerpoint/2010/main" val="304637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262F9C5-B7EF-54D9-3918-9D0FBB403534}"/>
              </a:ext>
            </a:extLst>
          </p:cNvPr>
          <p:cNvSpPr/>
          <p:nvPr/>
        </p:nvSpPr>
        <p:spPr>
          <a:xfrm>
            <a:off x="4476397" y="3429000"/>
            <a:ext cx="1480457" cy="349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7EA04F-0CCF-0711-4B70-97D4A1C737DC}"/>
              </a:ext>
            </a:extLst>
          </p:cNvPr>
          <p:cNvSpPr/>
          <p:nvPr/>
        </p:nvSpPr>
        <p:spPr>
          <a:xfrm>
            <a:off x="6297027" y="3493534"/>
            <a:ext cx="1480457" cy="349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4931226-0F8C-0E58-1339-18C40089376C}"/>
              </a:ext>
            </a:extLst>
          </p:cNvPr>
          <p:cNvSpPr/>
          <p:nvPr/>
        </p:nvSpPr>
        <p:spPr>
          <a:xfrm>
            <a:off x="8952968" y="3570338"/>
            <a:ext cx="1480457" cy="349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177145C-27B6-69F0-70B8-DBE0AF38D2DE}"/>
              </a:ext>
            </a:extLst>
          </p:cNvPr>
          <p:cNvGrpSpPr/>
          <p:nvPr/>
        </p:nvGrpSpPr>
        <p:grpSpPr>
          <a:xfrm>
            <a:off x="1855291" y="2172069"/>
            <a:ext cx="4227540" cy="3953699"/>
            <a:chOff x="1855291" y="2172069"/>
            <a:chExt cx="4227540" cy="395369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2D36D6-0CC1-5A46-2849-4BF764D77FF7}"/>
                </a:ext>
              </a:extLst>
            </p:cNvPr>
            <p:cNvSpPr txBox="1"/>
            <p:nvPr/>
          </p:nvSpPr>
          <p:spPr>
            <a:xfrm>
              <a:off x="4444432" y="5756436"/>
              <a:ext cx="1638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(b) Pejorative      </a:t>
              </a:r>
            </a:p>
          </p:txBody>
        </p:sp>
        <p:pic>
          <p:nvPicPr>
            <p:cNvPr id="36" name="Picture 35" descr="Screenshot of a screenshot of a computer&#10;&#10;Description automatically generated">
              <a:extLst>
                <a:ext uri="{FF2B5EF4-FFF2-40B4-BE49-F238E27FC236}">
                  <a16:creationId xmlns:a16="http://schemas.microsoft.com/office/drawing/2014/main" id="{B39A8D2D-8232-04F2-84D3-8554056008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7669" t="85225"/>
            <a:stretch/>
          </p:blipFill>
          <p:spPr>
            <a:xfrm>
              <a:off x="1935233" y="3849306"/>
              <a:ext cx="2257094" cy="613600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0341089-319B-3058-B47F-DFD9FEBFCF78}"/>
                </a:ext>
              </a:extLst>
            </p:cNvPr>
            <p:cNvGrpSpPr/>
            <p:nvPr/>
          </p:nvGrpSpPr>
          <p:grpSpPr>
            <a:xfrm>
              <a:off x="1934505" y="2172069"/>
              <a:ext cx="2888954" cy="1722469"/>
              <a:chOff x="6788883" y="2196381"/>
              <a:chExt cx="3080477" cy="1722469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18BBBD48-DCFE-8C78-F676-66E930DA8DB4}"/>
                  </a:ext>
                </a:extLst>
              </p:cNvPr>
              <p:cNvGrpSpPr/>
              <p:nvPr/>
            </p:nvGrpSpPr>
            <p:grpSpPr>
              <a:xfrm>
                <a:off x="6789659" y="2196381"/>
                <a:ext cx="2839865" cy="1722469"/>
                <a:chOff x="6789659" y="2196381"/>
                <a:chExt cx="2839865" cy="1722469"/>
              </a:xfrm>
            </p:grpSpPr>
            <p:pic>
              <p:nvPicPr>
                <p:cNvPr id="32" name="Picture 31" descr="A screenshot of a cellphone&#10;&#10;Description automatically generated">
                  <a:extLst>
                    <a:ext uri="{FF2B5EF4-FFF2-40B4-BE49-F238E27FC236}">
                      <a16:creationId xmlns:a16="http://schemas.microsoft.com/office/drawing/2014/main" id="{01AE3A6B-B936-1E0D-926A-5D1D68CE96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11145" b="43469"/>
                <a:stretch/>
              </p:blipFill>
              <p:spPr>
                <a:xfrm>
                  <a:off x="6789659" y="2196381"/>
                  <a:ext cx="2839865" cy="1722469"/>
                </a:xfrm>
                <a:prstGeom prst="rect">
                  <a:avLst/>
                </a:prstGeom>
              </p:spPr>
            </p:pic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3A034D95-02BA-C9E4-0221-278943317BC3}"/>
                    </a:ext>
                  </a:extLst>
                </p:cNvPr>
                <p:cNvSpPr/>
                <p:nvPr/>
              </p:nvSpPr>
              <p:spPr>
                <a:xfrm>
                  <a:off x="6789659" y="3519129"/>
                  <a:ext cx="1126971" cy="29252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51" name="Picture 50" descr="A person in a garment&#10;&#10;Description automatically generated">
                <a:extLst>
                  <a:ext uri="{FF2B5EF4-FFF2-40B4-BE49-F238E27FC236}">
                    <a16:creationId xmlns:a16="http://schemas.microsoft.com/office/drawing/2014/main" id="{1D3A8F1D-CAE0-4F2A-85A0-7C42F18CE07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58238" r="41783" b="33779"/>
              <a:stretch/>
            </p:blipFill>
            <p:spPr>
              <a:xfrm>
                <a:off x="6788883" y="3418913"/>
                <a:ext cx="1858041" cy="442934"/>
              </a:xfrm>
              <a:prstGeom prst="rect">
                <a:avLst/>
              </a:prstGeom>
            </p:spPr>
          </p:pic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8ED4CDE-7C04-6A01-6DA4-2B4E5886EA7F}"/>
                  </a:ext>
                </a:extLst>
              </p:cNvPr>
              <p:cNvSpPr txBox="1"/>
              <p:nvPr/>
            </p:nvSpPr>
            <p:spPr>
              <a:xfrm>
                <a:off x="8603383" y="3521543"/>
                <a:ext cx="12659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îcogi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7EDE9A8-67FB-F485-057B-CC3D64758AB1}"/>
                </a:ext>
              </a:extLst>
            </p:cNvPr>
            <p:cNvSpPr txBox="1"/>
            <p:nvPr/>
          </p:nvSpPr>
          <p:spPr>
            <a:xfrm>
              <a:off x="1855291" y="4938985"/>
              <a:ext cx="2913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“This picture shows: </a:t>
              </a:r>
              <a:r>
                <a:rPr lang="en-US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î-</a:t>
              </a:r>
              <a:r>
                <a:rPr lang="en-US" dirty="0" err="1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cogi</a:t>
              </a:r>
              <a:r>
                <a:rPr lang="en-US" b="1" dirty="0"/>
                <a:t>”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62B0D86-4424-3691-6919-D4B0BA4B614A}"/>
              </a:ext>
            </a:extLst>
          </p:cNvPr>
          <p:cNvGrpSpPr/>
          <p:nvPr/>
        </p:nvGrpSpPr>
        <p:grpSpPr>
          <a:xfrm>
            <a:off x="5321007" y="1430891"/>
            <a:ext cx="4355366" cy="3762321"/>
            <a:chOff x="4597602" y="1430891"/>
            <a:chExt cx="4355366" cy="3762321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A8FCDEB-3341-ED41-2453-4CD440059F81}"/>
                </a:ext>
              </a:extLst>
            </p:cNvPr>
            <p:cNvGrpSpPr/>
            <p:nvPr/>
          </p:nvGrpSpPr>
          <p:grpSpPr>
            <a:xfrm>
              <a:off x="5979881" y="2237741"/>
              <a:ext cx="2690882" cy="2319003"/>
              <a:chOff x="9547339" y="2262053"/>
              <a:chExt cx="2690882" cy="2319003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1197EDA2-A8CB-918D-3DF8-B9C75C4CBD86}"/>
                  </a:ext>
                </a:extLst>
              </p:cNvPr>
              <p:cNvGrpSpPr/>
              <p:nvPr/>
            </p:nvGrpSpPr>
            <p:grpSpPr>
              <a:xfrm>
                <a:off x="9547339" y="2262053"/>
                <a:ext cx="2690882" cy="2319003"/>
                <a:chOff x="9547339" y="2262053"/>
                <a:chExt cx="2690882" cy="2319003"/>
              </a:xfrm>
            </p:grpSpPr>
            <p:pic>
              <p:nvPicPr>
                <p:cNvPr id="13" name="Picture 12" descr="A screenshot of a cellphone&#10;&#10;Description automatically generated">
                  <a:extLst>
                    <a:ext uri="{FF2B5EF4-FFF2-40B4-BE49-F238E27FC236}">
                      <a16:creationId xmlns:a16="http://schemas.microsoft.com/office/drawing/2014/main" id="{E805EDA9-9B70-99EE-C575-0ABE0CA9AD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11146" b="24367"/>
                <a:stretch/>
              </p:blipFill>
              <p:spPr>
                <a:xfrm>
                  <a:off x="9547339" y="2262053"/>
                  <a:ext cx="2690882" cy="2319003"/>
                </a:xfrm>
                <a:prstGeom prst="rect">
                  <a:avLst/>
                </a:prstGeom>
              </p:spPr>
            </p:pic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89F2470B-BEEF-B31E-2E77-31855172416A}"/>
                    </a:ext>
                  </a:extLst>
                </p:cNvPr>
                <p:cNvSpPr/>
                <p:nvPr/>
              </p:nvSpPr>
              <p:spPr>
                <a:xfrm>
                  <a:off x="9577835" y="3465504"/>
                  <a:ext cx="1411148" cy="28959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noFill/>
                  </a:endParaRPr>
                </a:p>
              </p:txBody>
            </p: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CEC6724-84CC-2B17-284F-EBCFC4DA7864}"/>
                  </a:ext>
                </a:extLst>
              </p:cNvPr>
              <p:cNvSpPr txBox="1"/>
              <p:nvPr/>
            </p:nvSpPr>
            <p:spPr>
              <a:xfrm>
                <a:off x="9716207" y="3519129"/>
                <a:ext cx="16468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îcogi _mwe</a:t>
                </a:r>
              </a:p>
            </p:txBody>
          </p:sp>
        </p:grpSp>
        <p:pic>
          <p:nvPicPr>
            <p:cNvPr id="20" name="Picture 19" descr="Screenshot of a screenshot of a computer&#10;&#10;Description automatically generated">
              <a:extLst>
                <a:ext uri="{FF2B5EF4-FFF2-40B4-BE49-F238E27FC236}">
                  <a16:creationId xmlns:a16="http://schemas.microsoft.com/office/drawing/2014/main" id="{655C2FEB-F776-13CA-E8FC-699972E1F5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83604"/>
            <a:stretch/>
          </p:blipFill>
          <p:spPr>
            <a:xfrm>
              <a:off x="5480587" y="4512293"/>
              <a:ext cx="3120525" cy="680919"/>
            </a:xfrm>
            <a:prstGeom prst="rect">
              <a:avLst/>
            </a:prstGeom>
          </p:spPr>
        </p:pic>
        <p:pic>
          <p:nvPicPr>
            <p:cNvPr id="40" name="Picture 39" descr="Screenshot of a screenshot of a computer&#10;&#10;Description automatically generated">
              <a:extLst>
                <a:ext uri="{FF2B5EF4-FFF2-40B4-BE49-F238E27FC236}">
                  <a16:creationId xmlns:a16="http://schemas.microsoft.com/office/drawing/2014/main" id="{4537EDA2-17C6-4BE9-C6AC-0B92D8AD6A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" r="764" b="90435"/>
            <a:stretch/>
          </p:blipFill>
          <p:spPr>
            <a:xfrm>
              <a:off x="6036183" y="1664944"/>
              <a:ext cx="2916785" cy="39993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9803EBF-8673-F359-E06F-65A3A0069C4D}"/>
                </a:ext>
              </a:extLst>
            </p:cNvPr>
            <p:cNvSpPr txBox="1"/>
            <p:nvPr/>
          </p:nvSpPr>
          <p:spPr>
            <a:xfrm>
              <a:off x="4597602" y="1430891"/>
              <a:ext cx="40134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“A Kîîtharaka speaker saw: </a:t>
              </a:r>
              <a:r>
                <a:rPr lang="en-US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îcogi  _one</a:t>
              </a:r>
              <a:r>
                <a:rPr lang="en-US" b="1" dirty="0"/>
                <a:t>”</a:t>
              </a:r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E7DD2BA-35F8-49E6-5009-0EEAA7C8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15</a:t>
            </a:fld>
            <a:endParaRPr lang="en-US" sz="180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9EF804F-3A54-E141-9E71-CA3B821331E3}"/>
              </a:ext>
            </a:extLst>
          </p:cNvPr>
          <p:cNvSpPr txBox="1">
            <a:spLocks/>
          </p:cNvSpPr>
          <p:nvPr/>
        </p:nvSpPr>
        <p:spPr>
          <a:xfrm>
            <a:off x="644565" y="341708"/>
            <a:ext cx="10515600" cy="5360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Sample trial: Evaluative blocks</a:t>
            </a:r>
          </a:p>
        </p:txBody>
      </p:sp>
    </p:spTree>
    <p:extLst>
      <p:ext uri="{BB962C8B-B14F-4D97-AF65-F5344CB8AC3E}">
        <p14:creationId xmlns:p14="http://schemas.microsoft.com/office/powerpoint/2010/main" val="1544328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B5594-C8D8-8603-B574-9CF1F9892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695" y="309578"/>
            <a:ext cx="10515600" cy="536022"/>
          </a:xfrm>
        </p:spPr>
        <p:txBody>
          <a:bodyPr>
            <a:normAutofit/>
          </a:bodyPr>
          <a:lstStyle/>
          <a:p>
            <a:r>
              <a:rPr lang="en-US" sz="2800" b="1" dirty="0"/>
              <a:t>Results: Aligned trials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E1F6D-ECB8-3798-1728-A3528A817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22" y="116854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                         </a:t>
            </a:r>
            <a:r>
              <a:rPr lang="en-US" sz="2400" dirty="0"/>
              <a:t>Correct responses in </a:t>
            </a:r>
            <a:r>
              <a:rPr lang="en-US" sz="2400" i="1" dirty="0"/>
              <a:t>Aligned trials </a:t>
            </a:r>
            <a:r>
              <a:rPr lang="en-US" sz="2400" dirty="0"/>
              <a:t>by block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9CF51A-2BB0-10F0-9F51-19357FDA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16</a:t>
            </a:fld>
            <a:endParaRPr lang="en-US" sz="1800" dirty="0"/>
          </a:p>
        </p:txBody>
      </p:sp>
      <p:pic>
        <p:nvPicPr>
          <p:cNvPr id="6" name="Picture 5" descr="A graph with different colored lines and dots&#10;&#10;Description automatically generated">
            <a:extLst>
              <a:ext uri="{FF2B5EF4-FFF2-40B4-BE49-F238E27FC236}">
                <a16:creationId xmlns:a16="http://schemas.microsoft.com/office/drawing/2014/main" id="{D2E40E72-F05B-16A3-CD9A-1547FD1E7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339" y="1600200"/>
            <a:ext cx="6361043" cy="508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622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E1F6D-ECB8-3798-1728-A3528A817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1653" y="104225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                    </a:t>
            </a:r>
            <a:r>
              <a:rPr lang="en-US" sz="2400" dirty="0"/>
              <a:t>Semantic assignment by block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9CF51A-2BB0-10F0-9F51-19357FDA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17</a:t>
            </a:fld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4BBF02-366C-DB3B-2129-AEEA8A41F248}"/>
              </a:ext>
            </a:extLst>
          </p:cNvPr>
          <p:cNvSpPr txBox="1"/>
          <p:nvPr/>
        </p:nvSpPr>
        <p:spPr>
          <a:xfrm>
            <a:off x="8728939" y="5433020"/>
            <a:ext cx="31602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Statistical analyses (LMER)):</a:t>
            </a:r>
          </a:p>
          <a:p>
            <a:r>
              <a:rPr lang="en-US" dirty="0"/>
              <a:t>Human block significantly</a:t>
            </a:r>
          </a:p>
          <a:p>
            <a:r>
              <a:rPr lang="en-US" dirty="0"/>
              <a:t>Different from other meanings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48C469-959E-631B-AA7F-D431E09704ED}"/>
              </a:ext>
            </a:extLst>
          </p:cNvPr>
          <p:cNvSpPr txBox="1">
            <a:spLocks/>
          </p:cNvSpPr>
          <p:nvPr/>
        </p:nvSpPr>
        <p:spPr>
          <a:xfrm>
            <a:off x="430695" y="309578"/>
            <a:ext cx="10515600" cy="5360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Results: Conflicting trials</a:t>
            </a:r>
          </a:p>
        </p:txBody>
      </p:sp>
      <p:pic>
        <p:nvPicPr>
          <p:cNvPr id="10" name="Picture 9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7F80468E-B502-3965-5EBC-2C2A1D2E7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826" y="1417319"/>
            <a:ext cx="6622774" cy="529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09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B5594-C8D8-8603-B574-9CF1F9892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782" y="315430"/>
            <a:ext cx="10515600" cy="536022"/>
          </a:xfrm>
        </p:spPr>
        <p:txBody>
          <a:bodyPr>
            <a:normAutofit/>
          </a:bodyPr>
          <a:lstStyle/>
          <a:p>
            <a:r>
              <a:rPr lang="en-US" sz="2800" b="1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E1F6D-ECB8-3798-1728-A3528A817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22" y="1046044"/>
            <a:ext cx="10931976" cy="5571731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Why is human feature more reliable that other semantic features?</a:t>
            </a:r>
          </a:p>
          <a:p>
            <a:pPr lvl="1"/>
            <a:r>
              <a:rPr lang="en-US" dirty="0"/>
              <a:t>Statistical reliability?</a:t>
            </a:r>
          </a:p>
          <a:p>
            <a:pPr lvl="1"/>
            <a:r>
              <a:rPr lang="en-US" dirty="0"/>
              <a:t>Conceptual accessibility or perceptual salience?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Why do adult speakers of Kîîtharaka differ from those in other studies in their  overwhelming preference for morphophonology?</a:t>
            </a:r>
          </a:p>
          <a:p>
            <a:pPr lvl="1"/>
            <a:r>
              <a:rPr lang="en-US" dirty="0"/>
              <a:t>Prominence and reliability of morphophonology as a cue type- nominal prefixes are ubiquitous and highly productive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62411-D46F-ABE3-7150-54493E01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18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90137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B5594-C8D8-8603-B574-9CF1F9892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22" y="298551"/>
            <a:ext cx="10515600" cy="536022"/>
          </a:xfrm>
        </p:spPr>
        <p:txBody>
          <a:bodyPr>
            <a:normAutofit/>
          </a:bodyPr>
          <a:lstStyle/>
          <a:p>
            <a:r>
              <a:rPr lang="en-US" sz="2800" b="1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E1F6D-ECB8-3798-1728-A3528A817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22" y="104604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Run tests with </a:t>
            </a:r>
            <a:r>
              <a:rPr lang="en-US" sz="2400" b="1" dirty="0"/>
              <a:t>child participants </a:t>
            </a:r>
            <a:r>
              <a:rPr lang="en-US" sz="2400" dirty="0"/>
              <a:t>to establish whether this differential preference (and strong role of human-ness) is present at the age of acquisition or develops over time</a:t>
            </a:r>
          </a:p>
          <a:p>
            <a:r>
              <a:rPr lang="en-US" sz="2400" dirty="0"/>
              <a:t>Reproduce the study with adult participants of other systems with highly reliable morphophonological cues e.g., Spanish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8AD33-BC30-4705-1D74-9B2F352BF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19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36792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E1F6D-ECB8-3798-1728-A3528A817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22" y="104604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400" b="1" dirty="0"/>
          </a:p>
          <a:p>
            <a:pPr marL="0" indent="0" algn="ctr">
              <a:buNone/>
            </a:pPr>
            <a:endParaRPr lang="en-US" sz="2400" b="1" dirty="0"/>
          </a:p>
          <a:p>
            <a:pPr marL="0" indent="0" algn="ctr">
              <a:buNone/>
            </a:pPr>
            <a:r>
              <a:rPr lang="en-US" sz="2400" b="1" dirty="0"/>
              <a:t>Thank you for listening! </a:t>
            </a:r>
          </a:p>
          <a:p>
            <a:pPr marL="0" indent="0" algn="ctr">
              <a:buNone/>
            </a:pPr>
            <a:r>
              <a:rPr lang="en-US" sz="2400" dirty="0"/>
              <a:t>Questions, and comments/suggestions are welcome!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16582-B790-D4CC-0279-FF652126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20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90320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E1F6D-ECB8-3798-1728-A3528A817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6525"/>
            <a:ext cx="11600329" cy="5762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References</a:t>
            </a:r>
          </a:p>
          <a:p>
            <a:pPr marL="0" indent="0">
              <a:buNone/>
            </a:pP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Corbett, </a:t>
            </a:r>
            <a:r>
              <a:rPr lang="en-GB" sz="1600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Greville</a:t>
            </a: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G et al. 1991. Gender. Cambridge University Press.</a:t>
            </a:r>
            <a:endParaRPr lang="en-US" sz="1600" b="1" i="0" dirty="0"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marL="0" indent="0">
              <a:buNone/>
              <a:tabLst>
                <a:tab pos="793750" algn="l"/>
              </a:tabLst>
            </a:pP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Culbertson, Jennifer, Annie Gagliardi &amp; Kenny Smith. 2017. Competition between phonological and semantic cues in noun class 	learning. Journal of Memory and Language 92. 343–358.</a:t>
            </a:r>
          </a:p>
          <a:p>
            <a:pPr marL="0" indent="0">
              <a:buNone/>
              <a:tabLst>
                <a:tab pos="793750" algn="l"/>
              </a:tabLst>
            </a:pP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Culbertson, Jennifer, Hanna </a:t>
            </a:r>
            <a:r>
              <a:rPr lang="en-GB" sz="1600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Jarvinen</a:t>
            </a: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Frances Haggarty &amp; Kenny Smith. 2019. Children’s sensitivity to phonological and semantic 	cues during noun class learning: Evidence for a phonological bias. Language 95(2). 268–293.</a:t>
            </a:r>
          </a:p>
          <a:p>
            <a:pPr marL="0" indent="0">
              <a:buNone/>
              <a:tabLst>
                <a:tab pos="793750" algn="l"/>
              </a:tabLst>
            </a:pP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 ́</a:t>
            </a:r>
            <a:r>
              <a:rPr lang="en-GB" sz="1600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echaine</a:t>
            </a: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Rose-Marie, Rapha ̈</a:t>
            </a:r>
            <a:r>
              <a:rPr lang="en-GB" sz="1600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el</a:t>
            </a: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Girard, Calisto </a:t>
            </a:r>
            <a:r>
              <a:rPr lang="en-GB" sz="1600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Mudzingwa</a:t>
            </a: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&amp; Martina </a:t>
            </a:r>
            <a:r>
              <a:rPr lang="en-GB" sz="1600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Wiltschko</a:t>
            </a: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2014. The internal syntax of </a:t>
            </a:r>
            <a:r>
              <a:rPr lang="en-GB" sz="1600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shona</a:t>
            </a: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class 	prefixes. Language sciences 43. 18–46.</a:t>
            </a:r>
            <a:br>
              <a:rPr lang="en-GB" sz="1600" dirty="0"/>
            </a:b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Del </a:t>
            </a:r>
            <a:r>
              <a:rPr lang="en-GB" sz="1600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Tomba</a:t>
            </a: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Alessandro. 2023. The gender system of </a:t>
            </a:r>
            <a:r>
              <a:rPr lang="en-GB" sz="1600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tocharian</a:t>
            </a: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A synchronic and typological overview. In The </a:t>
            </a:r>
            <a:r>
              <a:rPr lang="en-GB" sz="1600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tocharian</a:t>
            </a: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gender 	system, 9–65. Brill.</a:t>
            </a:r>
          </a:p>
          <a:p>
            <a:pPr marL="0" indent="0">
              <a:buNone/>
              <a:tabLst>
                <a:tab pos="793750" algn="l"/>
              </a:tabLst>
            </a:pP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Demuth, Katherine. 2000. Bantu noun class systems: Loan word and acquisition evidence of semantic productivity. Systems of 	nominal classification 270–292.</a:t>
            </a:r>
          </a:p>
          <a:p>
            <a:pPr marL="0" indent="0">
              <a:buNone/>
              <a:tabLst>
                <a:tab pos="793750" algn="l"/>
              </a:tabLst>
            </a:pPr>
            <a:r>
              <a:rPr lang="en-GB" sz="1600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Enger</a:t>
            </a: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Hans-Olav. 2009. The role of core and non-core semantic rules in gender </a:t>
            </a:r>
            <a:r>
              <a:rPr lang="en-GB" sz="1600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assignment.Lingua</a:t>
            </a: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119(9). 1281–1299.</a:t>
            </a:r>
          </a:p>
          <a:p>
            <a:pPr marL="0" indent="0">
              <a:buNone/>
              <a:tabLst>
                <a:tab pos="793750" algn="l"/>
              </a:tabLst>
            </a:pPr>
            <a:r>
              <a:rPr lang="en-GB" sz="1600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Frigo</a:t>
            </a: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Lenore &amp; Janet L McDonald. 1998. Properties of phonological markers that affect the acquisition of gender-like 	</a:t>
            </a:r>
            <a:r>
              <a:rPr lang="en-GB" sz="1600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subclasses.Journal</a:t>
            </a: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of Memory and Language 39(2). 218–245.</a:t>
            </a:r>
            <a:br>
              <a:rPr lang="en-GB" sz="1600" dirty="0"/>
            </a:b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Gagliardi, Annie, Naomi H Feldman &amp; Jeffrey </a:t>
            </a:r>
            <a:r>
              <a:rPr lang="en-GB" sz="1600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Lidz</a:t>
            </a: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2017. </a:t>
            </a:r>
            <a:r>
              <a:rPr lang="en-GB" sz="1600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Modeling</a:t>
            </a: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statistical </a:t>
            </a:r>
            <a:r>
              <a:rPr lang="en-GB" sz="1600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insensitivity:Sources</a:t>
            </a: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of suboptimal </a:t>
            </a:r>
            <a:r>
              <a:rPr lang="en-GB" sz="1600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behavior</a:t>
            </a: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	Cognitive science 41(1). 188–217.</a:t>
            </a:r>
          </a:p>
          <a:p>
            <a:pPr marL="0" indent="0">
              <a:buNone/>
              <a:tabLst>
                <a:tab pos="793750" algn="l"/>
              </a:tabLst>
            </a:pP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Kanampiu, Patrick, Alexander Martin &amp; Jennifer Culbertson. Under review. Experimental evidence for semantic and 	morphophonological productivity in </a:t>
            </a:r>
            <a:r>
              <a:rPr lang="en-GB" sz="1600" b="0" i="0" dirty="0" err="1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kˆıˆıtharaka</a:t>
            </a:r>
            <a:r>
              <a:rPr lang="en-GB" sz="16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noun classes .</a:t>
            </a:r>
          </a:p>
          <a:p>
            <a:pPr marL="0" indent="0">
              <a:buNone/>
              <a:tabLst>
                <a:tab pos="793750" algn="l"/>
              </a:tabLst>
            </a:pPr>
            <a:endParaRPr lang="en-GB" sz="1600" dirty="0"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marL="0" indent="0">
              <a:buNone/>
              <a:tabLst>
                <a:tab pos="793750" algn="l"/>
              </a:tabLst>
            </a:pPr>
            <a:endParaRPr lang="en-GB" sz="1600" b="1" dirty="0"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marL="0" indent="0">
              <a:buNone/>
              <a:tabLst>
                <a:tab pos="793750" algn="l"/>
              </a:tabLst>
            </a:pPr>
            <a:endParaRPr lang="en-US" sz="2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16582-B790-D4CC-0279-FF652126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21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84980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B5594-C8D8-8603-B574-9CF1F9892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06"/>
            <a:ext cx="10515600" cy="536022"/>
          </a:xfrm>
        </p:spPr>
        <p:txBody>
          <a:bodyPr>
            <a:normAutofit/>
          </a:bodyPr>
          <a:lstStyle/>
          <a:p>
            <a:r>
              <a:rPr lang="en-US" sz="2800" b="1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E1F6D-ECB8-3798-1728-A3528A817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218" y="875126"/>
            <a:ext cx="3574774" cy="5360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Human block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FC29D-26D9-6384-6501-C88E4FBFC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22</a:t>
            </a:fld>
            <a:endParaRPr lang="en-US" sz="1800" dirty="0"/>
          </a:p>
        </p:txBody>
      </p:sp>
      <p:pic>
        <p:nvPicPr>
          <p:cNvPr id="7" name="Picture 6" descr="A graph of different colored squares&#10;&#10;Description automatically generated">
            <a:extLst>
              <a:ext uri="{FF2B5EF4-FFF2-40B4-BE49-F238E27FC236}">
                <a16:creationId xmlns:a16="http://schemas.microsoft.com/office/drawing/2014/main" id="{2D6A7980-22E8-C20B-DFB3-7039A1313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18" y="1517646"/>
            <a:ext cx="5151782" cy="5151782"/>
          </a:xfrm>
          <a:prstGeom prst="rect">
            <a:avLst/>
          </a:prstGeom>
        </p:spPr>
      </p:pic>
      <p:pic>
        <p:nvPicPr>
          <p:cNvPr id="9" name="Picture 8" descr="A graph of different colors&#10;&#10;Description automatically generated">
            <a:extLst>
              <a:ext uri="{FF2B5EF4-FFF2-40B4-BE49-F238E27FC236}">
                <a16:creationId xmlns:a16="http://schemas.microsoft.com/office/drawing/2014/main" id="{6B9EDF81-DC0E-22AD-2448-F3DFE84A5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167" y="1322615"/>
            <a:ext cx="5759627" cy="479968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DBB589A-47F7-080D-1C69-5C78ACCFABB1}"/>
              </a:ext>
            </a:extLst>
          </p:cNvPr>
          <p:cNvSpPr txBox="1">
            <a:spLocks/>
          </p:cNvSpPr>
          <p:nvPr/>
        </p:nvSpPr>
        <p:spPr>
          <a:xfrm>
            <a:off x="6958575" y="875126"/>
            <a:ext cx="3574774" cy="536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Augmentative block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BF29BF8-DBAB-D017-BD25-F01FC7309C5F}"/>
              </a:ext>
            </a:extLst>
          </p:cNvPr>
          <p:cNvGrpSpPr/>
          <p:nvPr/>
        </p:nvGrpSpPr>
        <p:grpSpPr>
          <a:xfrm>
            <a:off x="7955427" y="2478800"/>
            <a:ext cx="3825782" cy="2780481"/>
            <a:chOff x="4527804" y="2576670"/>
            <a:chExt cx="3825782" cy="278048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73CAAF6-85E1-5224-5D73-B7247E7F87D2}"/>
                </a:ext>
              </a:extLst>
            </p:cNvPr>
            <p:cNvSpPr/>
            <p:nvPr/>
          </p:nvSpPr>
          <p:spPr>
            <a:xfrm rot="16200000">
              <a:off x="4366894" y="4815509"/>
              <a:ext cx="702552" cy="38073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59D11E3-1459-59CE-0378-665191297E13}"/>
                </a:ext>
              </a:extLst>
            </p:cNvPr>
            <p:cNvSpPr/>
            <p:nvPr/>
          </p:nvSpPr>
          <p:spPr>
            <a:xfrm rot="16200000">
              <a:off x="5813987" y="4960833"/>
              <a:ext cx="411905" cy="38073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74F34CA-47F3-8064-5A58-CD1818D64549}"/>
                </a:ext>
              </a:extLst>
            </p:cNvPr>
            <p:cNvSpPr/>
            <p:nvPr/>
          </p:nvSpPr>
          <p:spPr>
            <a:xfrm rot="16200000">
              <a:off x="6243744" y="4915957"/>
              <a:ext cx="501659" cy="38073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1EF5B34-EFF9-FA92-0C6A-9BF86E21F115}"/>
                </a:ext>
              </a:extLst>
            </p:cNvPr>
            <p:cNvSpPr/>
            <p:nvPr/>
          </p:nvSpPr>
          <p:spPr>
            <a:xfrm rot="16200000">
              <a:off x="7405336" y="2130077"/>
              <a:ext cx="501658" cy="139484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56EEB8F-6F67-6BBE-1B79-4B74DD58D9C3}"/>
              </a:ext>
            </a:extLst>
          </p:cNvPr>
          <p:cNvSpPr/>
          <p:nvPr/>
        </p:nvSpPr>
        <p:spPr>
          <a:xfrm rot="16200000">
            <a:off x="8342744" y="2987802"/>
            <a:ext cx="3158905" cy="3807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A4E03B-B912-35B4-1C03-C76323D458C0}"/>
              </a:ext>
            </a:extLst>
          </p:cNvPr>
          <p:cNvSpPr/>
          <p:nvPr/>
        </p:nvSpPr>
        <p:spPr>
          <a:xfrm rot="16200000">
            <a:off x="10967139" y="2613876"/>
            <a:ext cx="233298" cy="13948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88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B5594-C8D8-8603-B574-9CF1F9892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678" y="444346"/>
            <a:ext cx="10515600" cy="536022"/>
          </a:xfrm>
        </p:spPr>
        <p:txBody>
          <a:bodyPr>
            <a:noAutofit/>
          </a:bodyPr>
          <a:lstStyle/>
          <a:p>
            <a:br>
              <a:rPr lang="en-US" sz="2800" b="1" dirty="0"/>
            </a:br>
            <a:r>
              <a:rPr lang="en-US" sz="2800" b="1" dirty="0"/>
              <a:t>Results</a:t>
            </a:r>
            <a:br>
              <a:rPr lang="en-US" sz="2800" b="1" dirty="0"/>
            </a:br>
            <a:endParaRPr lang="en-US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E1F6D-ECB8-3798-1728-A3528A817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026" y="947743"/>
            <a:ext cx="2951922" cy="4994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Pejorative block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11" name="Picture 10" descr="A graph of different colored squares&#10;&#10;Description automatically generated">
            <a:extLst>
              <a:ext uri="{FF2B5EF4-FFF2-40B4-BE49-F238E27FC236}">
                <a16:creationId xmlns:a16="http://schemas.microsoft.com/office/drawing/2014/main" id="{81440A91-5F1E-5409-ACA8-F33CD2FA8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78" y="1451139"/>
            <a:ext cx="5105835" cy="4254862"/>
          </a:xfrm>
          <a:prstGeom prst="rect">
            <a:avLst/>
          </a:prstGeom>
        </p:spPr>
      </p:pic>
      <p:pic>
        <p:nvPicPr>
          <p:cNvPr id="9" name="Picture 8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4CAD8456-16C9-A143-E5E4-282964530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796" y="1414556"/>
            <a:ext cx="5105833" cy="425486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BF168A7-4CF8-395F-E620-5B5E4AD97D89}"/>
              </a:ext>
            </a:extLst>
          </p:cNvPr>
          <p:cNvSpPr/>
          <p:nvPr/>
        </p:nvSpPr>
        <p:spPr>
          <a:xfrm rot="16200000">
            <a:off x="11231219" y="2579178"/>
            <a:ext cx="218661" cy="1394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412A4-7B89-AFF2-A569-F31FA1364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85C4-44AF-CB41-9265-DD580831A3CD}" type="slidenum">
              <a:rPr lang="en-US" sz="1800" smtClean="0"/>
              <a:t>23</a:t>
            </a:fld>
            <a:endParaRPr lang="en-US" sz="1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0588EE-30BB-F1A3-557C-79FBD8F7247E}"/>
              </a:ext>
            </a:extLst>
          </p:cNvPr>
          <p:cNvSpPr/>
          <p:nvPr/>
        </p:nvSpPr>
        <p:spPr>
          <a:xfrm rot="16200000">
            <a:off x="5164451" y="2528647"/>
            <a:ext cx="200453" cy="1394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253048F-3A3D-DCE4-D9EE-B63BC240DA5A}"/>
              </a:ext>
            </a:extLst>
          </p:cNvPr>
          <p:cNvSpPr txBox="1">
            <a:spLocks/>
          </p:cNvSpPr>
          <p:nvPr/>
        </p:nvSpPr>
        <p:spPr>
          <a:xfrm>
            <a:off x="7529917" y="980368"/>
            <a:ext cx="2951922" cy="499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Diminutive block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258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3EBE080-0118-8C4B-B95B-AD3639D72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0267" y="1620674"/>
            <a:ext cx="7391993" cy="5136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469366-EFB9-BC40-83C9-BAFC06DE2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352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b="1" kern="1200" dirty="0">
                <a:solidFill>
                  <a:schemeClr val="tx1"/>
                </a:solidFill>
                <a:latin typeface="Helvetica" pitchFamily="2" charset="0"/>
              </a:rPr>
              <a:t>Traditional approaches to Bantu noun classes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74DEC-38A8-D74A-B2DA-F738199F8FB4}"/>
              </a:ext>
            </a:extLst>
          </p:cNvPr>
          <p:cNvSpPr txBox="1"/>
          <p:nvPr/>
        </p:nvSpPr>
        <p:spPr>
          <a:xfrm>
            <a:off x="9182260" y="5162715"/>
            <a:ext cx="21210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Helvetica" pitchFamily="2" charset="0"/>
              </a:rPr>
              <a:t>(Proto Bantu,</a:t>
            </a:r>
          </a:p>
          <a:p>
            <a:r>
              <a:rPr lang="en-US">
                <a:latin typeface="Helvetica" pitchFamily="2" charset="0"/>
              </a:rPr>
              <a:t>Richardson, 1967; </a:t>
            </a:r>
          </a:p>
          <a:p>
            <a:r>
              <a:rPr lang="en-US" err="1">
                <a:latin typeface="Helvetica" pitchFamily="2" charset="0"/>
              </a:rPr>
              <a:t>Welmers</a:t>
            </a:r>
            <a:r>
              <a:rPr lang="en-US">
                <a:latin typeface="Helvetica" pitchFamily="2" charset="0"/>
              </a:rPr>
              <a:t>, 1973)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8A230-1C02-4B99-21F8-BB9654CD8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1800" smtClean="0"/>
              <a:t>24</a:t>
            </a:fld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4E4B17-3F8E-FE4B-B106-2D65114576E3}"/>
              </a:ext>
            </a:extLst>
          </p:cNvPr>
          <p:cNvSpPr txBox="1"/>
          <p:nvPr/>
        </p:nvSpPr>
        <p:spPr>
          <a:xfrm>
            <a:off x="601998" y="889978"/>
            <a:ext cx="83881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sz="2400" dirty="0"/>
              <a:t> There are complexities...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Semantic heterogeneity/shared meaning across classes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C43AE-F572-3C34-5067-1810CA2C8989}"/>
              </a:ext>
            </a:extLst>
          </p:cNvPr>
          <p:cNvSpPr txBox="1"/>
          <p:nvPr/>
        </p:nvSpPr>
        <p:spPr>
          <a:xfrm>
            <a:off x="5413938" y="1995070"/>
            <a:ext cx="1780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highlight>
                  <a:srgbClr val="FFFF00"/>
                </a:highlight>
              </a:defRPr>
            </a:lvl1pPr>
          </a:lstStyle>
          <a:p>
            <a:r>
              <a:rPr lang="en-US" sz="1600" dirty="0"/>
              <a:t>other animates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313660-E840-EC27-2734-5859582BFD79}"/>
              </a:ext>
            </a:extLst>
          </p:cNvPr>
          <p:cNvSpPr txBox="1"/>
          <p:nvPr/>
        </p:nvSpPr>
        <p:spPr>
          <a:xfrm>
            <a:off x="4667437" y="3738804"/>
            <a:ext cx="1780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highlight>
                  <a:srgbClr val="FFFF00"/>
                </a:highlight>
              </a:defRPr>
            </a:lvl1pPr>
          </a:lstStyle>
          <a:p>
            <a:r>
              <a:rPr lang="en-US" sz="1600" dirty="0"/>
              <a:t>animates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27DF08-19CB-0CEE-CDFD-2ED781C3DF11}"/>
              </a:ext>
            </a:extLst>
          </p:cNvPr>
          <p:cNvSpPr txBox="1"/>
          <p:nvPr/>
        </p:nvSpPr>
        <p:spPr>
          <a:xfrm>
            <a:off x="7720154" y="2679567"/>
            <a:ext cx="1780891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highlight>
                  <a:srgbClr val="FFFF00"/>
                </a:highlight>
              </a:defRPr>
            </a:lvl1pPr>
          </a:lstStyle>
          <a:p>
            <a:r>
              <a:rPr lang="en-US" sz="1600" dirty="0"/>
              <a:t>other inanimates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0E249A-471E-BC01-4D74-031705A0344A}"/>
              </a:ext>
            </a:extLst>
          </p:cNvPr>
          <p:cNvSpPr txBox="1"/>
          <p:nvPr/>
        </p:nvSpPr>
        <p:spPr>
          <a:xfrm>
            <a:off x="5642430" y="4039474"/>
            <a:ext cx="1259035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highlight>
                  <a:srgbClr val="FFFF00"/>
                </a:highlight>
              </a:defRPr>
            </a:lvl1pPr>
          </a:lstStyle>
          <a:p>
            <a:r>
              <a:rPr lang="en-US" sz="1600" dirty="0"/>
              <a:t>inanimates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C8AAF9-2CE1-DE08-39D1-5C0D6161FC08}"/>
              </a:ext>
            </a:extLst>
          </p:cNvPr>
          <p:cNvSpPr txBox="1"/>
          <p:nvPr/>
        </p:nvSpPr>
        <p:spPr>
          <a:xfrm>
            <a:off x="4731766" y="4385761"/>
            <a:ext cx="1780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highlight>
                  <a:srgbClr val="FFFF00"/>
                </a:highlight>
              </a:defRPr>
            </a:lvl1pPr>
          </a:lstStyle>
          <a:p>
            <a:r>
              <a:rPr lang="en-US" sz="1600" dirty="0">
                <a:highlight>
                  <a:srgbClr val="00FFFF"/>
                </a:highlight>
              </a:rPr>
              <a:t>diminutives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5C3FC0-B678-3D1F-D216-CADF794FC02F}"/>
              </a:ext>
            </a:extLst>
          </p:cNvPr>
          <p:cNvSpPr txBox="1"/>
          <p:nvPr/>
        </p:nvSpPr>
        <p:spPr>
          <a:xfrm>
            <a:off x="6011019" y="6057038"/>
            <a:ext cx="1780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highlight>
                  <a:srgbClr val="FFFF00"/>
                </a:highlight>
              </a:defRPr>
            </a:lvl1pPr>
          </a:lstStyle>
          <a:p>
            <a:r>
              <a:rPr lang="en-US" sz="1600" dirty="0">
                <a:highlight>
                  <a:srgbClr val="00FFFF"/>
                </a:highlight>
              </a:rPr>
              <a:t>diminutives)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3492C3-1062-F753-8019-747D5C3811FB}"/>
              </a:ext>
            </a:extLst>
          </p:cNvPr>
          <p:cNvSpPr txBox="1"/>
          <p:nvPr/>
        </p:nvSpPr>
        <p:spPr>
          <a:xfrm>
            <a:off x="4751984" y="5710751"/>
            <a:ext cx="1780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highlight>
                  <a:srgbClr val="FFFF00"/>
                </a:highlight>
              </a:defRPr>
            </a:lvl1pPr>
          </a:lstStyle>
          <a:p>
            <a:r>
              <a:rPr lang="en-US" sz="1600" dirty="0">
                <a:highlight>
                  <a:srgbClr val="00FFFF"/>
                </a:highlight>
              </a:rPr>
              <a:t>diminutives</a:t>
            </a:r>
          </a:p>
        </p:txBody>
      </p:sp>
    </p:spTree>
    <p:extLst>
      <p:ext uri="{BB962C8B-B14F-4D97-AF65-F5344CB8AC3E}">
        <p14:creationId xmlns:p14="http://schemas.microsoft.com/office/powerpoint/2010/main" val="286573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/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48C19-F470-1C47-853B-56C80283A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000"/>
          </a:p>
          <a:p>
            <a:pPr marL="514350" indent="-514350">
              <a:buAutoNum type="romanLcParenR"/>
            </a:pPr>
            <a:endParaRPr lang="en-US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220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800" b="1" kern="1200" dirty="0">
                <a:latin typeface="+mn-lt"/>
              </a:rPr>
              <a:t>Semantic features coded for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ADAD31C-F780-83DE-308B-4BECFDE22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824992"/>
              </p:ext>
            </p:extLst>
          </p:nvPr>
        </p:nvGraphicFramePr>
        <p:xfrm>
          <a:off x="1391291" y="1096149"/>
          <a:ext cx="9240546" cy="536157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007109">
                  <a:extLst>
                    <a:ext uri="{9D8B030D-6E8A-4147-A177-3AD203B41FA5}">
                      <a16:colId xmlns:a16="http://schemas.microsoft.com/office/drawing/2014/main" val="570350758"/>
                    </a:ext>
                  </a:extLst>
                </a:gridCol>
                <a:gridCol w="6233437">
                  <a:extLst>
                    <a:ext uri="{9D8B030D-6E8A-4147-A177-3AD203B41FA5}">
                      <a16:colId xmlns:a16="http://schemas.microsoft.com/office/drawing/2014/main" val="1566014375"/>
                    </a:ext>
                  </a:extLst>
                </a:gridCol>
              </a:tblGrid>
              <a:tr h="469341"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none" spc="60" dirty="0">
                          <a:solidFill>
                            <a:schemeClr val="tx1"/>
                          </a:solidFill>
                        </a:rPr>
                        <a:t>Expected Class</a:t>
                      </a:r>
                    </a:p>
                  </a:txBody>
                  <a:tcPr marL="89163" marR="89163" marT="89163" marB="89163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cap="none" spc="60" dirty="0">
                          <a:solidFill>
                            <a:schemeClr val="tx1"/>
                          </a:solidFill>
                        </a:rPr>
                        <a:t>Semantic Feature(s)</a:t>
                      </a:r>
                    </a:p>
                  </a:txBody>
                  <a:tcPr marL="89163" marR="89163" marT="89163" marB="89163" anchor="b"/>
                </a:tc>
                <a:extLst>
                  <a:ext uri="{0D108BD9-81ED-4DB2-BD59-A6C34878D82A}">
                    <a16:rowId xmlns:a16="http://schemas.microsoft.com/office/drawing/2014/main" val="2226518550"/>
                  </a:ext>
                </a:extLst>
              </a:tr>
              <a:tr h="426032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 human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2509463051"/>
                  </a:ext>
                </a:extLst>
              </a:tr>
              <a:tr h="904317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Extended shape, spread shape, protruding shape, trees &amp; plants, dispersive mass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1410574139"/>
                  </a:ext>
                </a:extLst>
              </a:tr>
              <a:tr h="904317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Fruits, round shape, plant part, augmentative, made of wood, cohesive mass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4012359983"/>
                  </a:ext>
                </a:extLst>
              </a:tr>
              <a:tr h="426032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Artefacts, pejorative, derived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4265551506"/>
                  </a:ext>
                </a:extLst>
              </a:tr>
              <a:tr h="426032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Animals, artefacts, loan (other)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859560216"/>
                  </a:ext>
                </a:extLst>
              </a:tr>
              <a:tr h="426032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Narrow things, wavy-shaped things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2774414135"/>
                  </a:ext>
                </a:extLst>
              </a:tr>
              <a:tr h="426032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Diminutives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1220665434"/>
                  </a:ext>
                </a:extLst>
              </a:tr>
              <a:tr h="426032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Abstract, mass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3152984915"/>
                  </a:ext>
                </a:extLst>
              </a:tr>
              <a:tr h="426032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Derived, infinitives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64579919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8927A2-545F-F345-9BD8-7392A60AE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25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69171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819"/>
    </mc:Choice>
    <mc:Fallback xmlns="">
      <p:transition spd="slow" advTm="14819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18356</TotalTime>
  <Words>1721</Words>
  <Application>Microsoft Macintosh PowerPoint</Application>
  <PresentationFormat>Widescreen</PresentationFormat>
  <Paragraphs>273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Helvetica</vt:lpstr>
      <vt:lpstr>Times New Roman</vt:lpstr>
      <vt:lpstr>Office Theme</vt:lpstr>
      <vt:lpstr>Differential preference in the choice of nominal classification rules in Kîîtharaka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Sample trial: Human block</vt:lpstr>
      <vt:lpstr>PowerPoint Presentation</vt:lpstr>
      <vt:lpstr>PowerPoint Presentation</vt:lpstr>
      <vt:lpstr>Results: Aligned trials</vt:lpstr>
      <vt:lpstr>PowerPoint Presentation</vt:lpstr>
      <vt:lpstr>Discussion</vt:lpstr>
      <vt:lpstr>Future work</vt:lpstr>
      <vt:lpstr>PowerPoint Presentation</vt:lpstr>
      <vt:lpstr>PowerPoint Presentation</vt:lpstr>
      <vt:lpstr>Results</vt:lpstr>
      <vt:lpstr> Results </vt:lpstr>
      <vt:lpstr>Traditional approaches to Bantu noun classes</vt:lpstr>
      <vt:lpstr>Semantic features coded for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Kanampiu</dc:creator>
  <cp:lastModifiedBy>Patrick Kanampiu</cp:lastModifiedBy>
  <cp:revision>40</cp:revision>
  <dcterms:created xsi:type="dcterms:W3CDTF">2024-05-21T06:57:36Z</dcterms:created>
  <dcterms:modified xsi:type="dcterms:W3CDTF">2024-11-10T01:35:57Z</dcterms:modified>
</cp:coreProperties>
</file>