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1"/>
  </p:notesMasterIdLst>
  <p:sldIdLst>
    <p:sldId id="256" r:id="rId2"/>
    <p:sldId id="425" r:id="rId3"/>
    <p:sldId id="314" r:id="rId4"/>
    <p:sldId id="420" r:id="rId5"/>
    <p:sldId id="374" r:id="rId6"/>
    <p:sldId id="364" r:id="rId7"/>
    <p:sldId id="281" r:id="rId8"/>
    <p:sldId id="376" r:id="rId9"/>
    <p:sldId id="282" r:id="rId10"/>
    <p:sldId id="334" r:id="rId11"/>
    <p:sldId id="377" r:id="rId12"/>
    <p:sldId id="301" r:id="rId13"/>
    <p:sldId id="384" r:id="rId14"/>
    <p:sldId id="383" r:id="rId15"/>
    <p:sldId id="308" r:id="rId16"/>
    <p:sldId id="379" r:id="rId17"/>
    <p:sldId id="397" r:id="rId18"/>
    <p:sldId id="335" r:id="rId19"/>
    <p:sldId id="359" r:id="rId20"/>
    <p:sldId id="358" r:id="rId21"/>
    <p:sldId id="357" r:id="rId22"/>
    <p:sldId id="399" r:id="rId23"/>
    <p:sldId id="344" r:id="rId24"/>
    <p:sldId id="423" r:id="rId25"/>
    <p:sldId id="421" r:id="rId26"/>
    <p:sldId id="393" r:id="rId27"/>
    <p:sldId id="409" r:id="rId28"/>
    <p:sldId id="426" r:id="rId29"/>
    <p:sldId id="418" r:id="rId30"/>
    <p:sldId id="392" r:id="rId31"/>
    <p:sldId id="323" r:id="rId32"/>
    <p:sldId id="413" r:id="rId33"/>
    <p:sldId id="330" r:id="rId34"/>
    <p:sldId id="280" r:id="rId35"/>
    <p:sldId id="415" r:id="rId36"/>
    <p:sldId id="403" r:id="rId37"/>
    <p:sldId id="411" r:id="rId38"/>
    <p:sldId id="321" r:id="rId39"/>
    <p:sldId id="40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ULBERTSON Jennifer" initials="CJ" lastIdx="4" clrIdx="0">
    <p:extLst>
      <p:ext uri="{19B8F6BF-5375-455C-9EA6-DF929625EA0E}">
        <p15:presenceInfo xmlns:p15="http://schemas.microsoft.com/office/powerpoint/2012/main" userId="S::jculbert@ed.ac.uk::3aba8976-f106-47fa-b8c7-69263411ef7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0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925A3-4D0E-5640-AA61-5E8AE109291C}" type="datetimeFigureOut">
              <a:rPr lang="en-US" smtClean="0"/>
              <a:t>8/14/23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E295F-315B-1C45-959E-A55E7E19F8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702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06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98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61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4514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729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98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49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54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31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98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E295F-315B-1C45-959E-A55E7E19F82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68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4" y="1074511"/>
            <a:ext cx="11604171" cy="4977946"/>
          </a:xfrm>
        </p:spPr>
        <p:txBody>
          <a:bodyPr/>
          <a:lstStyle>
            <a:lvl1pPr>
              <a:defRPr sz="3200">
                <a:latin typeface="Helvetica" pitchFamily="2" charset="0"/>
              </a:defRPr>
            </a:lvl1pPr>
            <a:lvl2pPr>
              <a:defRPr sz="3200">
                <a:latin typeface="Helvetica" pitchFamily="2" charset="0"/>
              </a:defRPr>
            </a:lvl2pPr>
            <a:lvl3pPr>
              <a:defRPr sz="3200">
                <a:latin typeface="Helvetica" pitchFamily="2" charset="0"/>
              </a:defRPr>
            </a:lvl3pPr>
            <a:lvl4pPr>
              <a:defRPr sz="3200">
                <a:latin typeface="Helvetica" pitchFamily="2" charset="0"/>
              </a:defRPr>
            </a:lvl4pPr>
            <a:lvl5pPr>
              <a:defRPr sz="3200"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17714" y="6356350"/>
            <a:ext cx="2743200" cy="365125"/>
          </a:xfr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rPr lang="en-GB"/>
              <a:t>Bantu 9, 2022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2DB2115-D3B1-AC31-7779-C65719862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sz="4000" dirty="0">
                <a:latin typeface="Helvetica" pitchFamily="2" charset="0"/>
              </a:rPr>
              <a:t>Experiment 1: Semantic Cues</a:t>
            </a:r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Bantu 9, 2022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hdl.handle.net/10019.1/107220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1488" y="510722"/>
            <a:ext cx="9144000" cy="2387600"/>
          </a:xfrm>
          <a:noFill/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80808"/>
                </a:solidFill>
                <a:latin typeface="Helvetica" pitchFamily="2" charset="0"/>
                <a:cs typeface="Calibri Light"/>
              </a:rPr>
              <a:t>Semantic and morphophonological productivity of Kîîtharaka noun classes: corpus and experimental evidence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035" y="2509702"/>
            <a:ext cx="10559142" cy="2928256"/>
          </a:xfrm>
          <a:noFill/>
        </p:spPr>
        <p:txBody>
          <a:bodyPr vert="horz" lIns="91440" tIns="45720" rIns="91440" bIns="45720" rtlCol="0">
            <a:normAutofit lnSpcReduction="10000"/>
          </a:bodyPr>
          <a:lstStyle/>
          <a:p>
            <a:endParaRPr lang="en-US" sz="1400" dirty="0">
              <a:solidFill>
                <a:srgbClr val="080808"/>
              </a:solidFill>
              <a:cs typeface="Calibri"/>
            </a:endParaRPr>
          </a:p>
          <a:p>
            <a:endParaRPr lang="en-US" sz="3000" b="1" dirty="0">
              <a:cs typeface="Calibri"/>
            </a:endParaRPr>
          </a:p>
          <a:p>
            <a:r>
              <a:rPr lang="en-US" sz="3000" dirty="0">
                <a:cs typeface="Calibri"/>
              </a:rPr>
              <a:t>Patrick Kanampiu</a:t>
            </a:r>
            <a:r>
              <a:rPr lang="en-US" sz="3000" baseline="30000" dirty="0">
                <a:cs typeface="Calibri"/>
              </a:rPr>
              <a:t>1</a:t>
            </a:r>
            <a:r>
              <a:rPr lang="en-US" sz="3000" dirty="0">
                <a:cs typeface="Calibri"/>
              </a:rPr>
              <a:t>,</a:t>
            </a:r>
            <a:r>
              <a:rPr lang="en-US" sz="3000" dirty="0">
                <a:solidFill>
                  <a:srgbClr val="080808"/>
                </a:solidFill>
                <a:cs typeface="Calibri"/>
              </a:rPr>
              <a:t> Alexander Martin</a:t>
            </a:r>
            <a:r>
              <a:rPr lang="en-US" sz="3000" baseline="30000" dirty="0">
                <a:solidFill>
                  <a:srgbClr val="080808"/>
                </a:solidFill>
                <a:cs typeface="Calibri"/>
              </a:rPr>
              <a:t>2</a:t>
            </a:r>
            <a:r>
              <a:rPr lang="en-US" sz="3000" dirty="0">
                <a:solidFill>
                  <a:srgbClr val="080808"/>
                </a:solidFill>
                <a:cs typeface="Calibri"/>
              </a:rPr>
              <a:t>, Jennifer Culbertson</a:t>
            </a:r>
            <a:r>
              <a:rPr lang="en-US" sz="3000" baseline="30000" dirty="0">
                <a:solidFill>
                  <a:srgbClr val="080808"/>
                </a:solidFill>
                <a:cs typeface="Calibri"/>
              </a:rPr>
              <a:t>1</a:t>
            </a:r>
          </a:p>
          <a:p>
            <a:endParaRPr lang="en-US" sz="3000" dirty="0">
              <a:cs typeface="Calibri"/>
            </a:endParaRPr>
          </a:p>
          <a:p>
            <a:r>
              <a:rPr lang="en-US" sz="3000" dirty="0">
                <a:cs typeface="Calibri"/>
              </a:rPr>
              <a:t>LAEA 3 Conference</a:t>
            </a:r>
          </a:p>
          <a:p>
            <a:r>
              <a:rPr lang="en-US" sz="3000" dirty="0">
                <a:cs typeface="Calibri"/>
              </a:rPr>
              <a:t>(August 15-16, 2023)</a:t>
            </a:r>
          </a:p>
          <a:p>
            <a:endParaRPr lang="en-US" sz="3000" dirty="0">
              <a:cs typeface="Calibri"/>
            </a:endParaRPr>
          </a:p>
          <a:p>
            <a:endParaRPr lang="en-US" sz="3000" dirty="0">
              <a:cs typeface="Calibri"/>
            </a:endParaRPr>
          </a:p>
        </p:txBody>
      </p:sp>
      <p:pic>
        <p:nvPicPr>
          <p:cNvPr id="4" name="Picture 2" descr="University of Edinburgh - Wikipedia">
            <a:extLst>
              <a:ext uri="{FF2B5EF4-FFF2-40B4-BE49-F238E27FC236}">
                <a16:creationId xmlns:a16="http://schemas.microsoft.com/office/drawing/2014/main" id="{722BA44E-D45A-32B6-4E33-12C1B0595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599" y="3959679"/>
            <a:ext cx="1469000" cy="14755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B644E1-D221-D0F1-976A-364E561C7992}"/>
              </a:ext>
            </a:extLst>
          </p:cNvPr>
          <p:cNvSpPr txBox="1"/>
          <p:nvPr/>
        </p:nvSpPr>
        <p:spPr>
          <a:xfrm>
            <a:off x="1087395" y="5931868"/>
            <a:ext cx="10132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aseline="30000" dirty="0">
                <a:cs typeface="Calibri"/>
              </a:rPr>
              <a:t>1</a:t>
            </a:r>
            <a:r>
              <a:rPr lang="en-US" sz="1600" dirty="0">
                <a:cs typeface="Calibri"/>
              </a:rPr>
              <a:t>University of Edinburgh, UK  </a:t>
            </a:r>
          </a:p>
          <a:p>
            <a:r>
              <a:rPr lang="en-US" sz="1600" baseline="30000" dirty="0">
                <a:cs typeface="Calibri"/>
              </a:rPr>
              <a:t>2</a:t>
            </a:r>
            <a:r>
              <a:rPr lang="en-US" sz="1600" dirty="0">
                <a:cs typeface="Calibri"/>
              </a:rPr>
              <a:t>University of Groningen, Netherlands</a:t>
            </a:r>
            <a:endParaRPr lang="en-US" sz="16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8A964B9-E6E3-16B0-ED74-E3434C6A7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78305" y="4201297"/>
            <a:ext cx="1029373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579"/>
    </mc:Choice>
    <mc:Fallback xmlns="">
      <p:transition spd="slow" advTm="425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60" y="1074511"/>
            <a:ext cx="11960840" cy="1615422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dirty="0"/>
              <a:t>Nouns grouped based on agreement </a:t>
            </a:r>
            <a:r>
              <a:rPr lang="en-GB" sz="2200" dirty="0"/>
              <a:t>(Hockett 1958, Corbett 1991, </a:t>
            </a:r>
            <a:r>
              <a:rPr lang="en-GB" sz="2200" dirty="0" err="1"/>
              <a:t>Katamba</a:t>
            </a:r>
            <a:r>
              <a:rPr lang="en-GB" sz="2200" dirty="0"/>
              <a:t> 2006)</a:t>
            </a:r>
            <a:r>
              <a:rPr lang="en-GB" sz="2800" dirty="0"/>
              <a:t> 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2800" dirty="0"/>
              <a:t>Used interchangeably with gender </a:t>
            </a:r>
            <a:r>
              <a:rPr lang="en-GB" sz="2200" dirty="0"/>
              <a:t>(Corbett, 1991:1; </a:t>
            </a:r>
            <a:r>
              <a:rPr lang="en-GB" sz="2200" dirty="0" err="1"/>
              <a:t>Aikhenvald</a:t>
            </a:r>
            <a:r>
              <a:rPr lang="en-GB" sz="2200" dirty="0"/>
              <a:t>, 2006)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Noun class systems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D2B139E0-A499-261C-4EAB-A0B034C289DC}"/>
              </a:ext>
            </a:extLst>
          </p:cNvPr>
          <p:cNvSpPr txBox="1">
            <a:spLocks/>
          </p:cNvSpPr>
          <p:nvPr/>
        </p:nvSpPr>
        <p:spPr>
          <a:xfrm>
            <a:off x="1273628" y="2786740"/>
            <a:ext cx="4060372" cy="3733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4000" dirty="0"/>
          </a:p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4000" dirty="0"/>
              <a:t>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sz="2900" dirty="0"/>
              <a:t>   </a:t>
            </a:r>
            <a:endParaRPr lang="en-GB" dirty="0"/>
          </a:p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2EF3E0B-E7F8-992B-BEDC-F85E99045E4D}"/>
              </a:ext>
            </a:extLst>
          </p:cNvPr>
          <p:cNvSpPr txBox="1">
            <a:spLocks/>
          </p:cNvSpPr>
          <p:nvPr/>
        </p:nvSpPr>
        <p:spPr>
          <a:xfrm>
            <a:off x="3581401" y="4168067"/>
            <a:ext cx="5769429" cy="288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2200" dirty="0"/>
              <a:t>		        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7EED7F71-7EFB-E2CA-94B4-CD37820DD07B}"/>
              </a:ext>
            </a:extLst>
          </p:cNvPr>
          <p:cNvGraphicFramePr>
            <a:graphicFrameLocks noGrp="1"/>
          </p:cNvGraphicFramePr>
          <p:nvPr/>
        </p:nvGraphicFramePr>
        <p:xfrm>
          <a:off x="496613" y="2708915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(2)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bii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BAC7D68A-9A80-411E-059B-9ADE3A328808}"/>
              </a:ext>
            </a:extLst>
          </p:cNvPr>
          <p:cNvGraphicFramePr>
            <a:graphicFrameLocks noGrp="1"/>
          </p:cNvGraphicFramePr>
          <p:nvPr/>
        </p:nvGraphicFramePr>
        <p:xfrm>
          <a:off x="6099761" y="2708916"/>
          <a:ext cx="5024729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(4)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(5)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C42CD770-C9AD-2626-C659-F82C0DA5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6858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BDE29573-1C2D-DB73-15BE-86C09E3F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095759"/>
              </p:ext>
            </p:extLst>
          </p:nvPr>
        </p:nvGraphicFramePr>
        <p:xfrm>
          <a:off x="6115987" y="2581885"/>
          <a:ext cx="500850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6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26460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1887166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(9)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(10)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D84FFDFB-2DE9-DEB8-8118-DC95F988A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189626"/>
              </p:ext>
            </p:extLst>
          </p:nvPr>
        </p:nvGraphicFramePr>
        <p:xfrm>
          <a:off x="497073" y="2458318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866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954114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978393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(6)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(7)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(8)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bii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8.dem.dist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28" y="836646"/>
            <a:ext cx="11675056" cy="5519704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b="1" dirty="0"/>
              <a:t>Semantics </a:t>
            </a:r>
            <a:r>
              <a:rPr lang="en-GB" sz="2000" dirty="0"/>
              <a:t>(Corbett 1991, </a:t>
            </a:r>
            <a:r>
              <a:rPr lang="en-GB" sz="2000" dirty="0" err="1"/>
              <a:t>Contini</a:t>
            </a:r>
            <a:r>
              <a:rPr lang="en-GB" sz="2000" dirty="0"/>
              <a:t> Morava 1997, </a:t>
            </a:r>
            <a:r>
              <a:rPr lang="en-GB" sz="2000" dirty="0" err="1"/>
              <a:t>Aikhenvald</a:t>
            </a:r>
            <a:r>
              <a:rPr lang="en-GB" sz="2000" dirty="0"/>
              <a:t>  2019 etc)</a:t>
            </a:r>
            <a:endParaRPr lang="en-GB" sz="2000" b="1" dirty="0"/>
          </a:p>
          <a:p>
            <a:pPr>
              <a:lnSpc>
                <a:spcPct val="100000"/>
              </a:lnSpc>
            </a:pPr>
            <a:r>
              <a:rPr lang="en-GB" sz="2800" b="1" dirty="0"/>
              <a:t>Form of the noun </a:t>
            </a:r>
            <a:r>
              <a:rPr lang="en-GB" sz="2800" dirty="0"/>
              <a:t>(morphology and/or phonology) (</a:t>
            </a:r>
            <a:r>
              <a:rPr lang="en-GB" sz="2000" dirty="0"/>
              <a:t>e.g., </a:t>
            </a:r>
            <a:r>
              <a:rPr lang="en-GB" sz="2000" dirty="0" err="1"/>
              <a:t>Bleek</a:t>
            </a:r>
            <a:r>
              <a:rPr lang="en-GB" sz="2000" dirty="0"/>
              <a:t> 1869, </a:t>
            </a:r>
            <a:r>
              <a:rPr lang="en-GB" sz="2000" dirty="0" err="1"/>
              <a:t>Helden</a:t>
            </a:r>
            <a:r>
              <a:rPr lang="en-GB" sz="2000" dirty="0"/>
              <a:t> 1993, </a:t>
            </a:r>
            <a:r>
              <a:rPr lang="en-GB" sz="2000" dirty="0" err="1"/>
              <a:t>Biswanandan</a:t>
            </a:r>
            <a:r>
              <a:rPr lang="en-GB" sz="2000" dirty="0"/>
              <a:t> 2014, Corbett 1991, 2022, etc)</a:t>
            </a:r>
            <a:endParaRPr lang="en-GB" sz="2000" dirty="0">
              <a:solidFill>
                <a:schemeClr val="bg2"/>
              </a:solidFill>
            </a:endParaRPr>
          </a:p>
          <a:p>
            <a:pPr>
              <a:lnSpc>
                <a:spcPct val="100000"/>
              </a:lnSpc>
            </a:pPr>
            <a:endParaRPr lang="en-GB" sz="2800" dirty="0"/>
          </a:p>
          <a:p>
            <a:pPr marL="0" indent="0">
              <a:lnSpc>
                <a:spcPct val="100000"/>
              </a:lnSpc>
              <a:buNone/>
            </a:pPr>
            <a:r>
              <a:rPr lang="en-GB" sz="2800" b="1" dirty="0"/>
              <a:t> </a:t>
            </a: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79"/>
            <a:ext cx="12192000" cy="867017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language?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7EDA8F-070F-14F4-FD7A-48D9F71D4783}"/>
              </a:ext>
            </a:extLst>
          </p:cNvPr>
          <p:cNvCxnSpPr>
            <a:cxnSpLocks/>
          </p:cNvCxnSpPr>
          <p:nvPr/>
        </p:nvCxnSpPr>
        <p:spPr>
          <a:xfrm flipH="1">
            <a:off x="3973134" y="3399800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A92D7D-DA46-56AE-E1FA-0ACBC3F66AD0}"/>
              </a:ext>
            </a:extLst>
          </p:cNvPr>
          <p:cNvCxnSpPr>
            <a:cxnSpLocks/>
          </p:cNvCxnSpPr>
          <p:nvPr/>
        </p:nvCxnSpPr>
        <p:spPr>
          <a:xfrm flipH="1">
            <a:off x="10267677" y="3399800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575592-5DA2-48E6-8EF4-F91EE05EACF8}"/>
              </a:ext>
            </a:extLst>
          </p:cNvPr>
          <p:cNvSpPr txBox="1"/>
          <p:nvPr/>
        </p:nvSpPr>
        <p:spPr>
          <a:xfrm>
            <a:off x="10993020" y="3143944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(male)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5873AD-0117-1160-9CA1-66CBDE46AFF0}"/>
              </a:ext>
            </a:extLst>
          </p:cNvPr>
          <p:cNvCxnSpPr>
            <a:cxnSpLocks/>
          </p:cNvCxnSpPr>
          <p:nvPr/>
        </p:nvCxnSpPr>
        <p:spPr>
          <a:xfrm flipH="1">
            <a:off x="3973134" y="4552032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965466" y="4224365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(-</a:t>
            </a:r>
            <a:r>
              <a:rPr lang="en-US" i="1" dirty="0" err="1">
                <a:latin typeface="Helvetica" pitchFamily="2" charset="0"/>
              </a:rPr>
              <a:t>ette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05B8CF-0AD2-18B4-0330-148C0D43C413}"/>
              </a:ext>
            </a:extLst>
          </p:cNvPr>
          <p:cNvCxnSpPr>
            <a:cxnSpLocks/>
          </p:cNvCxnSpPr>
          <p:nvPr/>
        </p:nvCxnSpPr>
        <p:spPr>
          <a:xfrm flipH="1">
            <a:off x="10267677" y="4552032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889A22C2-ED85-0435-149A-9C601F88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3</a:t>
            </a:fld>
            <a:endParaRPr lang="en-US" sz="2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833592-EC23-4A07-6CFD-FA3401629788}"/>
              </a:ext>
            </a:extLst>
          </p:cNvPr>
          <p:cNvCxnSpPr/>
          <p:nvPr/>
        </p:nvCxnSpPr>
        <p:spPr>
          <a:xfrm flipH="1">
            <a:off x="10308733" y="3294491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710E23-E07D-E2AC-40EC-C5B04E978A8A}"/>
              </a:ext>
            </a:extLst>
          </p:cNvPr>
          <p:cNvCxnSpPr/>
          <p:nvPr/>
        </p:nvCxnSpPr>
        <p:spPr>
          <a:xfrm flipH="1">
            <a:off x="10267677" y="4356628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8945E1-93DE-F872-8FB6-01E6D987A6E0}"/>
              </a:ext>
            </a:extLst>
          </p:cNvPr>
          <p:cNvCxnSpPr/>
          <p:nvPr/>
        </p:nvCxnSpPr>
        <p:spPr>
          <a:xfrm flipH="1">
            <a:off x="4066588" y="4294601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4DA4A9-2BB3-5DC3-03A2-82E73DA4DDE1}"/>
              </a:ext>
            </a:extLst>
          </p:cNvPr>
          <p:cNvSpPr txBox="1"/>
          <p:nvPr/>
        </p:nvSpPr>
        <p:spPr>
          <a:xfrm>
            <a:off x="4854651" y="4219349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</a:t>
            </a:r>
            <a:r>
              <a:rPr lang="en-US" dirty="0" err="1">
                <a:latin typeface="Helvetica" pitchFamily="2" charset="0"/>
              </a:rPr>
              <a:t>kî</a:t>
            </a:r>
            <a:r>
              <a:rPr lang="en-US" dirty="0">
                <a:latin typeface="Helvetica" pitchFamily="2" charset="0"/>
              </a:rPr>
              <a:t>-)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95FEA-74EA-237D-4AAD-63D4838DC825}"/>
              </a:ext>
            </a:extLst>
          </p:cNvPr>
          <p:cNvSpPr txBox="1"/>
          <p:nvPr/>
        </p:nvSpPr>
        <p:spPr>
          <a:xfrm>
            <a:off x="4885815" y="2995652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(human)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79742B-62EE-2C60-1B88-00901B741BF6}"/>
              </a:ext>
            </a:extLst>
          </p:cNvPr>
          <p:cNvCxnSpPr/>
          <p:nvPr/>
        </p:nvCxnSpPr>
        <p:spPr>
          <a:xfrm flipH="1">
            <a:off x="4160044" y="3125549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248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39"/>
    </mc:Choice>
    <mc:Fallback xmlns="">
      <p:transition spd="slow" advTm="194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able 4">
            <a:extLst>
              <a:ext uri="{FF2B5EF4-FFF2-40B4-BE49-F238E27FC236}">
                <a16:creationId xmlns:a16="http://schemas.microsoft.com/office/drawing/2014/main" id="{BDE29573-1C2D-DB73-15BE-86C09E3F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431056"/>
              </p:ext>
            </p:extLst>
          </p:nvPr>
        </p:nvGraphicFramePr>
        <p:xfrm>
          <a:off x="6115987" y="2001115"/>
          <a:ext cx="500850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16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12840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1194671">
                  <a:extLst>
                    <a:ext uri="{9D8B030D-6E8A-4147-A177-3AD203B41FA5}">
                      <a16:colId xmlns:a16="http://schemas.microsoft.com/office/drawing/2014/main" val="3536781220"/>
                    </a:ext>
                  </a:extLst>
                </a:gridCol>
                <a:gridCol w="818955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(13)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vieil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homme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old.M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man.M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(14)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personne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person.F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bg2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D84FFDFB-2DE9-DEB8-8118-DC95F988A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535107"/>
              </p:ext>
            </p:extLst>
          </p:nvPr>
        </p:nvGraphicFramePr>
        <p:xfrm>
          <a:off x="497073" y="2001116"/>
          <a:ext cx="5597373" cy="36483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457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2051221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2708695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(11)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mû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thaka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ûû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64120"/>
                  </a:ext>
                </a:extLst>
              </a:tr>
              <a:tr h="676307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</a:t>
                      </a: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young man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75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(12)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roria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7.prophet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(3) </a:t>
                      </a:r>
                      <a:endParaRPr lang="en-US" sz="2400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i</a:t>
                      </a:r>
                      <a:r>
                        <a:rPr lang="en-GB" sz="2400" dirty="0" err="1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bii</a:t>
                      </a:r>
                      <a:r>
                        <a:rPr lang="en-GB" sz="2400" dirty="0" err="1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8.machete </a:t>
                      </a:r>
                      <a:endParaRPr lang="en-US" sz="2400" dirty="0">
                        <a:solidFill>
                          <a:schemeClr val="bg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bg1"/>
                          </a:solidFill>
                          <a:latin typeface="Helvetica" pitchFamily="2" charset="0"/>
                        </a:rPr>
                        <a:t>8.dem.dist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28" y="1208542"/>
            <a:ext cx="11420999" cy="4606049"/>
          </a:xfrm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GB" sz="2800" dirty="0"/>
              <a:t>But there are typically, many exceptions!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800" b="1" dirty="0"/>
              <a:t> </a:t>
            </a: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279"/>
            <a:ext cx="12192000" cy="867017"/>
          </a:xfrm>
        </p:spPr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language?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E7EDA8F-070F-14F4-FD7A-48D9F71D4783}"/>
              </a:ext>
            </a:extLst>
          </p:cNvPr>
          <p:cNvCxnSpPr>
            <a:cxnSpLocks/>
          </p:cNvCxnSpPr>
          <p:nvPr/>
        </p:nvCxnSpPr>
        <p:spPr>
          <a:xfrm flipH="1">
            <a:off x="3973134" y="3399800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A92D7D-DA46-56AE-E1FA-0ACBC3F66AD0}"/>
              </a:ext>
            </a:extLst>
          </p:cNvPr>
          <p:cNvCxnSpPr>
            <a:cxnSpLocks/>
          </p:cNvCxnSpPr>
          <p:nvPr/>
        </p:nvCxnSpPr>
        <p:spPr>
          <a:xfrm flipH="1">
            <a:off x="10267677" y="3399800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9575592-5DA2-48E6-8EF4-F91EE05EACF8}"/>
              </a:ext>
            </a:extLst>
          </p:cNvPr>
          <p:cNvSpPr txBox="1"/>
          <p:nvPr/>
        </p:nvSpPr>
        <p:spPr>
          <a:xfrm>
            <a:off x="10993020" y="2501390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(male)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D5873AD-0117-1160-9CA1-66CBDE46AFF0}"/>
              </a:ext>
            </a:extLst>
          </p:cNvPr>
          <p:cNvCxnSpPr>
            <a:cxnSpLocks/>
          </p:cNvCxnSpPr>
          <p:nvPr/>
        </p:nvCxnSpPr>
        <p:spPr>
          <a:xfrm flipH="1">
            <a:off x="3973134" y="4552032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965466" y="353238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905B8CF-0AD2-18B4-0330-148C0D43C413}"/>
              </a:ext>
            </a:extLst>
          </p:cNvPr>
          <p:cNvCxnSpPr>
            <a:cxnSpLocks/>
          </p:cNvCxnSpPr>
          <p:nvPr/>
        </p:nvCxnSpPr>
        <p:spPr>
          <a:xfrm flipH="1">
            <a:off x="10267677" y="4552032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1">
            <a:extLst>
              <a:ext uri="{FF2B5EF4-FFF2-40B4-BE49-F238E27FC236}">
                <a16:creationId xmlns:a16="http://schemas.microsoft.com/office/drawing/2014/main" id="{889A22C2-ED85-0435-149A-9C601F88E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z="2800" smtClean="0"/>
              <a:t>4</a:t>
            </a:fld>
            <a:endParaRPr lang="en-US" sz="28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3833592-EC23-4A07-6CFD-FA3401629788}"/>
              </a:ext>
            </a:extLst>
          </p:cNvPr>
          <p:cNvCxnSpPr/>
          <p:nvPr/>
        </p:nvCxnSpPr>
        <p:spPr>
          <a:xfrm flipH="1">
            <a:off x="10308733" y="2701363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9710E23-E07D-E2AC-40EC-C5B04E978A8A}"/>
              </a:ext>
            </a:extLst>
          </p:cNvPr>
          <p:cNvCxnSpPr/>
          <p:nvPr/>
        </p:nvCxnSpPr>
        <p:spPr>
          <a:xfrm flipH="1">
            <a:off x="10267677" y="3763500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8945E1-93DE-F872-8FB6-01E6D987A6E0}"/>
              </a:ext>
            </a:extLst>
          </p:cNvPr>
          <p:cNvCxnSpPr/>
          <p:nvPr/>
        </p:nvCxnSpPr>
        <p:spPr>
          <a:xfrm flipH="1">
            <a:off x="4206070" y="3849756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4DA4A9-2BB3-5DC3-03A2-82E73DA4DDE1}"/>
              </a:ext>
            </a:extLst>
          </p:cNvPr>
          <p:cNvSpPr txBox="1"/>
          <p:nvPr/>
        </p:nvSpPr>
        <p:spPr>
          <a:xfrm>
            <a:off x="4854651" y="36509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F95FEA-74EA-237D-4AAD-63D4838DC825}"/>
              </a:ext>
            </a:extLst>
          </p:cNvPr>
          <p:cNvSpPr txBox="1"/>
          <p:nvPr/>
        </p:nvSpPr>
        <p:spPr>
          <a:xfrm>
            <a:off x="4885815" y="2451953"/>
            <a:ext cx="126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semantics</a:t>
            </a:r>
          </a:p>
          <a:p>
            <a:r>
              <a:rPr lang="en-US" dirty="0">
                <a:latin typeface="Helvetica" pitchFamily="2" charset="0"/>
              </a:rPr>
              <a:t>(human)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879742B-62EE-2C60-1B88-00901B741BF6}"/>
              </a:ext>
            </a:extLst>
          </p:cNvPr>
          <p:cNvCxnSpPr/>
          <p:nvPr/>
        </p:nvCxnSpPr>
        <p:spPr>
          <a:xfrm flipH="1">
            <a:off x="4160044" y="2680704"/>
            <a:ext cx="65673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726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439"/>
    </mc:Choice>
    <mc:Fallback xmlns="">
      <p:transition spd="slow" advTm="1943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8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4">
            <a:extLst>
              <a:ext uri="{FF2B5EF4-FFF2-40B4-BE49-F238E27FC236}">
                <a16:creationId xmlns:a16="http://schemas.microsoft.com/office/drawing/2014/main" id="{F81EE789-B76A-5DCB-52F5-974BA865F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484455"/>
              </p:ext>
            </p:extLst>
          </p:nvPr>
        </p:nvGraphicFramePr>
        <p:xfrm>
          <a:off x="6329071" y="2007618"/>
          <a:ext cx="502472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3742">
                  <a:extLst>
                    <a:ext uri="{9D8B030D-6E8A-4147-A177-3AD203B41FA5}">
                      <a16:colId xmlns:a16="http://schemas.microsoft.com/office/drawing/2014/main" val="3993583200"/>
                    </a:ext>
                  </a:extLst>
                </a:gridCol>
                <a:gridCol w="1108953">
                  <a:extLst>
                    <a:ext uri="{9D8B030D-6E8A-4147-A177-3AD203B41FA5}">
                      <a16:colId xmlns:a16="http://schemas.microsoft.com/office/drawing/2014/main" val="1653666005"/>
                    </a:ext>
                  </a:extLst>
                </a:gridCol>
                <a:gridCol w="1254868">
                  <a:extLst>
                    <a:ext uri="{9D8B030D-6E8A-4147-A177-3AD203B41FA5}">
                      <a16:colId xmlns:a16="http://schemas.microsoft.com/office/drawing/2014/main" val="369953120"/>
                    </a:ext>
                  </a:extLst>
                </a:gridCol>
                <a:gridCol w="675161">
                  <a:extLst>
                    <a:ext uri="{9D8B030D-6E8A-4147-A177-3AD203B41FA5}">
                      <a16:colId xmlns:a16="http://schemas.microsoft.com/office/drawing/2014/main" val="2764583201"/>
                    </a:ext>
                  </a:extLst>
                </a:gridCol>
                <a:gridCol w="1212005">
                  <a:extLst>
                    <a:ext uri="{9D8B030D-6E8A-4147-A177-3AD203B41FA5}">
                      <a16:colId xmlns:a16="http://schemas.microsoft.com/office/drawing/2014/main" val="298721630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French</a:t>
                      </a: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i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(18)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la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camionn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Det.F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van.F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(19)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le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squel</a:t>
                      </a: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ette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569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Det.M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skeleton.M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 marL="83127" marR="8312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735109"/>
                  </a:ext>
                </a:extLst>
              </a:tr>
            </a:tbl>
          </a:graphicData>
        </a:graphic>
      </p:graphicFrame>
      <p:graphicFrame>
        <p:nvGraphicFramePr>
          <p:cNvPr id="35" name="Table 4">
            <a:extLst>
              <a:ext uri="{FF2B5EF4-FFF2-40B4-BE49-F238E27FC236}">
                <a16:creationId xmlns:a16="http://schemas.microsoft.com/office/drawing/2014/main" id="{F3F054EF-C7E9-619B-437A-90FAF3681B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03605"/>
              </p:ext>
            </p:extLst>
          </p:nvPr>
        </p:nvGraphicFramePr>
        <p:xfrm>
          <a:off x="496613" y="2005535"/>
          <a:ext cx="5799117" cy="3429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344">
                  <a:extLst>
                    <a:ext uri="{9D8B030D-6E8A-4147-A177-3AD203B41FA5}">
                      <a16:colId xmlns:a16="http://schemas.microsoft.com/office/drawing/2014/main" val="1428656268"/>
                    </a:ext>
                  </a:extLst>
                </a:gridCol>
                <a:gridCol w="1841157">
                  <a:extLst>
                    <a:ext uri="{9D8B030D-6E8A-4147-A177-3AD203B41FA5}">
                      <a16:colId xmlns:a16="http://schemas.microsoft.com/office/drawing/2014/main" val="3169174356"/>
                    </a:ext>
                  </a:extLst>
                </a:gridCol>
                <a:gridCol w="3070616">
                  <a:extLst>
                    <a:ext uri="{9D8B030D-6E8A-4147-A177-3AD203B41FA5}">
                      <a16:colId xmlns:a16="http://schemas.microsoft.com/office/drawing/2014/main" val="195439383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Kîîtharaka</a:t>
                      </a:r>
                      <a:endParaRPr lang="en-GB" sz="2400" b="1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818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(15)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banga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kî</a:t>
                      </a:r>
                      <a:r>
                        <a:rPr lang="en-GB" sz="240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968521"/>
                  </a:ext>
                </a:extLst>
              </a:tr>
              <a:tr h="686034">
                <a:tc>
                  <a:txBody>
                    <a:bodyPr/>
                    <a:lstStyle/>
                    <a:p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7.machete </a:t>
                      </a:r>
                      <a:endParaRPr lang="en-US" sz="240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7.dem.dist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712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(16) 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î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the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ra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108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5.father 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1.dist.dem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3769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(17)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n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koma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û</a:t>
                      </a:r>
                      <a:r>
                        <a:rPr lang="en-GB" sz="2400" b="0" dirty="0" err="1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yû</a:t>
                      </a:r>
                      <a:endParaRPr lang="en-GB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251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 b="0" dirty="0">
                        <a:solidFill>
                          <a:schemeClr val="tx1"/>
                        </a:solidFill>
                        <a:latin typeface="Helvetica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9.devil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>
                          <a:solidFill>
                            <a:schemeClr val="tx1"/>
                          </a:solidFill>
                          <a:latin typeface="Helvetica" pitchFamily="2" charset="0"/>
                        </a:rPr>
                        <a:t>1.dem.prox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929456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AAE5F-9AC1-6C40-5B51-3BE780F2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1"/>
            <a:ext cx="11604171" cy="880603"/>
          </a:xfrm>
        </p:spPr>
        <p:txBody>
          <a:bodyPr anchor="t">
            <a:noAutofit/>
          </a:bodyPr>
          <a:lstStyle/>
          <a:p>
            <a:pPr lvl="0"/>
            <a:r>
              <a:rPr lang="en-GB" sz="2800" dirty="0"/>
              <a:t>But there are typically, many exceptions!...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800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B5F2D4A-C51F-D9F9-4570-B6DB6E0E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Helvetica" pitchFamily="2" charset="0"/>
              </a:rPr>
              <a:t>What determines noun class in a language?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C23C13-2270-9755-AD5F-FB5AA5961F25}"/>
              </a:ext>
            </a:extLst>
          </p:cNvPr>
          <p:cNvSpPr txBox="1"/>
          <p:nvPr/>
        </p:nvSpPr>
        <p:spPr>
          <a:xfrm>
            <a:off x="10342073" y="595061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</a:rPr>
              <a:t>?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421A527-3434-1B2B-7BFA-BC48BF9AB826}"/>
              </a:ext>
            </a:extLst>
          </p:cNvPr>
          <p:cNvCxnSpPr>
            <a:cxnSpLocks/>
          </p:cNvCxnSpPr>
          <p:nvPr/>
        </p:nvCxnSpPr>
        <p:spPr>
          <a:xfrm flipH="1">
            <a:off x="4509144" y="5691225"/>
            <a:ext cx="843643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68A31F9-33C9-CF63-9FD2-29D84CDA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5</a:t>
            </a:fld>
            <a:endParaRPr lang="en-US" sz="280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6D41A0-78F3-D850-1884-6505DB21122A}"/>
              </a:ext>
            </a:extLst>
          </p:cNvPr>
          <p:cNvCxnSpPr>
            <a:cxnSpLocks/>
          </p:cNvCxnSpPr>
          <p:nvPr/>
        </p:nvCxnSpPr>
        <p:spPr>
          <a:xfrm flipH="1">
            <a:off x="10267677" y="2680893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641123-F5D1-F436-8D89-7FC9D71A3244}"/>
              </a:ext>
            </a:extLst>
          </p:cNvPr>
          <p:cNvCxnSpPr>
            <a:cxnSpLocks/>
          </p:cNvCxnSpPr>
          <p:nvPr/>
        </p:nvCxnSpPr>
        <p:spPr>
          <a:xfrm flipH="1">
            <a:off x="4007733" y="2650045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78B90E3-EDB2-83D1-9FF5-7699F48CD119}"/>
              </a:ext>
            </a:extLst>
          </p:cNvPr>
          <p:cNvSpPr txBox="1"/>
          <p:nvPr/>
        </p:nvSpPr>
        <p:spPr>
          <a:xfrm>
            <a:off x="11026514" y="2486698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(-</a:t>
            </a:r>
            <a:r>
              <a:rPr lang="en-US" i="1" dirty="0" err="1">
                <a:latin typeface="Helvetica" pitchFamily="2" charset="0"/>
              </a:rPr>
              <a:t>ette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9C2FC3A-9A7B-D788-3A1D-5F08E1A2E139}"/>
              </a:ext>
            </a:extLst>
          </p:cNvPr>
          <p:cNvCxnSpPr>
            <a:cxnSpLocks/>
          </p:cNvCxnSpPr>
          <p:nvPr/>
        </p:nvCxnSpPr>
        <p:spPr>
          <a:xfrm flipH="1">
            <a:off x="9993179" y="5239530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1F862F3-85E4-8A5F-CB59-71861ABA90A2}"/>
              </a:ext>
            </a:extLst>
          </p:cNvPr>
          <p:cNvCxnSpPr>
            <a:cxnSpLocks/>
          </p:cNvCxnSpPr>
          <p:nvPr/>
        </p:nvCxnSpPr>
        <p:spPr>
          <a:xfrm flipH="1">
            <a:off x="9644284" y="6135277"/>
            <a:ext cx="697789" cy="0"/>
          </a:xfrm>
          <a:prstGeom prst="straightConnector1">
            <a:avLst/>
          </a:prstGeom>
          <a:ln w="28575">
            <a:noFill/>
            <a:tailEnd type="triangle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2B58E04-8364-2627-8C57-8FE74D47BECB}"/>
              </a:ext>
            </a:extLst>
          </p:cNvPr>
          <p:cNvCxnSpPr>
            <a:cxnSpLocks/>
          </p:cNvCxnSpPr>
          <p:nvPr/>
        </p:nvCxnSpPr>
        <p:spPr>
          <a:xfrm flipH="1">
            <a:off x="10125874" y="3637440"/>
            <a:ext cx="69778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A18245F-0F25-3F67-2639-D39B3CF5E07F}"/>
              </a:ext>
            </a:extLst>
          </p:cNvPr>
          <p:cNvSpPr txBox="1"/>
          <p:nvPr/>
        </p:nvSpPr>
        <p:spPr>
          <a:xfrm>
            <a:off x="5290225" y="375174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9DFCFF-A997-8AD0-B905-C4203386C229}"/>
              </a:ext>
            </a:extLst>
          </p:cNvPr>
          <p:cNvSpPr txBox="1"/>
          <p:nvPr/>
        </p:nvSpPr>
        <p:spPr>
          <a:xfrm>
            <a:off x="10616571" y="3495572"/>
            <a:ext cx="703888" cy="373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   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6CE37-50F0-B473-DD3B-11E1B34B4677}"/>
              </a:ext>
            </a:extLst>
          </p:cNvPr>
          <p:cNvSpPr txBox="1"/>
          <p:nvPr/>
        </p:nvSpPr>
        <p:spPr>
          <a:xfrm>
            <a:off x="4851376" y="2487874"/>
            <a:ext cx="12490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morpho-</a:t>
            </a:r>
          </a:p>
          <a:p>
            <a:r>
              <a:rPr lang="en-US" dirty="0">
                <a:latin typeface="Helvetica" pitchFamily="2" charset="0"/>
              </a:rPr>
              <a:t>phonology</a:t>
            </a:r>
          </a:p>
          <a:p>
            <a:r>
              <a:rPr lang="en-US" dirty="0">
                <a:latin typeface="Helvetica" pitchFamily="2" charset="0"/>
              </a:rPr>
              <a:t>(</a:t>
            </a:r>
            <a:r>
              <a:rPr lang="en-US" i="1" dirty="0" err="1">
                <a:latin typeface="Helvetica" pitchFamily="2" charset="0"/>
              </a:rPr>
              <a:t>kî</a:t>
            </a:r>
            <a:r>
              <a:rPr lang="en-US" i="1" dirty="0">
                <a:latin typeface="Helvetica" pitchFamily="2" charset="0"/>
              </a:rPr>
              <a:t>-</a:t>
            </a:r>
            <a:r>
              <a:rPr lang="en-US" dirty="0">
                <a:latin typeface="Helvetica" pitchFamily="2" charset="0"/>
              </a:rPr>
              <a:t>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A2797D3-396F-31CE-6A87-A95EA3A89C98}"/>
              </a:ext>
            </a:extLst>
          </p:cNvPr>
          <p:cNvCxnSpPr>
            <a:cxnSpLocks/>
          </p:cNvCxnSpPr>
          <p:nvPr/>
        </p:nvCxnSpPr>
        <p:spPr>
          <a:xfrm flipH="1">
            <a:off x="4118318" y="3885076"/>
            <a:ext cx="84364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601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How do we know what semantic or morphophonological cues are productive amidst such exceptions?</a:t>
            </a:r>
          </a:p>
          <a:p>
            <a:r>
              <a:rPr lang="en-GB" sz="2800" dirty="0"/>
              <a:t>Do speakers treat different types of cues the same way? (e.g., Karmiloff-Smith, 1981; Perez-Pereira 1991; </a:t>
            </a:r>
            <a:r>
              <a:rPr lang="en-GB" sz="2800" dirty="0" err="1"/>
              <a:t>Gxilishe</a:t>
            </a:r>
            <a:r>
              <a:rPr lang="en-GB" sz="2800" dirty="0"/>
              <a:t> et al., 2009; Gagliardi &amp; </a:t>
            </a:r>
            <a:r>
              <a:rPr lang="en-GB" sz="2800" dirty="0" err="1"/>
              <a:t>Lidz</a:t>
            </a:r>
            <a:r>
              <a:rPr lang="en-GB" sz="2800" dirty="0"/>
              <a:t> 2014 </a:t>
            </a:r>
            <a:r>
              <a:rPr lang="en-GB" sz="2800" dirty="0" err="1"/>
              <a:t>a.o.</a:t>
            </a:r>
            <a:r>
              <a:rPr lang="en-GB" sz="2800" dirty="0"/>
              <a:t>)</a:t>
            </a:r>
          </a:p>
          <a:p>
            <a:r>
              <a:rPr lang="en-GB" sz="2800" dirty="0"/>
              <a:t>Issues with traditional accounts of noun class in Bantu</a:t>
            </a:r>
          </a:p>
          <a:p>
            <a:pPr lvl="1"/>
            <a:r>
              <a:rPr lang="en-GB" sz="2800" dirty="0"/>
              <a:t>Assumption that class is indicated by the prefix alone </a:t>
            </a:r>
          </a:p>
          <a:p>
            <a:pPr lvl="1"/>
            <a:r>
              <a:rPr lang="en-GB" sz="2800" dirty="0"/>
              <a:t>Assumption that semantics is centrally important to class assignment (see e.g., </a:t>
            </a:r>
            <a:r>
              <a:rPr lang="en-GB" sz="2800" dirty="0" err="1"/>
              <a:t>wa</a:t>
            </a:r>
            <a:r>
              <a:rPr lang="en-GB" sz="2800" dirty="0"/>
              <a:t> </a:t>
            </a:r>
            <a:r>
              <a:rPr lang="en-GB" sz="2800" dirty="0" err="1"/>
              <a:t>Mberia</a:t>
            </a:r>
            <a:r>
              <a:rPr lang="en-GB" sz="2800" dirty="0"/>
              <a:t>, 1993 for similar observations)</a:t>
            </a:r>
          </a:p>
          <a:p>
            <a:pPr lvl="1"/>
            <a:r>
              <a:rPr lang="en-GB" sz="2800" dirty="0"/>
              <a:t>No formal theory of what makes a semantic or (morpho)phonological cue productive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endParaRPr lang="en-GB" sz="2800" dirty="0"/>
          </a:p>
          <a:p>
            <a:pPr>
              <a:lnSpc>
                <a:spcPct val="100000"/>
              </a:lnSpc>
              <a:spcAft>
                <a:spcPts val="1200"/>
              </a:spcAft>
            </a:pPr>
            <a:endParaRPr lang="en-GB" sz="2800" dirty="0"/>
          </a:p>
          <a:p>
            <a:pPr lvl="1">
              <a:lnSpc>
                <a:spcPct val="100000"/>
              </a:lnSpc>
              <a:spcAft>
                <a:spcPts val="1200"/>
              </a:spcAft>
            </a:pPr>
            <a:endParaRPr lang="en-GB" sz="2800" dirty="0"/>
          </a:p>
          <a:p>
            <a:pPr marL="0" indent="0">
              <a:buNone/>
            </a:pPr>
            <a:endParaRPr lang="en-GB" sz="3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Theoretical and empirical questions…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052742-1351-2AF3-4D8F-58EB001FD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B3BE0-2861-AA45-A99C-8107B4816AEB}" type="slidenum">
              <a:rPr lang="en-US" sz="2800" smtClean="0"/>
              <a:t>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5825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03"/>
    </mc:Choice>
    <mc:Fallback xmlns="">
      <p:transition spd="slow" advTm="3300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CAB7F-1009-D64F-B3BA-3003D3352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74511"/>
            <a:ext cx="11840936" cy="497794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The project aims to establish productive features that determine noun class membership in Kîîtharaka: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Corpus analyses using Tolerance Principle (Yang, 2016)- provides a way of establishing productivity of rules in a set of items with exceptions (exceptions should not exceed a certain threshold)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US" sz="2800" dirty="0">
                <a:solidFill>
                  <a:srgbClr val="000000"/>
                </a:solidFill>
              </a:rPr>
              <a:t>Psycholinguistic tests – shows what speakers pay attention to</a:t>
            </a:r>
          </a:p>
          <a:p>
            <a:pPr lvl="1">
              <a:lnSpc>
                <a:spcPct val="120000"/>
              </a:lnSpc>
              <a:spcAft>
                <a:spcPts val="600"/>
              </a:spcAft>
            </a:pPr>
            <a:r>
              <a:rPr lang="en-GB" sz="2800" dirty="0">
                <a:solidFill>
                  <a:srgbClr val="000000"/>
                </a:solidFill>
              </a:rPr>
              <a:t>Includes testing the  relative importance of semantic and morpho-phonological cues (following e.g., Karmiloff-Smith, 1981; Gagliardi &amp; </a:t>
            </a:r>
            <a:r>
              <a:rPr lang="en-GB" sz="2800" dirty="0" err="1">
                <a:solidFill>
                  <a:srgbClr val="000000"/>
                </a:solidFill>
              </a:rPr>
              <a:t>Lidz</a:t>
            </a:r>
            <a:r>
              <a:rPr lang="en-GB" sz="2800" dirty="0">
                <a:solidFill>
                  <a:srgbClr val="000000"/>
                </a:solidFill>
              </a:rPr>
              <a:t> 2014, and others).</a:t>
            </a:r>
          </a:p>
          <a:p>
            <a:pPr marL="0" indent="0">
              <a:buNone/>
            </a:pPr>
            <a:br>
              <a:rPr lang="en-GB" sz="2800" dirty="0">
                <a:solidFill>
                  <a:srgbClr val="000000"/>
                </a:solidFill>
              </a:rPr>
            </a:br>
            <a:br>
              <a:rPr lang="en-GB" sz="2800" dirty="0">
                <a:solidFill>
                  <a:srgbClr val="000000"/>
                </a:solidFill>
              </a:rPr>
            </a:b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39CA3B-C704-B14A-A81D-7AFDBE6FD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latin typeface="Helvetica" pitchFamily="2" charset="0"/>
              </a:rPr>
              <a:t>A different approach to </a:t>
            </a:r>
            <a:r>
              <a:rPr lang="en-US" dirty="0" err="1">
                <a:latin typeface="Helvetica" pitchFamily="2" charset="0"/>
              </a:rPr>
              <a:t>Kîîtharaka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26B6B-B7B9-1108-D938-5305EBBC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7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15955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9057"/>
    </mc:Choice>
    <mc:Fallback xmlns="">
      <p:transition spd="slow" advTm="5905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810" y="724887"/>
            <a:ext cx="11696379" cy="3900901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study uses a corpus (2327 nouns)</a:t>
            </a:r>
          </a:p>
          <a:p>
            <a:pPr lvl="1" fontAlgn="base">
              <a:buFont typeface="Wingdings" pitchFamily="2" charset="2"/>
              <a:buChar char="ü"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901 collected from Kîîtharaka bible (published in 2019) and, </a:t>
            </a:r>
          </a:p>
          <a:p>
            <a:pPr lvl="1" fontAlgn="base">
              <a:buFont typeface="Wingdings" pitchFamily="2" charset="2"/>
              <a:buChar char="ü"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1426 translated from SIL comparative African Wordlist (Snider    </a:t>
            </a:r>
          </a:p>
          <a:p>
            <a:pPr marL="0" indent="0" fontAlgn="base">
              <a:buNone/>
            </a:pPr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and Roberts, 2006).</a:t>
            </a:r>
          </a:p>
          <a:p>
            <a:pPr lvl="1"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Translation of SIL list done to achieve a balanced corpus</a:t>
            </a:r>
          </a:p>
          <a:p>
            <a:pPr fontAlgn="base"/>
            <a:r>
              <a:rPr lang="en-GB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Coded for singular/plural agreement, semantics and morphophonological features (prefixes).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Building a Corpus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FC64-F912-F2EF-BCDC-A9485AFB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8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03519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514350" indent="-514350">
              <a:buAutoNum type="romanLcParenR"/>
            </a:pPr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Semantic features coded for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ADAD31C-F780-83DE-308B-4BECFDE22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347557"/>
              </p:ext>
            </p:extLst>
          </p:nvPr>
        </p:nvGraphicFramePr>
        <p:xfrm>
          <a:off x="1778750" y="879169"/>
          <a:ext cx="7857620" cy="503963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7070">
                  <a:extLst>
                    <a:ext uri="{9D8B030D-6E8A-4147-A177-3AD203B41FA5}">
                      <a16:colId xmlns:a16="http://schemas.microsoft.com/office/drawing/2014/main" val="570350758"/>
                    </a:ext>
                  </a:extLst>
                </a:gridCol>
                <a:gridCol w="5300550">
                  <a:extLst>
                    <a:ext uri="{9D8B030D-6E8A-4147-A177-3AD203B41FA5}">
                      <a16:colId xmlns:a16="http://schemas.microsoft.com/office/drawing/2014/main" val="1566014375"/>
                    </a:ext>
                  </a:extLst>
                </a:gridCol>
              </a:tblGrid>
              <a:tr h="436976"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none" spc="60" dirty="0">
                          <a:solidFill>
                            <a:schemeClr val="tx1"/>
                          </a:solidFill>
                        </a:rPr>
                        <a:t>Expected Class</a:t>
                      </a:r>
                    </a:p>
                  </a:txBody>
                  <a:tcPr marL="89163" marR="89163" marT="89163" marB="89163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cap="none" spc="60" dirty="0">
                          <a:solidFill>
                            <a:schemeClr val="tx1"/>
                          </a:solidFill>
                        </a:rPr>
                        <a:t>Semantic Feature(s)</a:t>
                      </a:r>
                    </a:p>
                  </a:txBody>
                  <a:tcPr marL="89163" marR="89163" marT="89163" marB="89163" anchor="b"/>
                </a:tc>
                <a:extLst>
                  <a:ext uri="{0D108BD9-81ED-4DB2-BD59-A6C34878D82A}">
                    <a16:rowId xmlns:a16="http://schemas.microsoft.com/office/drawing/2014/main" val="2226518550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 human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2509463051"/>
                  </a:ext>
                </a:extLst>
              </a:tr>
              <a:tr h="67233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Extended shape, spread shape, protruding shape, trees &amp; plants, dispersive mass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410574139"/>
                  </a:ext>
                </a:extLst>
              </a:tr>
              <a:tr h="67233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Fruits, round shape, plant part, augmentative, made of wood, cohesive mass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4012359983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Artefacts, pejorative, derived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4265551506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Animals, artefacts, loan (other)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859560216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Narrow things, wavy-shaped things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2774414135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Diminutives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220665434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Abstract, mass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152984915"/>
                  </a:ext>
                </a:extLst>
              </a:tr>
              <a:tr h="4103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Derived, infinitives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645799194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927A2-545F-F345-9BD8-7392A60AE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9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6917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819"/>
    </mc:Choice>
    <mc:Fallback xmlns="">
      <p:transition spd="slow" advTm="1481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pPr marL="514350" indent="-514350">
              <a:buAutoNum type="romanLcParenR"/>
            </a:pPr>
            <a:endParaRPr lang="en-US" sz="20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70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 dirty="0">
                <a:latin typeface="Helvetica" pitchFamily="2" charset="0"/>
              </a:rPr>
              <a:t>Morphophonological features coded for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8EC7F-02CC-80DD-8271-7426362E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10</a:t>
            </a:fld>
            <a:endParaRPr lang="en-US" sz="2800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80F48BD-36F1-8161-D603-6C2E28B89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661155"/>
              </p:ext>
            </p:extLst>
          </p:nvPr>
        </p:nvGraphicFramePr>
        <p:xfrm>
          <a:off x="2203939" y="1179331"/>
          <a:ext cx="6119446" cy="464794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714237">
                  <a:extLst>
                    <a:ext uri="{9D8B030D-6E8A-4147-A177-3AD203B41FA5}">
                      <a16:colId xmlns:a16="http://schemas.microsoft.com/office/drawing/2014/main" val="929939796"/>
                    </a:ext>
                  </a:extLst>
                </a:gridCol>
                <a:gridCol w="3405209">
                  <a:extLst>
                    <a:ext uri="{9D8B030D-6E8A-4147-A177-3AD203B41FA5}">
                      <a16:colId xmlns:a16="http://schemas.microsoft.com/office/drawing/2014/main" val="1484386170"/>
                    </a:ext>
                  </a:extLst>
                </a:gridCol>
              </a:tblGrid>
              <a:tr h="5059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Morphophonological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596423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Mû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500329386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Mû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630830219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Î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13883807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Kî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648554422"/>
                  </a:ext>
                </a:extLst>
              </a:tr>
              <a:tr h="394840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N, </a:t>
                      </a:r>
                      <a:r>
                        <a:rPr lang="en-US" sz="2400" cap="none" spc="0" dirty="0" err="1">
                          <a:solidFill>
                            <a:schemeClr val="tx1"/>
                          </a:solidFill>
                        </a:rPr>
                        <a:t>ø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788182576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Rû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954455200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Ka-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998875085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265091397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Kû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94950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76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55"/>
    </mc:Choice>
    <mc:Fallback xmlns="">
      <p:transition spd="slow" advTm="865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087958"/>
            <a:ext cx="11604171" cy="4977946"/>
          </a:xfrm>
        </p:spPr>
        <p:txBody>
          <a:bodyPr vert="horz" lIns="91440" tIns="45720" rIns="91440" bIns="45720" rtlCol="0" anchor="ctr">
            <a:noAutofit/>
          </a:bodyPr>
          <a:lstStyle/>
          <a:p>
            <a:pPr fontAlgn="base"/>
            <a:endParaRPr lang="en-GB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fontAlgn="base"/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Corpus analysed for rule productivity using Tolerance Principle (Yang, 2016)</a:t>
            </a:r>
          </a:p>
          <a:p>
            <a:pPr fontAlgn="base"/>
            <a:r>
              <a:rPr lang="en-GB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Tolerance Principle demonstrates how to establish the productivity of rules with exceptions.</a:t>
            </a:r>
          </a:p>
          <a:p>
            <a:pPr lvl="1"/>
            <a:r>
              <a:rPr lang="en-US" sz="2400" dirty="0"/>
              <a:t>Proposed to account for how and when e.g., language learners make generalizations and when they don’t.</a:t>
            </a:r>
          </a:p>
          <a:p>
            <a:pPr lvl="1"/>
            <a:r>
              <a:rPr lang="en-US" sz="2400" dirty="0"/>
              <a:t>provides a threshold beyond which the exceptions should not exceed for the rule to be productive.</a:t>
            </a:r>
          </a:p>
          <a:p>
            <a:pPr lvl="1"/>
            <a:r>
              <a:rPr lang="en-US" sz="2400" dirty="0"/>
              <a:t>Makes use of 2 integer values N (number of items in the lexicon) and e (number of items not obeying the rule)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Let a rule be defined over a set of N items. </a:t>
            </a:r>
          </a:p>
          <a:p>
            <a:pPr lvl="1"/>
            <a:r>
              <a:rPr lang="en-US" sz="2400" dirty="0"/>
              <a:t>The rule is productive if the number of exceptions does not exceed a threshold, 𝛉</a:t>
            </a:r>
            <a:r>
              <a:rPr lang="en-US" sz="2400" baseline="-25000" dirty="0"/>
              <a:t>N.</a:t>
            </a:r>
          </a:p>
          <a:p>
            <a:pPr marL="457200" lvl="1" indent="0">
              <a:buNone/>
            </a:pPr>
            <a:r>
              <a:rPr lang="en-US" sz="2400" b="1" baseline="-25000" dirty="0"/>
              <a:t>               </a:t>
            </a:r>
            <a:r>
              <a:rPr lang="en-US" sz="2400" dirty="0"/>
              <a:t>exceptions (e) ≤ 𝛉</a:t>
            </a:r>
            <a:r>
              <a:rPr lang="en-US" sz="2400" baseline="-25000" dirty="0"/>
              <a:t>N </a:t>
            </a:r>
            <a:r>
              <a:rPr lang="en-US" sz="2400" dirty="0"/>
              <a:t>(N/ln(N))                              </a:t>
            </a:r>
          </a:p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Corpus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1726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2DB646-FCF9-3ADB-491D-30A5724D7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Corpus Results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Graphic 11" descr="Bar chart">
            <a:extLst>
              <a:ext uri="{FF2B5EF4-FFF2-40B4-BE49-F238E27FC236}">
                <a16:creationId xmlns:a16="http://schemas.microsoft.com/office/drawing/2014/main" id="{08028A74-4FE2-E6D0-92E8-C054F7C0B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1084" y="625684"/>
            <a:ext cx="5455380" cy="54553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D4CFA-B676-20B3-B9BD-502EE3F5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330EA680-D336-4FF7-8B7A-9848BB0A1C32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40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0"/>
    </mc:Choice>
    <mc:Fallback xmlns="">
      <p:transition spd="slow" advTm="897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D4CFA-B676-20B3-B9BD-502EE3F5E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13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B2DB646-FCF9-3ADB-491D-30A5724D7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5E60299-DD38-C497-8809-32AB10E56C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semantic feature for class 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306DEA4-6A00-58AF-F01F-31275EF50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117346"/>
              </p:ext>
            </p:extLst>
          </p:nvPr>
        </p:nvGraphicFramePr>
        <p:xfrm>
          <a:off x="398427" y="1947385"/>
          <a:ext cx="10774498" cy="3688535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Semantic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5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Human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No?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Augmentative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142590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Round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371848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Plant part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84154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Fruit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Made from wood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878296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Derived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1041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Cohesive mass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1328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FAA3026-C390-2E5B-0D14-C7E033493726}"/>
              </a:ext>
            </a:extLst>
          </p:cNvPr>
          <p:cNvSpPr txBox="1"/>
          <p:nvPr/>
        </p:nvSpPr>
        <p:spPr>
          <a:xfrm>
            <a:off x="500932" y="1383527"/>
            <a:ext cx="3772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Rule: [+augmentative ]                class 5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A8976C-6419-F18D-76DA-9EECE5BBA07D}"/>
              </a:ext>
            </a:extLst>
          </p:cNvPr>
          <p:cNvCxnSpPr>
            <a:cxnSpLocks/>
          </p:cNvCxnSpPr>
          <p:nvPr/>
        </p:nvCxnSpPr>
        <p:spPr>
          <a:xfrm>
            <a:off x="2755427" y="1601178"/>
            <a:ext cx="677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07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70"/>
    </mc:Choice>
    <mc:Fallback xmlns="">
      <p:transition spd="slow" advTm="897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2A1D28-69C4-0365-25EA-277D30038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14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C1E072C-331C-3162-96BF-B3E8EC0E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EABE759-837B-92B2-5243-DF32BE70773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0825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semantic rule (recursive appl.)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8BE3BD-A865-F1FC-C1A6-7FAA7C33839E}"/>
              </a:ext>
            </a:extLst>
          </p:cNvPr>
          <p:cNvGraphicFramePr>
            <a:graphicFrameLocks noGrp="1"/>
          </p:cNvGraphicFramePr>
          <p:nvPr/>
        </p:nvGraphicFramePr>
        <p:xfrm>
          <a:off x="328245" y="1952978"/>
          <a:ext cx="10691871" cy="1376579"/>
        </p:xfrm>
        <a:graphic>
          <a:graphicData uri="http://schemas.openxmlformats.org/drawingml/2006/table">
            <a:tbl>
              <a:tblPr firstRow="1" bandRow="1"/>
              <a:tblGrid>
                <a:gridCol w="2365239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Semantic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1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Human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[+human, -Pejorative]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444444"/>
                          </a:solidFill>
                          <a:effectLst/>
                          <a:latin typeface="Calibri" panose="020F050202020403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514157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D39238-F36C-596A-42EC-7B4111D50DFB}"/>
              </a:ext>
            </a:extLst>
          </p:cNvPr>
          <p:cNvCxnSpPr>
            <a:cxnSpLocks/>
          </p:cNvCxnSpPr>
          <p:nvPr/>
        </p:nvCxnSpPr>
        <p:spPr>
          <a:xfrm>
            <a:off x="328245" y="3329557"/>
            <a:ext cx="106918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DC53826-4711-24BF-80AB-1D1E6EBBBDD4}"/>
              </a:ext>
            </a:extLst>
          </p:cNvPr>
          <p:cNvSpPr txBox="1"/>
          <p:nvPr/>
        </p:nvSpPr>
        <p:spPr>
          <a:xfrm>
            <a:off x="328245" y="1227598"/>
            <a:ext cx="4876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Rule: [+human, -pejorative]               Class 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DEC973F-D610-B81C-A5DE-14F0E329B3D7}"/>
              </a:ext>
            </a:extLst>
          </p:cNvPr>
          <p:cNvCxnSpPr>
            <a:cxnSpLocks/>
          </p:cNvCxnSpPr>
          <p:nvPr/>
        </p:nvCxnSpPr>
        <p:spPr>
          <a:xfrm>
            <a:off x="3048000" y="1416700"/>
            <a:ext cx="6029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488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 fontScale="90000"/>
          </a:bodyPr>
          <a:lstStyle/>
          <a:p>
            <a:r>
              <a:rPr lang="en-US" kern="1200" dirty="0">
                <a:latin typeface="Helvetica" pitchFamily="2" charset="0"/>
              </a:rPr>
              <a:t>Corpus results: p</a:t>
            </a:r>
            <a:r>
              <a:rPr lang="en-US" dirty="0">
                <a:latin typeface="Helvetica" pitchFamily="2" charset="0"/>
              </a:rPr>
              <a:t>roductive semantic features (overall)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15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[+Human]                         class 1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[+augmentative]       	class 5 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[+pejorative]                	class 7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[+diminutive]               	class 12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[+derived]                    	class 15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[+infinitive]                    	class 15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2BDA70-F3BA-B789-58A8-1827D0BA703D}"/>
              </a:ext>
            </a:extLst>
          </p:cNvPr>
          <p:cNvCxnSpPr>
            <a:cxnSpLocks/>
          </p:cNvCxnSpPr>
          <p:nvPr/>
        </p:nvCxnSpPr>
        <p:spPr>
          <a:xfrm>
            <a:off x="3651549" y="1561419"/>
            <a:ext cx="677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6C38EA-5BD5-A240-DCD9-C56FDF88BF68}"/>
              </a:ext>
            </a:extLst>
          </p:cNvPr>
          <p:cNvCxnSpPr/>
          <p:nvPr/>
        </p:nvCxnSpPr>
        <p:spPr>
          <a:xfrm>
            <a:off x="3736800" y="2039749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BD2837-702A-CA29-AA02-046B858B7408}"/>
              </a:ext>
            </a:extLst>
          </p:cNvPr>
          <p:cNvCxnSpPr/>
          <p:nvPr/>
        </p:nvCxnSpPr>
        <p:spPr>
          <a:xfrm>
            <a:off x="3705008" y="2590801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91EF02-FBB9-F542-87C4-1789B5EB84E5}"/>
              </a:ext>
            </a:extLst>
          </p:cNvPr>
          <p:cNvCxnSpPr/>
          <p:nvPr/>
        </p:nvCxnSpPr>
        <p:spPr>
          <a:xfrm>
            <a:off x="3701631" y="3119892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0343DA-7D7D-C3B6-619B-072E66876F4E}"/>
              </a:ext>
            </a:extLst>
          </p:cNvPr>
          <p:cNvCxnSpPr/>
          <p:nvPr/>
        </p:nvCxnSpPr>
        <p:spPr>
          <a:xfrm>
            <a:off x="3771384" y="3649622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E92921D-8D1D-195D-476E-ECCC58C014E3}"/>
              </a:ext>
            </a:extLst>
          </p:cNvPr>
          <p:cNvCxnSpPr>
            <a:cxnSpLocks/>
          </p:cNvCxnSpPr>
          <p:nvPr/>
        </p:nvCxnSpPr>
        <p:spPr>
          <a:xfrm>
            <a:off x="3736800" y="4172814"/>
            <a:ext cx="677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21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9"/>
    </mc:Choice>
    <mc:Fallback xmlns="">
      <p:transition spd="slow" advTm="3489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6B483-6BDC-1F27-F856-0DABCD49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16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D3F004-F5F5-1704-0850-CF5DE762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CE78AE-41CC-0DDF-8119-AB802DF832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morphophonological feature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F644FA-BF31-243E-ADB1-1A2FC89B4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878693"/>
              </p:ext>
            </p:extLst>
          </p:nvPr>
        </p:nvGraphicFramePr>
        <p:xfrm>
          <a:off x="342768" y="1637284"/>
          <a:ext cx="10774498" cy="4113296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60592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Morpho-phonological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7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No?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425907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371848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ri-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841542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677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063537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û-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78296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î-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188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470244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ka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113288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329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08720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354D954-1F6A-875C-9F17-A56954EBF9AB}"/>
              </a:ext>
            </a:extLst>
          </p:cNvPr>
          <p:cNvSpPr txBox="1"/>
          <p:nvPr/>
        </p:nvSpPr>
        <p:spPr>
          <a:xfrm>
            <a:off x="453223" y="1107420"/>
            <a:ext cx="3061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Rule: [+</a:t>
            </a:r>
            <a:r>
              <a:rPr lang="en-US" dirty="0" err="1"/>
              <a:t>kî</a:t>
            </a:r>
            <a:r>
              <a:rPr lang="en-US" dirty="0"/>
              <a:t>-]                class 7 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125584E-607C-A6D3-042E-98CB26CE3CE8}"/>
              </a:ext>
            </a:extLst>
          </p:cNvPr>
          <p:cNvCxnSpPr>
            <a:cxnSpLocks/>
          </p:cNvCxnSpPr>
          <p:nvPr/>
        </p:nvCxnSpPr>
        <p:spPr>
          <a:xfrm>
            <a:off x="1554778" y="1310953"/>
            <a:ext cx="6779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7228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6B483-6BDC-1F27-F856-0DABCD49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17</a:t>
            </a:fld>
            <a:endParaRPr lang="en-US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CD3F004-F5F5-1704-0850-CF5DE762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4CE78AE-41CC-0DDF-8119-AB802DF8324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8670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Helvetica" pitchFamily="2" charset="0"/>
              </a:rPr>
              <a:t>Results: a productive morphophonological rule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DF644FA-BF31-243E-ADB1-1A2FC89B46F6}"/>
              </a:ext>
            </a:extLst>
          </p:cNvPr>
          <p:cNvGraphicFramePr>
            <a:graphicFrameLocks noGrp="1"/>
          </p:cNvGraphicFramePr>
          <p:nvPr/>
        </p:nvGraphicFramePr>
        <p:xfrm>
          <a:off x="374573" y="1866326"/>
          <a:ext cx="10774498" cy="1141694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Hybrid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1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397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[+</a:t>
                      </a: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-, +human]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48118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BF3C1D7-049D-8A5D-DE80-5E891D9E4BF0}"/>
              </a:ext>
            </a:extLst>
          </p:cNvPr>
          <p:cNvCxnSpPr>
            <a:cxnSpLocks/>
          </p:cNvCxnSpPr>
          <p:nvPr/>
        </p:nvCxnSpPr>
        <p:spPr>
          <a:xfrm>
            <a:off x="374573" y="3282340"/>
            <a:ext cx="1069187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5FB13CF-B6FF-70D5-F02A-30CCC6389143}"/>
              </a:ext>
            </a:extLst>
          </p:cNvPr>
          <p:cNvSpPr txBox="1"/>
          <p:nvPr/>
        </p:nvSpPr>
        <p:spPr>
          <a:xfrm>
            <a:off x="457201" y="1254369"/>
            <a:ext cx="4478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Rule: +</a:t>
            </a:r>
            <a:r>
              <a:rPr lang="en-US" dirty="0" err="1"/>
              <a:t>mû</a:t>
            </a:r>
            <a:r>
              <a:rPr lang="en-US" dirty="0"/>
              <a:t>- [+human]               Class 1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0A4FE99-19C8-B68B-A5E7-11C2496B3FB3}"/>
              </a:ext>
            </a:extLst>
          </p:cNvPr>
          <p:cNvCxnSpPr>
            <a:cxnSpLocks/>
          </p:cNvCxnSpPr>
          <p:nvPr/>
        </p:nvCxnSpPr>
        <p:spPr>
          <a:xfrm>
            <a:off x="2649415" y="1443260"/>
            <a:ext cx="578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443C23A-9C82-9987-F154-EB4318B55807}"/>
              </a:ext>
            </a:extLst>
          </p:cNvPr>
          <p:cNvGraphicFramePr>
            <a:graphicFrameLocks noGrp="1"/>
          </p:cNvGraphicFramePr>
          <p:nvPr/>
        </p:nvGraphicFramePr>
        <p:xfrm>
          <a:off x="333259" y="4252397"/>
          <a:ext cx="10774498" cy="1141694"/>
        </p:xfrm>
        <a:graphic>
          <a:graphicData uri="http://schemas.openxmlformats.org/drawingml/2006/table">
            <a:tbl>
              <a:tblPr firstRow="1" bandRow="1"/>
              <a:tblGrid>
                <a:gridCol w="2447866">
                  <a:extLst>
                    <a:ext uri="{9D8B030D-6E8A-4147-A177-3AD203B41FA5}">
                      <a16:colId xmlns:a16="http://schemas.microsoft.com/office/drawing/2014/main" val="3858679904"/>
                    </a:ext>
                  </a:extLst>
                </a:gridCol>
                <a:gridCol w="1658549">
                  <a:extLst>
                    <a:ext uri="{9D8B030D-6E8A-4147-A177-3AD203B41FA5}">
                      <a16:colId xmlns:a16="http://schemas.microsoft.com/office/drawing/2014/main" val="4093313018"/>
                    </a:ext>
                  </a:extLst>
                </a:gridCol>
                <a:gridCol w="1266307">
                  <a:extLst>
                    <a:ext uri="{9D8B030D-6E8A-4147-A177-3AD203B41FA5}">
                      <a16:colId xmlns:a16="http://schemas.microsoft.com/office/drawing/2014/main" val="3711049695"/>
                    </a:ext>
                  </a:extLst>
                </a:gridCol>
                <a:gridCol w="906893">
                  <a:extLst>
                    <a:ext uri="{9D8B030D-6E8A-4147-A177-3AD203B41FA5}">
                      <a16:colId xmlns:a16="http://schemas.microsoft.com/office/drawing/2014/main" val="3490826901"/>
                    </a:ext>
                  </a:extLst>
                </a:gridCol>
                <a:gridCol w="2085757">
                  <a:extLst>
                    <a:ext uri="{9D8B030D-6E8A-4147-A177-3AD203B41FA5}">
                      <a16:colId xmlns:a16="http://schemas.microsoft.com/office/drawing/2014/main" val="2454074749"/>
                    </a:ext>
                  </a:extLst>
                </a:gridCol>
                <a:gridCol w="2409126">
                  <a:extLst>
                    <a:ext uri="{9D8B030D-6E8A-4147-A177-3AD203B41FA5}">
                      <a16:colId xmlns:a16="http://schemas.microsoft.com/office/drawing/2014/main" val="12827824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Hybrid features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Class 3 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𝛉</a:t>
                      </a:r>
                      <a:r>
                        <a:rPr lang="en-GB" sz="18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Productive?</a:t>
                      </a:r>
                    </a:p>
                  </a:txBody>
                  <a:tcPr marL="16676" marR="16676" marT="16676" marB="80046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87971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162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26500"/>
                  </a:ext>
                </a:extLst>
              </a:tr>
              <a:tr h="385326"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[+</a:t>
                      </a:r>
                      <a:r>
                        <a:rPr lang="en-GB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mû</a:t>
                      </a:r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-, -human]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Yes</a:t>
                      </a:r>
                    </a:p>
                  </a:txBody>
                  <a:tcPr marL="9525" marR="9525" marT="9525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481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B62D7FD-F8CE-7923-8777-CDF27A8145B2}"/>
              </a:ext>
            </a:extLst>
          </p:cNvPr>
          <p:cNvSpPr txBox="1"/>
          <p:nvPr/>
        </p:nvSpPr>
        <p:spPr>
          <a:xfrm>
            <a:off x="457200" y="3727939"/>
            <a:ext cx="4114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Rule: +[+</a:t>
            </a:r>
            <a:r>
              <a:rPr lang="en-US" dirty="0" err="1"/>
              <a:t>mû</a:t>
            </a:r>
            <a:r>
              <a:rPr lang="en-US" dirty="0"/>
              <a:t>-, -human]               Class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7501E5A-83D8-0EFF-4DFA-F1A450201870}"/>
              </a:ext>
            </a:extLst>
          </p:cNvPr>
          <p:cNvCxnSpPr>
            <a:cxnSpLocks/>
          </p:cNvCxnSpPr>
          <p:nvPr/>
        </p:nvCxnSpPr>
        <p:spPr>
          <a:xfrm>
            <a:off x="2743200" y="3905107"/>
            <a:ext cx="578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648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</a:t>
            </a:r>
            <a:r>
              <a:rPr lang="en-US" kern="1200" dirty="0">
                <a:latin typeface="Helvetica" pitchFamily="2" charset="0"/>
              </a:rPr>
              <a:t>esults: p</a:t>
            </a:r>
            <a:r>
              <a:rPr lang="en-US" dirty="0">
                <a:latin typeface="Helvetica" pitchFamily="2" charset="0"/>
              </a:rPr>
              <a:t>roductive morphophonological features 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18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î</a:t>
            </a:r>
            <a:r>
              <a:rPr lang="en-US" sz="2800" dirty="0"/>
              <a:t>-/</a:t>
            </a:r>
            <a:r>
              <a:rPr lang="en-US" sz="2800" dirty="0" err="1"/>
              <a:t>rî</a:t>
            </a:r>
            <a:r>
              <a:rPr lang="en-US" sz="2800" dirty="0"/>
              <a:t>-]          		class 5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kî</a:t>
            </a:r>
            <a:r>
              <a:rPr lang="en-US" sz="2800" dirty="0"/>
              <a:t>-]           		class 7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[+n-]            		class 9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</a:t>
            </a:r>
            <a:r>
              <a:rPr lang="en-US" sz="2800" cap="none" spc="0" dirty="0" err="1">
                <a:solidFill>
                  <a:schemeClr val="tx1"/>
                </a:solidFill>
              </a:rPr>
              <a:t>ø</a:t>
            </a:r>
            <a:r>
              <a:rPr lang="en-US" sz="2800" cap="none" spc="0" dirty="0">
                <a:solidFill>
                  <a:schemeClr val="tx1"/>
                </a:solidFill>
              </a:rPr>
              <a:t>-</a:t>
            </a:r>
            <a:r>
              <a:rPr lang="en-US" sz="2800" dirty="0"/>
              <a:t>]			class 9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rû</a:t>
            </a:r>
            <a:r>
              <a:rPr lang="en-US" sz="2800" dirty="0"/>
              <a:t>-]           		class 11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[+ka-]			class 12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û</a:t>
            </a:r>
            <a:r>
              <a:rPr lang="en-US" sz="2800" dirty="0"/>
              <a:t>-]          		class 14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[+</a:t>
            </a:r>
            <a:r>
              <a:rPr lang="en-US" sz="2800" dirty="0" err="1"/>
              <a:t>kû</a:t>
            </a:r>
            <a:r>
              <a:rPr lang="en-US" sz="2800" dirty="0"/>
              <a:t>-]           		class 15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[[+</a:t>
            </a:r>
            <a:r>
              <a:rPr lang="en-US" sz="2800" dirty="0" err="1"/>
              <a:t>mû</a:t>
            </a:r>
            <a:r>
              <a:rPr lang="en-US" sz="2800" dirty="0"/>
              <a:t>], + human]]       	class 1</a:t>
            </a:r>
          </a:p>
          <a:p>
            <a:pPr marL="571500" indent="-571500">
              <a:buFont typeface="Arial" panose="020B0604020202020204" pitchFamily="34" charset="0"/>
              <a:buAutoNum type="romanLcParenR"/>
            </a:pPr>
            <a:r>
              <a:rPr lang="en-US" sz="2800" dirty="0"/>
              <a:t>[[+</a:t>
            </a:r>
            <a:r>
              <a:rPr lang="en-US" sz="2800" dirty="0" err="1"/>
              <a:t>mû</a:t>
            </a:r>
            <a:r>
              <a:rPr lang="en-US" sz="2800" dirty="0"/>
              <a:t>, -human]]	        	class 3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34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32BDA70-F3BA-B789-58A8-1827D0BA703D}"/>
              </a:ext>
            </a:extLst>
          </p:cNvPr>
          <p:cNvCxnSpPr>
            <a:cxnSpLocks/>
          </p:cNvCxnSpPr>
          <p:nvPr/>
        </p:nvCxnSpPr>
        <p:spPr>
          <a:xfrm>
            <a:off x="3020472" y="1471514"/>
            <a:ext cx="6029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6C38EA-5BD5-A240-DCD9-C56FDF88BF68}"/>
              </a:ext>
            </a:extLst>
          </p:cNvPr>
          <p:cNvCxnSpPr>
            <a:cxnSpLocks/>
          </p:cNvCxnSpPr>
          <p:nvPr/>
        </p:nvCxnSpPr>
        <p:spPr>
          <a:xfrm>
            <a:off x="3020469" y="1880499"/>
            <a:ext cx="5789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ABD2837-702A-CA29-AA02-046B858B7408}"/>
              </a:ext>
            </a:extLst>
          </p:cNvPr>
          <p:cNvCxnSpPr/>
          <p:nvPr/>
        </p:nvCxnSpPr>
        <p:spPr>
          <a:xfrm>
            <a:off x="3022221" y="2291459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591EF02-FBB9-F542-87C4-1789B5EB84E5}"/>
              </a:ext>
            </a:extLst>
          </p:cNvPr>
          <p:cNvCxnSpPr>
            <a:cxnSpLocks/>
          </p:cNvCxnSpPr>
          <p:nvPr/>
        </p:nvCxnSpPr>
        <p:spPr>
          <a:xfrm>
            <a:off x="2946145" y="3267377"/>
            <a:ext cx="684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0343DA-7D7D-C3B6-619B-072E66876F4E}"/>
              </a:ext>
            </a:extLst>
          </p:cNvPr>
          <p:cNvCxnSpPr>
            <a:cxnSpLocks/>
          </p:cNvCxnSpPr>
          <p:nvPr/>
        </p:nvCxnSpPr>
        <p:spPr>
          <a:xfrm>
            <a:off x="2946145" y="3690352"/>
            <a:ext cx="6842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3D2737-4AB8-BF94-BF19-8CE2B50BE4BD}"/>
              </a:ext>
            </a:extLst>
          </p:cNvPr>
          <p:cNvCxnSpPr/>
          <p:nvPr/>
        </p:nvCxnSpPr>
        <p:spPr>
          <a:xfrm>
            <a:off x="2991224" y="4147771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37BFF31-B8AA-A044-8912-DAF9DEB0D7A8}"/>
              </a:ext>
            </a:extLst>
          </p:cNvPr>
          <p:cNvCxnSpPr/>
          <p:nvPr/>
        </p:nvCxnSpPr>
        <p:spPr>
          <a:xfrm>
            <a:off x="3316687" y="4629355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AA9AEA6-DA18-BD34-80BB-0C3D7390B181}"/>
              </a:ext>
            </a:extLst>
          </p:cNvPr>
          <p:cNvCxnSpPr/>
          <p:nvPr/>
        </p:nvCxnSpPr>
        <p:spPr>
          <a:xfrm>
            <a:off x="4029610" y="5045778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161FAFD-157D-20BC-F367-094CB088CE06}"/>
              </a:ext>
            </a:extLst>
          </p:cNvPr>
          <p:cNvCxnSpPr/>
          <p:nvPr/>
        </p:nvCxnSpPr>
        <p:spPr>
          <a:xfrm>
            <a:off x="3022221" y="2774350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87951A-D386-4DD1-AD38-709800C8FE74}"/>
              </a:ext>
            </a:extLst>
          </p:cNvPr>
          <p:cNvCxnSpPr/>
          <p:nvPr/>
        </p:nvCxnSpPr>
        <p:spPr>
          <a:xfrm>
            <a:off x="4014111" y="5489903"/>
            <a:ext cx="5926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57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935"/>
    </mc:Choice>
    <mc:Fallback xmlns="">
      <p:transition spd="slow" advTm="12935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200" dirty="0"/>
              <a:t>Experiments: Observation of human </a:t>
            </a:r>
            <a:r>
              <a:rPr lang="en-US" sz="4200" dirty="0" err="1"/>
              <a:t>behaviour</a:t>
            </a:r>
            <a:endParaRPr lang="en-US" sz="4200" dirty="0"/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DA391E-E982-BED1-A52F-EFC1F213C545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Test to what extent statistical measure of productivity reflects speakers’ own usage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3 experiments (2 done)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30 native speakers (males &amp; females; age 18—45)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7EE58D-76AF-0F4B-74AC-BFE7E12348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58" r="-1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30EA680-D336-4FF7-8B7A-9848BB0A1C32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19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28714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6C89FE5-F42C-8F19-8950-6E67F027D1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0455629"/>
              </p:ext>
            </p:extLst>
          </p:nvPr>
        </p:nvGraphicFramePr>
        <p:xfrm>
          <a:off x="2719753" y="1068048"/>
          <a:ext cx="6049110" cy="4721904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024555">
                  <a:extLst>
                    <a:ext uri="{9D8B030D-6E8A-4147-A177-3AD203B41FA5}">
                      <a16:colId xmlns:a16="http://schemas.microsoft.com/office/drawing/2014/main" val="4104097734"/>
                    </a:ext>
                  </a:extLst>
                </a:gridCol>
                <a:gridCol w="3024555">
                  <a:extLst>
                    <a:ext uri="{9D8B030D-6E8A-4147-A177-3AD203B41FA5}">
                      <a16:colId xmlns:a16="http://schemas.microsoft.com/office/drawing/2014/main" val="3018972119"/>
                    </a:ext>
                  </a:extLst>
                </a:gridCol>
              </a:tblGrid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Semantic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549112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Human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528321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Extended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629627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Augmentative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3323941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Fruits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999970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Artefacts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779406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Pejorative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110384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loan (other)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102214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Narrow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8140964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Wavy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425191"/>
                  </a:ext>
                </a:extLst>
              </a:tr>
              <a:tr h="429264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Diminutive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0620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Experiment 1: Semantic features tested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FC64-F912-F2EF-BCDC-A9485AFB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20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50239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243589" cy="14508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Stimuli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fontAlgn="base"/>
            <a:r>
              <a:rPr lang="en-US" sz="2200" dirty="0">
                <a:latin typeface="+mn-lt"/>
              </a:rPr>
              <a:t>Participants saw an unfamiliar image followed by a DP(novel noun&gt; num) with an underscore  at the beginning of each word</a:t>
            </a:r>
          </a:p>
          <a:p>
            <a:pPr fontAlgn="base"/>
            <a:r>
              <a:rPr lang="en-US" sz="2200" dirty="0">
                <a:latin typeface="+mn-lt"/>
              </a:rPr>
              <a:t>Required to use their Kîîtharaka knowledge to judge if part of the words were missing and type them in full.</a:t>
            </a:r>
          </a:p>
          <a:p>
            <a:pPr fontAlgn="base"/>
            <a:r>
              <a:rPr lang="en-US" sz="2200" dirty="0">
                <a:latin typeface="+mn-lt"/>
              </a:rPr>
              <a:t>Order in which the stimuli appeared and image-DP pairing  randomized across participants</a:t>
            </a:r>
          </a:p>
          <a:p>
            <a:pPr lvl="1" fontAlgn="base"/>
            <a:r>
              <a:rPr lang="en-US" sz="2200" dirty="0">
                <a:latin typeface="+mn-lt"/>
              </a:rPr>
              <a:t>Each feature tested 3 times, 30 images, 30 novel nouns</a:t>
            </a:r>
          </a:p>
          <a:p>
            <a:pPr fontAlgn="base"/>
            <a:endParaRPr lang="en-US" sz="2200" dirty="0">
              <a:latin typeface="+mn-lt"/>
            </a:endParaRPr>
          </a:p>
        </p:txBody>
      </p:sp>
      <p:pic>
        <p:nvPicPr>
          <p:cNvPr id="6" name="Picture 5" descr="Shape, arrow&#10;&#10;Description automatically generated">
            <a:extLst>
              <a:ext uri="{FF2B5EF4-FFF2-40B4-BE49-F238E27FC236}">
                <a16:creationId xmlns:a16="http://schemas.microsoft.com/office/drawing/2014/main" id="{EF5E9AD0-14C3-96CB-723D-86028CC0CF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1267"/>
          <a:stretch/>
        </p:blipFill>
        <p:spPr>
          <a:xfrm>
            <a:off x="6096000" y="10"/>
            <a:ext cx="6094477" cy="6076061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EFC64-F912-F2EF-BCDC-A9485AFBD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330EA680-D336-4FF7-8B7A-9848BB0A1C32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21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5A5C15-F95A-112E-19D6-9AF4C046D3B4}"/>
              </a:ext>
            </a:extLst>
          </p:cNvPr>
          <p:cNvSpPr txBox="1"/>
          <p:nvPr/>
        </p:nvSpPr>
        <p:spPr>
          <a:xfrm>
            <a:off x="187569" y="6020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758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03385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Helvetica" pitchFamily="2" charset="0"/>
              </a:rPr>
              <a:t>Experiment 1 results: productive semantic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329083" y="951750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A92F3-1D13-0408-44FE-E0FF91F9E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19" y="1104214"/>
            <a:ext cx="8880528" cy="548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27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91090"/>
            <a:ext cx="10515599" cy="9326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Experiment 1 results: productive semantic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pic>
        <p:nvPicPr>
          <p:cNvPr id="5" name="Picture 4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91DCE4A7-6E59-F015-5537-9B1E652154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24" y="1472339"/>
            <a:ext cx="5841761" cy="3651101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C4B11AC0-652C-C266-70B7-12741A8CD9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E5828C-6BEC-69A7-101B-2AAE146B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339" y="1662155"/>
            <a:ext cx="5292625" cy="326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533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48C19-F470-1C47-853B-56C80283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670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Experiment 2: Morphophonological features tested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8EC7F-02CC-80DD-8271-7426362E6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24</a:t>
            </a:fld>
            <a:endParaRPr lang="en-US" sz="2800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E80F48BD-36F1-8161-D603-6C2E28B89B3D}"/>
              </a:ext>
            </a:extLst>
          </p:cNvPr>
          <p:cNvGraphicFramePr>
            <a:graphicFrameLocks noGrp="1"/>
          </p:cNvGraphicFramePr>
          <p:nvPr/>
        </p:nvGraphicFramePr>
        <p:xfrm>
          <a:off x="2203939" y="1179331"/>
          <a:ext cx="6119446" cy="4647945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714237">
                  <a:extLst>
                    <a:ext uri="{9D8B030D-6E8A-4147-A177-3AD203B41FA5}">
                      <a16:colId xmlns:a16="http://schemas.microsoft.com/office/drawing/2014/main" val="929939796"/>
                    </a:ext>
                  </a:extLst>
                </a:gridCol>
                <a:gridCol w="3405209">
                  <a:extLst>
                    <a:ext uri="{9D8B030D-6E8A-4147-A177-3AD203B41FA5}">
                      <a16:colId xmlns:a16="http://schemas.microsoft.com/office/drawing/2014/main" val="1484386170"/>
                    </a:ext>
                  </a:extLst>
                </a:gridCol>
              </a:tblGrid>
              <a:tr h="5059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Morphophonological 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Expected 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7596423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Mû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500329386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Mû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630830219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Î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13883807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Kî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648554422"/>
                  </a:ext>
                </a:extLst>
              </a:tr>
              <a:tr h="394840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N, </a:t>
                      </a:r>
                      <a:r>
                        <a:rPr lang="en-US" sz="2400" cap="none" spc="0" dirty="0" err="1">
                          <a:solidFill>
                            <a:schemeClr val="tx1"/>
                          </a:solidFill>
                        </a:rPr>
                        <a:t>ø</a:t>
                      </a:r>
                      <a:endParaRPr lang="en-US" sz="2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788182576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Rû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954455200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Ka-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3998875085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265091397"/>
                  </a:ext>
                </a:extLst>
              </a:tr>
              <a:tr h="346653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 err="1">
                          <a:solidFill>
                            <a:schemeClr val="tx1"/>
                          </a:solidFill>
                        </a:rPr>
                        <a:t>Kû</a:t>
                      </a:r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 marL="89163" marR="89163" marT="44582" marB="8916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89163" marR="89163" marT="44582" marB="89163"/>
                </a:tc>
                <a:extLst>
                  <a:ext uri="{0D108BD9-81ED-4DB2-BD59-A6C34878D82A}">
                    <a16:rowId xmlns:a16="http://schemas.microsoft.com/office/drawing/2014/main" val="1949502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567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55"/>
    </mc:Choice>
    <mc:Fallback xmlns="">
      <p:transition spd="slow" advTm="8655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1389234"/>
            <a:ext cx="4818888" cy="73217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Stimuli</a:t>
            </a: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465064" cy="29254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fontAlgn="base"/>
            <a:r>
              <a:rPr lang="en-US" sz="2200" dirty="0">
                <a:latin typeface="+mn-lt"/>
              </a:rPr>
              <a:t>Participants saw a (non)prefixed novel noun followed by a short sentence with two gaps, as in </a:t>
            </a:r>
            <a:r>
              <a:rPr lang="en-US" sz="2200" i="1" dirty="0" err="1">
                <a:latin typeface="+mn-lt"/>
              </a:rPr>
              <a:t>Nkwona</a:t>
            </a:r>
            <a:r>
              <a:rPr lang="en-US" sz="2200" i="1" dirty="0">
                <a:latin typeface="+mn-lt"/>
              </a:rPr>
              <a:t> ____ _</a:t>
            </a:r>
            <a:r>
              <a:rPr lang="en-US" sz="2200" i="1" dirty="0" err="1">
                <a:latin typeface="+mn-lt"/>
              </a:rPr>
              <a:t>mwe</a:t>
            </a:r>
            <a:r>
              <a:rPr lang="en-US" sz="2200" dirty="0">
                <a:latin typeface="+mn-lt"/>
              </a:rPr>
              <a:t> “I have seen _one ____”.</a:t>
            </a:r>
          </a:p>
          <a:p>
            <a:pPr lvl="2" fontAlgn="base"/>
            <a:r>
              <a:rPr lang="en-US" sz="2200" dirty="0">
                <a:latin typeface="+mn-lt"/>
              </a:rPr>
              <a:t>Required to fill in the gaps using the noun seen and its agreement</a:t>
            </a:r>
          </a:p>
          <a:p>
            <a:pPr marL="914400" lvl="2" fontAlgn="base"/>
            <a:endParaRPr lang="en-US" sz="2200" dirty="0">
              <a:latin typeface="+mn-lt"/>
            </a:endParaRPr>
          </a:p>
          <a:p>
            <a:pPr marL="685800" lvl="2" fontAlgn="base"/>
            <a:endParaRPr lang="en-US" sz="2200" dirty="0">
              <a:latin typeface="+mn-lt"/>
            </a:endParaRPr>
          </a:p>
          <a:p>
            <a:pPr marL="457200" lvl="1" fontAlgn="base"/>
            <a:endParaRPr lang="en-US" sz="2200" dirty="0"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24C967-0C4D-06E9-65E6-A448C0D018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625" y="958818"/>
            <a:ext cx="4721390" cy="42728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2800"/>
              <a:pPr>
                <a:spcAft>
                  <a:spcPts val="600"/>
                </a:spcAft>
              </a:pPr>
              <a:t>25</a:t>
            </a:fld>
            <a:endParaRPr lang="en-US" sz="2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E0ED8E-DE23-C2FE-AE44-C5BEDA640214}"/>
              </a:ext>
            </a:extLst>
          </p:cNvPr>
          <p:cNvCxnSpPr>
            <a:cxnSpLocks/>
          </p:cNvCxnSpPr>
          <p:nvPr/>
        </p:nvCxnSpPr>
        <p:spPr>
          <a:xfrm>
            <a:off x="8291384" y="2224216"/>
            <a:ext cx="1210962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9C8FD3-1445-D80F-11E1-7D7DD83D109F}"/>
              </a:ext>
            </a:extLst>
          </p:cNvPr>
          <p:cNvCxnSpPr>
            <a:cxnSpLocks/>
          </p:cNvCxnSpPr>
          <p:nvPr/>
        </p:nvCxnSpPr>
        <p:spPr>
          <a:xfrm>
            <a:off x="10117344" y="2218161"/>
            <a:ext cx="300681" cy="374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17B7493-8B68-759F-E16D-D10B28CD85F2}"/>
              </a:ext>
            </a:extLst>
          </p:cNvPr>
          <p:cNvSpPr txBox="1"/>
          <p:nvPr/>
        </p:nvSpPr>
        <p:spPr>
          <a:xfrm>
            <a:off x="1173892" y="457200"/>
            <a:ext cx="3285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Morphophonological experiment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946D5C3-9807-E652-AA40-FDBC44446A91}"/>
              </a:ext>
            </a:extLst>
          </p:cNvPr>
          <p:cNvSpPr txBox="1">
            <a:spLocks/>
          </p:cNvSpPr>
          <p:nvPr/>
        </p:nvSpPr>
        <p:spPr>
          <a:xfrm>
            <a:off x="838199" y="291090"/>
            <a:ext cx="10515599" cy="932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b="1" dirty="0"/>
              <a:t>Morphophonological experiment</a:t>
            </a:r>
          </a:p>
        </p:txBody>
      </p:sp>
    </p:spTree>
    <p:extLst>
      <p:ext uri="{BB962C8B-B14F-4D97-AF65-F5344CB8AC3E}">
        <p14:creationId xmlns:p14="http://schemas.microsoft.com/office/powerpoint/2010/main" val="286522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5" y="1087958"/>
            <a:ext cx="10640786" cy="3630999"/>
          </a:xfrm>
        </p:spPr>
        <p:txBody>
          <a:bodyPr vert="horz" lIns="91440" tIns="45720" rIns="91440" bIns="45720" rtlCol="0" anchor="ctr">
            <a:noAutofit/>
          </a:bodyPr>
          <a:lstStyle/>
          <a:p>
            <a:pPr lvl="1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Prefix-agreement pairing tested in three levels:</a:t>
            </a:r>
          </a:p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Singular prefix – singular agreement</a:t>
            </a:r>
          </a:p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Plural prefix – Plural agreement</a:t>
            </a:r>
          </a:p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Singular prefix – Plural noun + agreement</a:t>
            </a:r>
          </a:p>
          <a:p>
            <a:pPr lvl="2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Participants (30 native speakers, age 18-45)</a:t>
            </a:r>
          </a:p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Experiment 2: Morphophonological features tested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95223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Results: productive morphophonological features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27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C6A8-AACA-8B66-34BC-AE08485AA729}"/>
              </a:ext>
            </a:extLst>
          </p:cNvPr>
          <p:cNvSpPr txBox="1"/>
          <p:nvPr/>
        </p:nvSpPr>
        <p:spPr>
          <a:xfrm>
            <a:off x="5408355" y="849549"/>
            <a:ext cx="451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singular stimulus – singular agreement (class)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021DB-E043-3549-4EE6-F6215B881971}"/>
              </a:ext>
            </a:extLst>
          </p:cNvPr>
          <p:cNvSpPr txBox="1"/>
          <p:nvPr/>
        </p:nvSpPr>
        <p:spPr>
          <a:xfrm>
            <a:off x="469557" y="1754659"/>
            <a:ext cx="35834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Both singular and plural prefixes highly productive as cues to agreement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Singular prefixes – plural prefixes/classes have reduced productivity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64557F4-279E-18E5-3DEB-366CCE4733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043" y="1305353"/>
            <a:ext cx="7772400" cy="480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8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Results: productive morphophonological features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28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C6A8-AACA-8B66-34BC-AE08485AA729}"/>
              </a:ext>
            </a:extLst>
          </p:cNvPr>
          <p:cNvSpPr txBox="1"/>
          <p:nvPr/>
        </p:nvSpPr>
        <p:spPr>
          <a:xfrm>
            <a:off x="5694936" y="1109168"/>
            <a:ext cx="4287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singular stimulus – plural agreement (class)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021DB-E043-3549-4EE6-F6215B881971}"/>
              </a:ext>
            </a:extLst>
          </p:cNvPr>
          <p:cNvSpPr txBox="1"/>
          <p:nvPr/>
        </p:nvSpPr>
        <p:spPr>
          <a:xfrm>
            <a:off x="469557" y="1754659"/>
            <a:ext cx="35834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Both singular and plural prefixes highly productive as cues to agreement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Singular prefixes – plural prefixes/classes have reduced productivity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E76013-0534-4318-5842-38ED1E84D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519" y="1774092"/>
            <a:ext cx="6706643" cy="414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1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hart, bar chart&#10;&#10;Description automatically generated">
            <a:extLst>
              <a:ext uri="{FF2B5EF4-FFF2-40B4-BE49-F238E27FC236}">
                <a16:creationId xmlns:a16="http://schemas.microsoft.com/office/drawing/2014/main" id="{3D27D1EB-4B49-4513-1AFB-83F15A091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606" y="1524873"/>
            <a:ext cx="7355698" cy="4597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67A2AE-5B73-8AB6-E31B-E05E823E5B7B}"/>
              </a:ext>
            </a:extLst>
          </p:cNvPr>
          <p:cNvSpPr txBox="1"/>
          <p:nvPr/>
        </p:nvSpPr>
        <p:spPr>
          <a:xfrm flipH="1">
            <a:off x="7996100" y="4526224"/>
            <a:ext cx="558204" cy="41868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0843D-BD60-A24D-AD01-123D041FB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latin typeface="Helvetica" pitchFamily="2" charset="0"/>
              </a:rPr>
              <a:t>Results: productive morphophonological features</a:t>
            </a:r>
            <a:endParaRPr lang="en-US" kern="12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62FC9-7321-5228-666C-FF3DAA928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29</a:t>
            </a:fld>
            <a:endParaRPr lang="en-US" sz="2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5548E51-09F3-07D6-BC29-189F67CDE59E}"/>
              </a:ext>
            </a:extLst>
          </p:cNvPr>
          <p:cNvSpPr txBox="1">
            <a:spLocks/>
          </p:cNvSpPr>
          <p:nvPr/>
        </p:nvSpPr>
        <p:spPr>
          <a:xfrm>
            <a:off x="293914" y="940027"/>
            <a:ext cx="11604171" cy="497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  <a:p>
            <a:pPr marL="514350" indent="-514350">
              <a:buFont typeface="Arial" panose="020B0604020202020204" pitchFamily="34" charset="0"/>
              <a:buAutoNum type="romanLcParenR"/>
            </a:pP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C8C6A8-AACA-8B66-34BC-AE08485AA729}"/>
              </a:ext>
            </a:extLst>
          </p:cNvPr>
          <p:cNvSpPr txBox="1"/>
          <p:nvPr/>
        </p:nvSpPr>
        <p:spPr>
          <a:xfrm>
            <a:off x="293914" y="1047784"/>
            <a:ext cx="4287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singular stimulus – plural agreement (class)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FF4CDA-3F9B-76BF-E34D-D829B9B0F62F}"/>
              </a:ext>
            </a:extLst>
          </p:cNvPr>
          <p:cNvSpPr txBox="1"/>
          <p:nvPr/>
        </p:nvSpPr>
        <p:spPr>
          <a:xfrm>
            <a:off x="9530862" y="1887415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C674B-0400-9A9F-731D-A810F77528D1}"/>
              </a:ext>
            </a:extLst>
          </p:cNvPr>
          <p:cNvSpPr txBox="1"/>
          <p:nvPr/>
        </p:nvSpPr>
        <p:spPr>
          <a:xfrm>
            <a:off x="7758713" y="5044941"/>
            <a:ext cx="28346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NA: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Impossible prefix –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agr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pairing (few) </a:t>
            </a:r>
          </a:p>
          <a:p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or incomplete: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Ntagi</a:t>
            </a:r>
            <a:r>
              <a: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îthatû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Nciira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9360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928" y="900472"/>
            <a:ext cx="11395192" cy="4951688"/>
          </a:xfrm>
        </p:spPr>
        <p:txBody>
          <a:bodyPr vert="horz" lIns="91440" tIns="45720" rIns="91440" bIns="45720" rtlCol="0" anchor="ctr">
            <a:noAutofit/>
          </a:bodyPr>
          <a:lstStyle/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experimental results largely mirrors the the TP predictions:</a:t>
            </a:r>
          </a:p>
          <a:p>
            <a:pPr lvl="3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¾ features predicted by TP are productive.</a:t>
            </a:r>
          </a:p>
          <a:p>
            <a:pPr lvl="3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Augmentative unproductive in the experiment</a:t>
            </a:r>
          </a:p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Productivity of ‘other’ at chance in the experiment (was unproductive in the corpus)</a:t>
            </a:r>
          </a:p>
          <a:p>
            <a:pPr marL="1371600" lvl="3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454"/>
            <a:ext cx="12192000" cy="867017"/>
          </a:xfrm>
        </p:spPr>
        <p:txBody>
          <a:bodyPr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Helvetica" pitchFamily="2" charset="0"/>
              </a:rPr>
              <a:t>Does Experiment 1 confirm TP predictions?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30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125652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All prefixes productive in the corpus also productive in the experiment</a:t>
            </a:r>
          </a:p>
          <a:p>
            <a:r>
              <a:rPr lang="en-US" dirty="0"/>
              <a:t>The </a:t>
            </a:r>
            <a:r>
              <a:rPr lang="en-US" i="1" dirty="0" err="1"/>
              <a:t>mû</a:t>
            </a:r>
            <a:r>
              <a:rPr lang="en-US" i="1" dirty="0"/>
              <a:t>-</a:t>
            </a:r>
            <a:r>
              <a:rPr lang="en-US" dirty="0"/>
              <a:t> prefix is interesting–only productive for class 3 </a:t>
            </a:r>
          </a:p>
          <a:p>
            <a:pPr lvl="1"/>
            <a:r>
              <a:rPr lang="en-US" dirty="0"/>
              <a:t>Prefix is underspecified– but why is it overwhelmingly productive for class 3?</a:t>
            </a:r>
          </a:p>
          <a:p>
            <a:pPr lvl="2"/>
            <a:r>
              <a:rPr lang="en-US" dirty="0"/>
              <a:t> Could be a default morphophonological rule that applies  in the absence of semantic specification</a:t>
            </a:r>
          </a:p>
          <a:p>
            <a:pPr lvl="2"/>
            <a:r>
              <a:rPr lang="en-US" dirty="0"/>
              <a:t>Could be because non-human are more represented in the world than humans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Does Experiment 2 confirm TP predictions?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18070-21C2-0500-E88C-0F6BBDB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31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5464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03015-5434-FB2C-4AD0-FF2CFDACC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5" y="1074510"/>
            <a:ext cx="11136086" cy="5021489"/>
          </a:xfrm>
        </p:spPr>
        <p:txBody>
          <a:bodyPr>
            <a:normAutofit fontScale="47500" lnSpcReduction="20000"/>
          </a:bodyPr>
          <a:lstStyle/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5100" dirty="0"/>
              <a:t>A theory of productivity is instrumental in establishing which features productively determine nominal (gender) agreement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5100" dirty="0"/>
              <a:t>Experimental results reflect TP based results to a greater extent.</a:t>
            </a:r>
          </a:p>
          <a:p>
            <a:pPr lvl="0">
              <a:lnSpc>
                <a:spcPct val="100000"/>
              </a:lnSpc>
              <a:spcAft>
                <a:spcPts val="1200"/>
              </a:spcAft>
            </a:pPr>
            <a:r>
              <a:rPr lang="en-GB" sz="5100" dirty="0"/>
              <a:t>Both semantics and formal features are necessary cues to class in Kîîtharaka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5100" dirty="0"/>
              <a:t>Semantics- human–nonhuman distinction (class 1/2 vs others); evaluation (class 5, 7, 12)</a:t>
            </a:r>
          </a:p>
          <a:p>
            <a:pPr lvl="1">
              <a:lnSpc>
                <a:spcPct val="100000"/>
              </a:lnSpc>
              <a:spcAft>
                <a:spcPts val="1200"/>
              </a:spcAft>
            </a:pPr>
            <a:r>
              <a:rPr lang="en-GB" sz="5100" dirty="0"/>
              <a:t>Morphophonology- applies productively for all non-human non-evaluative classes</a:t>
            </a:r>
          </a:p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GB" sz="5100" dirty="0"/>
              <a:t>Singular-plural class mapping somewhat regular in 1/3, 9 and 14 and less of it in other classes (level 3 exp. 2) – interesting?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00900-B791-EF91-4CBC-F94A51F5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18070-21C2-0500-E88C-0F6BBDB9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32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38572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B1CC-22EB-4B19-9BB4-DF396C46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000" dirty="0">
              <a:cs typeface="Calibri"/>
            </a:endParaRPr>
          </a:p>
          <a:p>
            <a:pPr marL="0" indent="0">
              <a:buNone/>
            </a:pPr>
            <a:endParaRPr lang="en-US" sz="2000" dirty="0">
              <a:cs typeface="Calibri"/>
            </a:endParaRPr>
          </a:p>
          <a:p>
            <a:pPr marL="0" indent="0" algn="ctr">
              <a:buNone/>
            </a:pPr>
            <a:r>
              <a:rPr lang="en-US" sz="5400" dirty="0">
                <a:cs typeface="Calibri"/>
              </a:rPr>
              <a:t>I </a:t>
            </a:r>
            <a:r>
              <a:rPr lang="en-US" sz="5400" dirty="0" err="1">
                <a:cs typeface="Calibri"/>
              </a:rPr>
              <a:t>bwega</a:t>
            </a:r>
            <a:r>
              <a:rPr lang="en-US" sz="5400" dirty="0">
                <a:cs typeface="Calibri"/>
              </a:rPr>
              <a:t>!</a:t>
            </a:r>
          </a:p>
          <a:p>
            <a:pPr marL="0" indent="0" algn="ctr">
              <a:buNone/>
            </a:pPr>
            <a:r>
              <a:rPr lang="en-US" sz="5400" dirty="0">
                <a:cs typeface="Calibri"/>
              </a:rPr>
              <a:t>Thank you!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1B9A84-60F0-7D71-6343-A8A4D04C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End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84C62C-138C-3503-4343-9CE0302E4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2117692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DB1CC-22EB-4B19-9BB4-DF396C462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25000" lnSpcReduction="20000"/>
          </a:bodyPr>
          <a:lstStyle/>
          <a:p>
            <a:r>
              <a:rPr lang="en-GB" dirty="0" err="1"/>
              <a:t>Aikhenvald</a:t>
            </a:r>
            <a:r>
              <a:rPr lang="en-GB" dirty="0"/>
              <a:t>, A. (2003). </a:t>
            </a:r>
            <a:r>
              <a:rPr lang="en-GB" i="1" dirty="0"/>
              <a:t>Classifiers: A typology of noun categorization devices.</a:t>
            </a:r>
            <a:r>
              <a:rPr lang="en-GB" dirty="0"/>
              <a:t> Oxford: Oxford University Press.</a:t>
            </a:r>
          </a:p>
          <a:p>
            <a:r>
              <a:rPr lang="en-GB" dirty="0" err="1"/>
              <a:t>Amidu</a:t>
            </a:r>
            <a:r>
              <a:rPr lang="en-GB" dirty="0"/>
              <a:t>, A.A. 1997. </a:t>
            </a:r>
            <a:r>
              <a:rPr lang="en-GB" i="1" dirty="0"/>
              <a:t>Classes in Kiswahili</a:t>
            </a:r>
            <a:r>
              <a:rPr lang="en-GB" dirty="0"/>
              <a:t>. Köln: </a:t>
            </a:r>
            <a:r>
              <a:rPr lang="en-GB" dirty="0" err="1"/>
              <a:t>Rüdiger</a:t>
            </a:r>
            <a:r>
              <a:rPr lang="en-GB" dirty="0"/>
              <a:t> </a:t>
            </a:r>
            <a:r>
              <a:rPr lang="en-GB" dirty="0" err="1"/>
              <a:t>Köppe</a:t>
            </a:r>
            <a:r>
              <a:rPr lang="en-GB" dirty="0"/>
              <a:t> Verlag.</a:t>
            </a:r>
          </a:p>
          <a:p>
            <a:r>
              <a:rPr lang="en-GB" dirty="0"/>
              <a:t>Bible Translation &amp; Literacy (EA). (2019). </a:t>
            </a:r>
            <a:r>
              <a:rPr lang="en-GB" i="1" dirty="0" err="1"/>
              <a:t>Bibiria</a:t>
            </a:r>
            <a:r>
              <a:rPr lang="en-GB" i="1" dirty="0"/>
              <a:t>: </a:t>
            </a:r>
            <a:r>
              <a:rPr lang="en-GB" i="1" dirty="0" err="1"/>
              <a:t>Kîrîîkanîro</a:t>
            </a:r>
            <a:r>
              <a:rPr lang="en-GB" i="1" dirty="0"/>
              <a:t> </a:t>
            </a:r>
            <a:r>
              <a:rPr lang="en-GB" i="1" dirty="0" err="1"/>
              <a:t>kîra</a:t>
            </a:r>
            <a:r>
              <a:rPr lang="en-GB" i="1" dirty="0"/>
              <a:t> </a:t>
            </a:r>
            <a:r>
              <a:rPr lang="en-GB" i="1" dirty="0" err="1"/>
              <a:t>gîkûrû</a:t>
            </a:r>
            <a:r>
              <a:rPr lang="en-GB" i="1" dirty="0"/>
              <a:t> </a:t>
            </a:r>
            <a:r>
              <a:rPr lang="en-GB" i="1" dirty="0" err="1"/>
              <a:t>na</a:t>
            </a:r>
            <a:r>
              <a:rPr lang="en-GB" i="1" dirty="0"/>
              <a:t> </a:t>
            </a:r>
            <a:r>
              <a:rPr lang="en-GB" i="1" dirty="0" err="1"/>
              <a:t>kîrîîkanîro</a:t>
            </a:r>
            <a:r>
              <a:rPr lang="en-GB" i="1" dirty="0"/>
              <a:t> </a:t>
            </a:r>
            <a:r>
              <a:rPr lang="en-GB" i="1" dirty="0" err="1"/>
              <a:t>kîra</a:t>
            </a:r>
            <a:r>
              <a:rPr lang="en-GB" i="1" dirty="0"/>
              <a:t> </a:t>
            </a:r>
            <a:r>
              <a:rPr lang="en-GB" i="1" dirty="0" err="1"/>
              <a:t>kîyerû</a:t>
            </a:r>
            <a:r>
              <a:rPr lang="en-GB" i="1" dirty="0"/>
              <a:t>.</a:t>
            </a:r>
            <a:r>
              <a:rPr lang="en-GB" dirty="0"/>
              <a:t> Nairobi: Bible Translation &amp; Literacy (EA).</a:t>
            </a:r>
          </a:p>
          <a:p>
            <a:r>
              <a:rPr lang="en-GB" dirty="0" err="1"/>
              <a:t>Bleek</a:t>
            </a:r>
            <a:r>
              <a:rPr lang="en-GB" dirty="0"/>
              <a:t>, W.H.I. (1862-1969). A Comparative Grammar of South African Languages, I: Phonology (1862), II: The Concord, section I: The Noun (1869). London: </a:t>
            </a:r>
            <a:r>
              <a:rPr lang="en-GB" dirty="0" err="1"/>
              <a:t>Trubner</a:t>
            </a:r>
            <a:r>
              <a:rPr lang="en-GB" dirty="0"/>
              <a:t>. (Republished 1971 in one volume, Farnborough: Gregg.)</a:t>
            </a:r>
          </a:p>
          <a:p>
            <a:r>
              <a:rPr lang="en-GB" dirty="0"/>
              <a:t>Brooks, P. J., Braine, M. D., Catalano, L., Brody, R. E., &amp; Sudhalter, V. (1993). Acquisition of gender-like noun subclasses in an artificial language: The contribution of phonological markers to learning. Journal of Memory and Language, 32, 76–95.</a:t>
            </a:r>
          </a:p>
          <a:p>
            <a:r>
              <a:rPr lang="en-GB" dirty="0"/>
              <a:t>Carstens, V., (1991). The morphology and syntax of determiner phrases in Kiswahili. UCLA PhD thesis.</a:t>
            </a:r>
          </a:p>
          <a:p>
            <a:r>
              <a:rPr lang="en-GB" dirty="0"/>
              <a:t> Corbett, G.G. 1991. </a:t>
            </a:r>
            <a:r>
              <a:rPr lang="en-GB" i="1" dirty="0"/>
              <a:t>Gender</a:t>
            </a:r>
            <a:r>
              <a:rPr lang="en-GB" dirty="0"/>
              <a:t>. Cambridge Mass.: Cambridge University Press.</a:t>
            </a:r>
          </a:p>
          <a:p>
            <a:r>
              <a:rPr lang="en-GB" dirty="0"/>
              <a:t>Demuth, K. (1992). Acquisition of Sesotho. In </a:t>
            </a:r>
            <a:r>
              <a:rPr lang="en-GB" dirty="0" err="1"/>
              <a:t>Slobin</a:t>
            </a:r>
            <a:r>
              <a:rPr lang="en-GB" dirty="0"/>
              <a:t>, D. (Ed.), The cross-linguistic study of language acquisition (Vol. 3, pp. 557–638). Hillsdale, NJ: Lawrence Erlbaum.</a:t>
            </a:r>
          </a:p>
          <a:p>
            <a:r>
              <a:rPr lang="en-GB" dirty="0"/>
              <a:t>Demuth, K. (1994). On the ‘</a:t>
            </a:r>
            <a:r>
              <a:rPr lang="en-GB" dirty="0" err="1"/>
              <a:t>underspecification</a:t>
            </a:r>
            <a:r>
              <a:rPr lang="en-GB" dirty="0"/>
              <a:t>’ of functional categories in early grammars. In Lust, B., </a:t>
            </a:r>
            <a:r>
              <a:rPr lang="en-GB" dirty="0" err="1"/>
              <a:t>Suñer</a:t>
            </a:r>
            <a:r>
              <a:rPr lang="en-GB" dirty="0"/>
              <a:t>, M., Whitman, J. (Eds.), Syntactic theory and first language acquisition: Cross-linguistic perspectives (pp. 119–134). Hillsdale, NJ: Lawrence Erlbaum.</a:t>
            </a:r>
          </a:p>
          <a:p>
            <a:r>
              <a:rPr lang="en-GB" dirty="0"/>
              <a:t>Demuth, K. (2000). Bantu noun class system: Loan words and acquisition. (G. </a:t>
            </a:r>
            <a:r>
              <a:rPr lang="en-GB" dirty="0" err="1"/>
              <a:t>Senft</a:t>
            </a:r>
            <a:r>
              <a:rPr lang="en-GB" dirty="0"/>
              <a:t>, Ed.) </a:t>
            </a:r>
            <a:r>
              <a:rPr lang="en-GB" i="1" dirty="0"/>
              <a:t>Classification Systems</a:t>
            </a:r>
            <a:r>
              <a:rPr lang="en-GB" dirty="0"/>
              <a:t>, 270-292.</a:t>
            </a:r>
          </a:p>
          <a:p>
            <a:r>
              <a:rPr lang="en-GB" dirty="0"/>
              <a:t>Demuth, K., &amp; Ellis, D. (2008). Revisiting the acquisition of Sesotho noun class prefixes. Mahwah, NJ: Lawrence Erlbaum.</a:t>
            </a:r>
          </a:p>
          <a:p>
            <a:r>
              <a:rPr lang="en-GB" dirty="0"/>
              <a:t>Denny, J.P. &amp; </a:t>
            </a:r>
            <a:r>
              <a:rPr lang="en-GB" dirty="0" err="1"/>
              <a:t>Creider</a:t>
            </a:r>
            <a:r>
              <a:rPr lang="en-GB" dirty="0"/>
              <a:t>, C.A. 1986. The semantics of noun classes in Proto-Bantu. In </a:t>
            </a:r>
            <a:r>
              <a:rPr lang="en-GB" i="1" dirty="0"/>
              <a:t>Noun classes and categorization</a:t>
            </a:r>
            <a:r>
              <a:rPr lang="en-GB" dirty="0"/>
              <a:t>. C. Craig, Ed. Amsterdam/ Philadelphia: John </a:t>
            </a:r>
            <a:r>
              <a:rPr lang="en-GB" dirty="0" err="1"/>
              <a:t>Benjamins</a:t>
            </a:r>
            <a:r>
              <a:rPr lang="en-GB" dirty="0"/>
              <a:t> Publishing Company.</a:t>
            </a:r>
          </a:p>
          <a:p>
            <a:r>
              <a:rPr lang="en-GB" dirty="0"/>
              <a:t>Desrochers, A., </a:t>
            </a:r>
            <a:r>
              <a:rPr lang="en-GB" dirty="0" err="1"/>
              <a:t>Paivio</a:t>
            </a:r>
            <a:r>
              <a:rPr lang="en-GB" dirty="0"/>
              <a:t>, A., &amp; Desrochers, S. (1989). </a:t>
            </a:r>
            <a:r>
              <a:rPr lang="en-GB" dirty="0" err="1"/>
              <a:t>L’effet</a:t>
            </a:r>
            <a:r>
              <a:rPr lang="en-GB" dirty="0"/>
              <a:t> de la </a:t>
            </a:r>
            <a:r>
              <a:rPr lang="en-GB" dirty="0" err="1"/>
              <a:t>fréquence</a:t>
            </a:r>
            <a:r>
              <a:rPr lang="en-GB" dirty="0"/>
              <a:t> </a:t>
            </a:r>
            <a:r>
              <a:rPr lang="en-GB" dirty="0" err="1"/>
              <a:t>d’usage</a:t>
            </a:r>
            <a:r>
              <a:rPr lang="en-GB" dirty="0"/>
              <a:t> des </a:t>
            </a:r>
            <a:r>
              <a:rPr lang="en-GB" dirty="0" err="1"/>
              <a:t>noms</a:t>
            </a:r>
            <a:r>
              <a:rPr lang="en-GB" dirty="0"/>
              <a:t> </a:t>
            </a:r>
            <a:r>
              <a:rPr lang="en-GB" dirty="0" err="1"/>
              <a:t>inanimés</a:t>
            </a:r>
            <a:r>
              <a:rPr lang="en-GB" dirty="0"/>
              <a:t> et de la </a:t>
            </a:r>
            <a:r>
              <a:rPr lang="en-GB" dirty="0" err="1"/>
              <a:t>valeur</a:t>
            </a:r>
            <a:r>
              <a:rPr lang="en-GB" dirty="0"/>
              <a:t> </a:t>
            </a:r>
            <a:r>
              <a:rPr lang="en-GB" dirty="0" err="1"/>
              <a:t>prédictive</a:t>
            </a:r>
            <a:r>
              <a:rPr lang="en-GB" dirty="0"/>
              <a:t> de </a:t>
            </a:r>
            <a:r>
              <a:rPr lang="en-GB" dirty="0" err="1"/>
              <a:t>leur</a:t>
            </a:r>
            <a:r>
              <a:rPr lang="en-GB" dirty="0"/>
              <a:t> </a:t>
            </a:r>
            <a:r>
              <a:rPr lang="en-GB" dirty="0" err="1"/>
              <a:t>terminaison</a:t>
            </a:r>
            <a:r>
              <a:rPr lang="en-GB" dirty="0"/>
              <a:t> sur </a:t>
            </a:r>
            <a:r>
              <a:rPr lang="en-GB" dirty="0" err="1"/>
              <a:t>l’identification</a:t>
            </a:r>
            <a:r>
              <a:rPr lang="en-GB" dirty="0"/>
              <a:t> du genre grammatical. </a:t>
            </a:r>
            <a:r>
              <a:rPr lang="en-GB" i="1" dirty="0"/>
              <a:t>Revue Canadienne de </a:t>
            </a:r>
            <a:r>
              <a:rPr lang="en-GB" i="1" dirty="0" err="1"/>
              <a:t>Psychologie</a:t>
            </a:r>
            <a:r>
              <a:rPr lang="en-GB" i="1" dirty="0"/>
              <a:t>, </a:t>
            </a:r>
            <a:r>
              <a:rPr lang="en-GB" b="1" dirty="0"/>
              <a:t>43, </a:t>
            </a:r>
            <a:r>
              <a:rPr lang="en-GB" dirty="0"/>
              <a:t>62–73.</a:t>
            </a:r>
          </a:p>
          <a:p>
            <a:r>
              <a:rPr lang="en-GB" dirty="0"/>
              <a:t>Dixon, R. (1986). Noun classes and noun classification in typological perspective. In C. G. Craig (Ed.), Noun classes and categorization (pp. 105–112). Philadelphia, PA: John </a:t>
            </a:r>
            <a:r>
              <a:rPr lang="en-GB" dirty="0" err="1"/>
              <a:t>Benjamins</a:t>
            </a:r>
            <a:r>
              <a:rPr lang="en-GB" dirty="0"/>
              <a:t>.</a:t>
            </a:r>
          </a:p>
          <a:p>
            <a:r>
              <a:rPr lang="en-GB" dirty="0"/>
              <a:t>Eberhard, David M, F. Simons and Charles, D. (2019). </a:t>
            </a:r>
            <a:r>
              <a:rPr lang="en-GB" i="1" dirty="0"/>
              <a:t>Kîîtharaka.</a:t>
            </a:r>
            <a:r>
              <a:rPr lang="en-GB" dirty="0"/>
              <a:t> (</a:t>
            </a:r>
            <a:r>
              <a:rPr lang="en-GB" dirty="0" err="1"/>
              <a:t>Fennigh</a:t>
            </a:r>
            <a:r>
              <a:rPr lang="en-GB" dirty="0"/>
              <a:t>, Ed.) Retrieved 09 28, 2019, from </a:t>
            </a:r>
            <a:r>
              <a:rPr lang="en-GB" dirty="0" err="1"/>
              <a:t>Ethnologue</a:t>
            </a:r>
            <a:r>
              <a:rPr lang="en-GB" dirty="0"/>
              <a:t>: Languages of the World: http://</a:t>
            </a:r>
            <a:r>
              <a:rPr lang="en-GB" dirty="0" err="1"/>
              <a:t>www.ethnologue.com</a:t>
            </a:r>
            <a:endParaRPr lang="en-GB" dirty="0"/>
          </a:p>
          <a:p>
            <a:r>
              <a:rPr lang="en-GB" dirty="0" err="1"/>
              <a:t>Frigo</a:t>
            </a:r>
            <a:r>
              <a:rPr lang="en-GB" dirty="0"/>
              <a:t>, L., &amp; McDonald, J. (1998). Properties of phonological markers that affect the acquisition of gender-like subclasses. Journal of Memory and Language, 39, 218–245.</a:t>
            </a:r>
          </a:p>
          <a:p>
            <a:r>
              <a:rPr lang="en-GB" dirty="0"/>
              <a:t>Gagliardi, A. and </a:t>
            </a:r>
            <a:r>
              <a:rPr lang="en-GB" dirty="0" err="1"/>
              <a:t>Lidz</a:t>
            </a:r>
            <a:r>
              <a:rPr lang="en-GB" dirty="0"/>
              <a:t>, J. (2014). Statistical insensitivity in the acquisition of </a:t>
            </a:r>
            <a:r>
              <a:rPr lang="en-GB" dirty="0" err="1"/>
              <a:t>Tsez</a:t>
            </a:r>
            <a:r>
              <a:rPr lang="en-GB" dirty="0"/>
              <a:t> noun classes. Language, 90(1):58–89..</a:t>
            </a:r>
          </a:p>
          <a:p>
            <a:r>
              <a:rPr lang="en-GB" dirty="0" err="1"/>
              <a:t>Givón</a:t>
            </a:r>
            <a:r>
              <a:rPr lang="en-GB" dirty="0"/>
              <a:t>, T. (1971b). Historical syntax and synchronic morphology: an archaeologist's field trip. </a:t>
            </a:r>
            <a:r>
              <a:rPr lang="en-GB" i="1" dirty="0"/>
              <a:t>CLS</a:t>
            </a:r>
            <a:r>
              <a:rPr lang="en-GB" dirty="0"/>
              <a:t>. 7:394–415.</a:t>
            </a:r>
          </a:p>
          <a:p>
            <a:r>
              <a:rPr lang="en-GB" dirty="0"/>
              <a:t>Guthrie, Malcolm (1967–71) </a:t>
            </a:r>
            <a:r>
              <a:rPr lang="en-GB" i="1" dirty="0"/>
              <a:t>Comparative Bantu: an introduction to the comparative linguistics and prehistory of the Bantu languages</a:t>
            </a:r>
            <a:r>
              <a:rPr lang="en-GB" dirty="0"/>
              <a:t>. 4 vols. Farnborough: Gregg Press.</a:t>
            </a:r>
          </a:p>
          <a:p>
            <a:r>
              <a:rPr lang="en-GB" dirty="0"/>
              <a:t>Hockett, C. F. (1958) A Course in Modern Linguistics. New York: Macmillan. 1966. What Algonquian is really like. </a:t>
            </a:r>
            <a:r>
              <a:rPr lang="en-GB" i="1" dirty="0"/>
              <a:t>International Journal of American Linguistics </a:t>
            </a:r>
            <a:r>
              <a:rPr lang="en-GB" dirty="0"/>
              <a:t>32:59-73</a:t>
            </a:r>
          </a:p>
          <a:p>
            <a:r>
              <a:rPr lang="en-GB" dirty="0" err="1"/>
              <a:t>Msaka</a:t>
            </a:r>
            <a:r>
              <a:rPr lang="en-GB" dirty="0"/>
              <a:t>, P.(2019) Nominal classification in </a:t>
            </a:r>
            <a:r>
              <a:rPr lang="en-GB" dirty="0" err="1"/>
              <a:t>bantu</a:t>
            </a:r>
            <a:r>
              <a:rPr lang="en-GB" dirty="0"/>
              <a:t> revisited: The perspective from Chichewa. PhD dissertation: </a:t>
            </a:r>
            <a:r>
              <a:rPr lang="en-GB" i="1" dirty="0"/>
              <a:t>Stellenbosch University. Available at:</a:t>
            </a:r>
            <a:r>
              <a:rPr lang="en-GB" dirty="0">
                <a:hlinkClick r:id="rId2"/>
              </a:rPr>
              <a:t> </a:t>
            </a:r>
            <a:r>
              <a:rPr lang="en-GB" i="1" dirty="0">
                <a:hlinkClick r:id="rId2"/>
              </a:rPr>
              <a:t>http://hdl.handle.net/10019.1/107220</a:t>
            </a:r>
            <a:endParaRPr lang="en-GB" dirty="0"/>
          </a:p>
          <a:p>
            <a:endParaRPr lang="en-GB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D1B9A84-60F0-7D71-6343-A8A4D04C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AF6EDD-9CA0-0BEF-6AE8-8D5D0D39F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079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1666"/>
            <a:ext cx="11795760" cy="524412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3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endParaRPr>
          </a:p>
          <a:p>
            <a:pPr lvl="3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endParaRPr>
          </a:p>
          <a:p>
            <a:pPr lvl="3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454"/>
            <a:ext cx="12192000" cy="867017"/>
          </a:xfrm>
        </p:spPr>
        <p:txBody>
          <a:bodyPr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Helvetica" pitchFamily="2" charset="0"/>
              </a:rPr>
              <a:t>Experiment 1 results: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What’s up with augmentative?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35</a:t>
            </a:fld>
            <a:endParaRPr lang="en-US" sz="2800" dirty="0"/>
          </a:p>
        </p:txBody>
      </p:sp>
      <p:pic>
        <p:nvPicPr>
          <p:cNvPr id="8" name="Picture 7" descr="Chart, bar chart&#10;&#10;Description automatically generated">
            <a:extLst>
              <a:ext uri="{FF2B5EF4-FFF2-40B4-BE49-F238E27FC236}">
                <a16:creationId xmlns:a16="http://schemas.microsoft.com/office/drawing/2014/main" id="{C4B8D975-5767-4657-4288-1B7217A75E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" y="900470"/>
            <a:ext cx="9524999" cy="59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594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1666"/>
            <a:ext cx="11795760" cy="524412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 possible merger in augmentative and pejorative encoding?</a:t>
            </a:r>
          </a:p>
          <a:p>
            <a:pPr lvl="2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Evidence from speaker’s lexicon show the morphemes associated with  augmentation and pejoration may be used interchangeably:</a:t>
            </a:r>
          </a:p>
          <a:p>
            <a:pPr lvl="3" fontAlgn="base"/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Îrori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 </a:t>
            </a:r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kîrori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“a lorry”</a:t>
            </a:r>
          </a:p>
          <a:p>
            <a:pPr lvl="3" fontAlgn="base"/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Îrinya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/</a:t>
            </a:r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kîrinya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 “a big hole/ditch”</a:t>
            </a:r>
          </a:p>
          <a:p>
            <a:pPr lvl="3" fontAlgn="base"/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Îthoka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/</a:t>
            </a:r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kîthoka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 “ an axe”</a:t>
            </a:r>
          </a:p>
          <a:p>
            <a:pPr lvl="3" fontAlgn="base"/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The two are also used to express disdainful tone:</a:t>
            </a:r>
          </a:p>
          <a:p>
            <a:pPr lvl="4" fontAlgn="base"/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Îmuntû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/</a:t>
            </a:r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kîmuntû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 </a:t>
            </a:r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rîrî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/</a:t>
            </a:r>
            <a:r>
              <a:rPr lang="en-GB" dirty="0" err="1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gîkî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sym typeface="Wingdings" pitchFamily="2" charset="2"/>
              </a:rPr>
              <a:t> “this bad person’</a:t>
            </a:r>
          </a:p>
          <a:p>
            <a:pPr lvl="4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endParaRPr>
          </a:p>
          <a:p>
            <a:pPr lvl="3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endParaRPr>
          </a:p>
          <a:p>
            <a:pPr lvl="3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sym typeface="Wingdings" pitchFamily="2" charset="2"/>
            </a:endParaRPr>
          </a:p>
          <a:p>
            <a:pPr lvl="3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2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457200" lvl="1" indent="0" fontAlgn="base">
              <a:buNone/>
            </a:pPr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454"/>
            <a:ext cx="12192000" cy="867017"/>
          </a:xfrm>
        </p:spPr>
        <p:txBody>
          <a:bodyPr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Helvetica" pitchFamily="2" charset="0"/>
              </a:rPr>
              <a:t>Experiment 1 results: </a:t>
            </a:r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What’s up with augmentative?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36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302721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74D142-4E60-95BD-E624-D1E1C6B6A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37</a:t>
            </a:fld>
            <a:endParaRPr lang="en-US" sz="2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4BF9CBC-D055-FFDE-3CC5-4FECCEE3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1"/>
            <a:ext cx="12192000" cy="867017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" pitchFamily="2" charset="0"/>
              </a:rPr>
              <a:t>Implication: a possible schema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E8787EB4-C67B-A47B-3599-6062E6A62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313711"/>
              </p:ext>
            </p:extLst>
          </p:nvPr>
        </p:nvGraphicFramePr>
        <p:xfrm>
          <a:off x="167640" y="869950"/>
          <a:ext cx="11655091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78">
                  <a:extLst>
                    <a:ext uri="{9D8B030D-6E8A-4147-A177-3AD203B41FA5}">
                      <a16:colId xmlns:a16="http://schemas.microsoft.com/office/drawing/2014/main" val="405318803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585029149"/>
                    </a:ext>
                  </a:extLst>
                </a:gridCol>
                <a:gridCol w="1719584">
                  <a:extLst>
                    <a:ext uri="{9D8B030D-6E8A-4147-A177-3AD203B41FA5}">
                      <a16:colId xmlns:a16="http://schemas.microsoft.com/office/drawing/2014/main" val="2256166331"/>
                    </a:ext>
                  </a:extLst>
                </a:gridCol>
                <a:gridCol w="1955413">
                  <a:extLst>
                    <a:ext uri="{9D8B030D-6E8A-4147-A177-3AD203B41FA5}">
                      <a16:colId xmlns:a16="http://schemas.microsoft.com/office/drawing/2014/main" val="764776912"/>
                    </a:ext>
                  </a:extLst>
                </a:gridCol>
                <a:gridCol w="2232825">
                  <a:extLst>
                    <a:ext uri="{9D8B030D-6E8A-4147-A177-3AD203B41FA5}">
                      <a16:colId xmlns:a16="http://schemas.microsoft.com/office/drawing/2014/main" val="2904648970"/>
                    </a:ext>
                  </a:extLst>
                </a:gridCol>
                <a:gridCol w="2861611">
                  <a:extLst>
                    <a:ext uri="{9D8B030D-6E8A-4147-A177-3AD203B41FA5}">
                      <a16:colId xmlns:a16="http://schemas.microsoft.com/office/drawing/2014/main" val="125124812"/>
                    </a:ext>
                  </a:extLst>
                </a:gridCol>
              </a:tblGrid>
              <a:tr h="834229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Helvetica" pitchFamily="2" charset="0"/>
                          <a:cs typeface="Times New Roman" panose="02020603050405020304" pitchFamily="18" charset="0"/>
                        </a:rPr>
                        <a:t>Noun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311396"/>
                  </a:ext>
                </a:extLst>
              </a:tr>
              <a:tr h="1775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[+Evaluative]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[-Evaluative]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4158764"/>
                  </a:ext>
                </a:extLst>
              </a:tr>
              <a:tr h="325366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Augmentative (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ma)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97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Pejorative (k(g)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bi)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Diminutive (k(g)a-k(g)a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1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[+Human 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(1/2)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[-human]</a:t>
                      </a:r>
                    </a:p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Morphophonological rules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2209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                                                                                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        (3/4)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445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ma      (5/6)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62046"/>
                  </a:ext>
                </a:extLst>
              </a:tr>
              <a:tr h="199824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k(g)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î-bî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   (7/8)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999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î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          (9/10)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787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Helvetica" pitchFamily="2" charset="0"/>
                          <a:cs typeface="Times New Roman" panose="02020603050405020304" pitchFamily="18" charset="0"/>
                        </a:rPr>
                        <a:t>k(g)a - tû (12/13)</a:t>
                      </a:r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710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– 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bû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    (14)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257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k(g)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– k(g)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(15)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4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Helvetica" pitchFamily="2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a - g(k)</a:t>
                      </a:r>
                      <a:r>
                        <a:rPr lang="en-US" dirty="0" err="1">
                          <a:latin typeface="Helvetica" pitchFamily="2" charset="0"/>
                          <a:cs typeface="Times New Roman" panose="02020603050405020304" pitchFamily="18" charset="0"/>
                        </a:rPr>
                        <a:t>û</a:t>
                      </a:r>
                      <a:r>
                        <a:rPr lang="en-US" dirty="0">
                          <a:latin typeface="Helvetica" pitchFamily="2" charset="0"/>
                          <a:cs typeface="Times New Roman" panose="02020603050405020304" pitchFamily="18" charset="0"/>
                        </a:rPr>
                        <a:t>   (16,17)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2592195"/>
                  </a:ext>
                </a:extLst>
              </a:tr>
            </a:tbl>
          </a:graphicData>
        </a:graphic>
      </p:graphicFrame>
      <p:grpSp>
        <p:nvGrpSpPr>
          <p:cNvPr id="17" name="Group 16">
            <a:extLst>
              <a:ext uri="{FF2B5EF4-FFF2-40B4-BE49-F238E27FC236}">
                <a16:creationId xmlns:a16="http://schemas.microsoft.com/office/drawing/2014/main" id="{F5293073-AF7B-1C3F-B4E0-703B780601F8}"/>
              </a:ext>
            </a:extLst>
          </p:cNvPr>
          <p:cNvGrpSpPr/>
          <p:nvPr/>
        </p:nvGrpSpPr>
        <p:grpSpPr>
          <a:xfrm>
            <a:off x="1037968" y="1261529"/>
            <a:ext cx="6425513" cy="1510488"/>
            <a:chOff x="1037968" y="1521026"/>
            <a:chExt cx="6425513" cy="151048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1049630-1F5F-434E-E0DD-B3F6D9EE0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968" y="1521026"/>
              <a:ext cx="2939672" cy="78969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8B8E277-0E4B-624A-D782-DD3168F5225E}"/>
                </a:ext>
              </a:extLst>
            </p:cNvPr>
            <p:cNvCxnSpPr>
              <a:cxnSpLocks/>
            </p:cNvCxnSpPr>
            <p:nvPr/>
          </p:nvCxnSpPr>
          <p:spPr>
            <a:xfrm>
              <a:off x="3977640" y="1524000"/>
              <a:ext cx="3485841" cy="7867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1394D51-596F-7D73-DC4C-54FCCE0ECB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960" y="2679331"/>
              <a:ext cx="1918485" cy="352183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B2C51C-49BA-9DD4-81D3-2A93522EA910}"/>
              </a:ext>
            </a:extLst>
          </p:cNvPr>
          <p:cNvCxnSpPr>
            <a:cxnSpLocks/>
          </p:cNvCxnSpPr>
          <p:nvPr/>
        </p:nvCxnSpPr>
        <p:spPr>
          <a:xfrm>
            <a:off x="7298205" y="2419834"/>
            <a:ext cx="2120115" cy="35218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ight Brace 1">
            <a:extLst>
              <a:ext uri="{FF2B5EF4-FFF2-40B4-BE49-F238E27FC236}">
                <a16:creationId xmlns:a16="http://schemas.microsoft.com/office/drawing/2014/main" id="{36991E6D-CBD2-B775-4481-C502CDC3F3A6}"/>
              </a:ext>
            </a:extLst>
          </p:cNvPr>
          <p:cNvSpPr/>
          <p:nvPr/>
        </p:nvSpPr>
        <p:spPr>
          <a:xfrm>
            <a:off x="2590800" y="2477181"/>
            <a:ext cx="213360" cy="59436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D62A1DE9-1743-7AFC-409F-0FA87BD677CA}"/>
              </a:ext>
            </a:extLst>
          </p:cNvPr>
          <p:cNvSpPr/>
          <p:nvPr/>
        </p:nvSpPr>
        <p:spPr>
          <a:xfrm>
            <a:off x="106680" y="2474837"/>
            <a:ext cx="213360" cy="59436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399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5" y="1087958"/>
            <a:ext cx="10640786" cy="3630999"/>
          </a:xfrm>
        </p:spPr>
        <p:txBody>
          <a:bodyPr vert="horz" lIns="91440" tIns="45720" rIns="91440" bIns="45720" rtlCol="0" anchor="ctr">
            <a:noAutofit/>
          </a:bodyPr>
          <a:lstStyle/>
          <a:p>
            <a:pPr lvl="1" fontAlgn="base"/>
            <a:endParaRPr lang="en-GB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Experiment 1: image stimuli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38</a:t>
            </a:fld>
            <a:endParaRPr lang="en-US" sz="2800" dirty="0"/>
          </a:p>
        </p:txBody>
      </p:sp>
      <p:pic>
        <p:nvPicPr>
          <p:cNvPr id="8" name="Picture 7" descr="A picture containing toy&#10;&#10;Description automatically generated">
            <a:extLst>
              <a:ext uri="{FF2B5EF4-FFF2-40B4-BE49-F238E27FC236}">
                <a16:creationId xmlns:a16="http://schemas.microsoft.com/office/drawing/2014/main" id="{FC00A614-86C1-7E66-4075-1E3938EA4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7956"/>
            <a:ext cx="7223717" cy="4383204"/>
          </a:xfrm>
          <a:prstGeom prst="rect">
            <a:avLst/>
          </a:prstGeom>
        </p:spPr>
      </p:pic>
      <p:pic>
        <p:nvPicPr>
          <p:cNvPr id="10" name="Picture 9" descr="A collage of animals&#10;&#10;Description automatically generated with medium confidence">
            <a:extLst>
              <a:ext uri="{FF2B5EF4-FFF2-40B4-BE49-F238E27FC236}">
                <a16:creationId xmlns:a16="http://schemas.microsoft.com/office/drawing/2014/main" id="{5A092E31-A255-87DA-998C-B818B46579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87956"/>
            <a:ext cx="5713546" cy="397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259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51911-6432-431F-8256-5DE0A4C44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195" y="1613500"/>
            <a:ext cx="10640786" cy="3630999"/>
          </a:xfrm>
        </p:spPr>
        <p:txBody>
          <a:bodyPr vert="horz" lIns="91440" tIns="45720" rIns="91440" bIns="45720" rtlCol="0" anchor="ctr">
            <a:noAutofit/>
          </a:bodyPr>
          <a:lstStyle/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 fontAlgn="base"/>
            <a:endParaRPr lang="en-GB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2D514B-B15B-4EB7-8896-C1214C65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Helvetica" pitchFamily="2" charset="0"/>
              </a:rPr>
              <a:t>Experiment 2: Image Stimuli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C8BC-9DA9-5BF8-21EF-213FDBC68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z="2800" smtClean="0"/>
              <a:t>39</a:t>
            </a:fld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EEDF30-4C92-97FC-50A4-7BD9CDE9C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79" y="1448683"/>
            <a:ext cx="9645519" cy="4907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AC3C68-B2F8-B9BC-0347-5FBCFBB4759B}"/>
              </a:ext>
            </a:extLst>
          </p:cNvPr>
          <p:cNvSpPr txBox="1"/>
          <p:nvPr/>
        </p:nvSpPr>
        <p:spPr>
          <a:xfrm>
            <a:off x="1127760" y="1031793"/>
            <a:ext cx="6385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Augmentative image stimuli</a:t>
            </a:r>
          </a:p>
        </p:txBody>
      </p:sp>
    </p:spTree>
    <p:extLst>
      <p:ext uri="{BB962C8B-B14F-4D97-AF65-F5344CB8AC3E}">
        <p14:creationId xmlns:p14="http://schemas.microsoft.com/office/powerpoint/2010/main" val="2501354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74015</TotalTime>
  <Words>2993</Words>
  <Application>Microsoft Macintosh PowerPoint</Application>
  <PresentationFormat>Widescreen</PresentationFormat>
  <Paragraphs>725</Paragraphs>
  <Slides>39</Slides>
  <Notes>11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Calibri Light</vt:lpstr>
      <vt:lpstr>Helvetica</vt:lpstr>
      <vt:lpstr>Wingdings</vt:lpstr>
      <vt:lpstr>office theme</vt:lpstr>
      <vt:lpstr>Semantic and morphophonological productivity of Kîîtharaka noun classes: corpus and experimental evidence</vt:lpstr>
      <vt:lpstr>Noun class systems</vt:lpstr>
      <vt:lpstr>What determines noun class in language?</vt:lpstr>
      <vt:lpstr>What determines noun class in language?</vt:lpstr>
      <vt:lpstr>What determines noun class in a language?</vt:lpstr>
      <vt:lpstr>Theoretical and empirical questions…</vt:lpstr>
      <vt:lpstr>A different approach to Kîîtharaka</vt:lpstr>
      <vt:lpstr>Building a Corpus</vt:lpstr>
      <vt:lpstr>Semantic features coded for </vt:lpstr>
      <vt:lpstr>Morphophonological features coded for</vt:lpstr>
      <vt:lpstr>Corpus Analysis</vt:lpstr>
      <vt:lpstr>Corpus Results</vt:lpstr>
      <vt:lpstr>PowerPoint Presentation</vt:lpstr>
      <vt:lpstr>PowerPoint Presentation</vt:lpstr>
      <vt:lpstr>Corpus results: productive semantic features (overall)</vt:lpstr>
      <vt:lpstr>PowerPoint Presentation</vt:lpstr>
      <vt:lpstr>PowerPoint Presentation</vt:lpstr>
      <vt:lpstr>Results: productive morphophonological features </vt:lpstr>
      <vt:lpstr>Experiments: Observation of human behaviour</vt:lpstr>
      <vt:lpstr>Experiment 1: Semantic features tested</vt:lpstr>
      <vt:lpstr>Stimuli</vt:lpstr>
      <vt:lpstr>Experiment 1 results: productive semantic features</vt:lpstr>
      <vt:lpstr>Experiment 1 results: productive semantic features</vt:lpstr>
      <vt:lpstr>Experiment 2: Morphophonological features tested</vt:lpstr>
      <vt:lpstr>Stimuli</vt:lpstr>
      <vt:lpstr>Experiment 2: Morphophonological features tested</vt:lpstr>
      <vt:lpstr>Results: productive morphophonological features</vt:lpstr>
      <vt:lpstr>Results: productive morphophonological features</vt:lpstr>
      <vt:lpstr>Results: productive morphophonological features</vt:lpstr>
      <vt:lpstr>Does Experiment 1 confirm TP predictions?</vt:lpstr>
      <vt:lpstr>Does Experiment 2 confirm TP predictions?</vt:lpstr>
      <vt:lpstr>Implications</vt:lpstr>
      <vt:lpstr>The End</vt:lpstr>
      <vt:lpstr>References</vt:lpstr>
      <vt:lpstr>Experiment 1 results: What’s up with augmentative?</vt:lpstr>
      <vt:lpstr>Experiment 1 results: What’s up with augmentative?</vt:lpstr>
      <vt:lpstr>Implication: a possible schema</vt:lpstr>
      <vt:lpstr>Experiment 1: image stimuli</vt:lpstr>
      <vt:lpstr>Experiment 2: Image Stimuli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Patrick Kanampiu</cp:lastModifiedBy>
  <cp:revision>1664</cp:revision>
  <dcterms:created xsi:type="dcterms:W3CDTF">2021-11-19T17:00:59Z</dcterms:created>
  <dcterms:modified xsi:type="dcterms:W3CDTF">2023-08-16T08:11:19Z</dcterms:modified>
</cp:coreProperties>
</file>