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6"/>
  </p:notesMasterIdLst>
  <p:sldIdLst>
    <p:sldId id="256" r:id="rId2"/>
    <p:sldId id="296" r:id="rId3"/>
    <p:sldId id="382" r:id="rId4"/>
    <p:sldId id="373" r:id="rId5"/>
    <p:sldId id="314" r:id="rId6"/>
    <p:sldId id="368" r:id="rId7"/>
    <p:sldId id="348" r:id="rId8"/>
    <p:sldId id="339" r:id="rId9"/>
    <p:sldId id="374" r:id="rId10"/>
    <p:sldId id="375" r:id="rId11"/>
    <p:sldId id="364" r:id="rId12"/>
    <p:sldId id="363" r:id="rId13"/>
    <p:sldId id="294" r:id="rId14"/>
    <p:sldId id="261" r:id="rId15"/>
    <p:sldId id="366" r:id="rId16"/>
    <p:sldId id="340" r:id="rId17"/>
    <p:sldId id="367" r:id="rId18"/>
    <p:sldId id="362" r:id="rId19"/>
    <p:sldId id="320" r:id="rId20"/>
    <p:sldId id="281" r:id="rId21"/>
    <p:sldId id="376" r:id="rId22"/>
    <p:sldId id="282" r:id="rId23"/>
    <p:sldId id="334" r:id="rId24"/>
    <p:sldId id="377" r:id="rId25"/>
    <p:sldId id="387" r:id="rId26"/>
    <p:sldId id="386" r:id="rId27"/>
    <p:sldId id="390" r:id="rId28"/>
    <p:sldId id="301" r:id="rId29"/>
    <p:sldId id="384" r:id="rId30"/>
    <p:sldId id="378" r:id="rId31"/>
    <p:sldId id="308" r:id="rId32"/>
    <p:sldId id="352" r:id="rId33"/>
    <p:sldId id="383" r:id="rId34"/>
    <p:sldId id="379" r:id="rId35"/>
    <p:sldId id="335" r:id="rId36"/>
    <p:sldId id="354" r:id="rId37"/>
    <p:sldId id="359" r:id="rId38"/>
    <p:sldId id="358" r:id="rId39"/>
    <p:sldId id="357" r:id="rId40"/>
    <p:sldId id="344" r:id="rId41"/>
    <p:sldId id="380" r:id="rId42"/>
    <p:sldId id="321" r:id="rId43"/>
    <p:sldId id="361" r:id="rId44"/>
    <p:sldId id="371" r:id="rId45"/>
    <p:sldId id="345" r:id="rId46"/>
    <p:sldId id="381" r:id="rId47"/>
    <p:sldId id="347" r:id="rId48"/>
    <p:sldId id="346" r:id="rId49"/>
    <p:sldId id="323" r:id="rId50"/>
    <p:sldId id="337" r:id="rId51"/>
    <p:sldId id="388" r:id="rId52"/>
    <p:sldId id="389" r:id="rId53"/>
    <p:sldId id="326" r:id="rId54"/>
    <p:sldId id="284" r:id="rId55"/>
    <p:sldId id="330" r:id="rId56"/>
    <p:sldId id="385" r:id="rId57"/>
    <p:sldId id="360" r:id="rId58"/>
    <p:sldId id="302" r:id="rId59"/>
    <p:sldId id="303" r:id="rId60"/>
    <p:sldId id="304" r:id="rId61"/>
    <p:sldId id="322" r:id="rId62"/>
    <p:sldId id="325" r:id="rId63"/>
    <p:sldId id="317" r:id="rId64"/>
    <p:sldId id="341" r:id="rId65"/>
    <p:sldId id="318" r:id="rId66"/>
    <p:sldId id="280" r:id="rId67"/>
    <p:sldId id="312" r:id="rId68"/>
    <p:sldId id="327" r:id="rId69"/>
    <p:sldId id="328" r:id="rId70"/>
    <p:sldId id="329" r:id="rId71"/>
    <p:sldId id="333" r:id="rId72"/>
    <p:sldId id="331" r:id="rId73"/>
    <p:sldId id="332" r:id="rId74"/>
    <p:sldId id="286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ULBERTSON Jennifer" initials="CJ" lastIdx="4" clrIdx="0">
    <p:extLst>
      <p:ext uri="{19B8F6BF-5375-455C-9EA6-DF929625EA0E}">
        <p15:presenceInfo xmlns:p15="http://schemas.microsoft.com/office/powerpoint/2012/main" userId="S::jculbert@ed.ac.uk::3aba8976-f106-47fa-b8c7-69263411ef7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8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oe-my.sharepoint.com/personal/s2053270_ed_ac_uk/Documents/Morphological%20exp-cooked%20fi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oe-my.sharepoint.com/personal/s2053270_ed_ac_uk/Documents/Semantic_Experiment%20(long%20data)%2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oe-my.sharepoint.com/personal/s2053270_ed_ac_uk/Documents/Semantic_Experiment%20(long%20data)%20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uoe-my.sharepoint.com/personal/s2053270_ed_ac_uk/Documents/Semantic_Experiment%20(long%20data)%20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uoe-my.sharepoint.com/personal/s2053270_ed_ac_uk/Documents/Morphological%20exp-cooked%20fina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uoe-my.sharepoint.com/personal/s2053270_ed_ac_uk/Documents/Morphological%20exp-cooked%20fina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uoe-my.sharepoint.com/personal/s2053270_ed_ac_uk/Documents/Morphological%20exp-cooked%20fina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uoe-my.sharepoint.com/personal/s2053270_ed_ac_uk/Documents/Morphological%20exp-cooked%20fina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uoe-my.sharepoint.com/personal/s2053270_ed_ac_uk/Documents/Morphological%20exp-cooked%20final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uoe-my.sharepoint.com/personal/s2053270_ed_ac_uk/Documents/Semantic_Experiment%20(long%20data)%202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A simulation of </a:t>
            </a:r>
            <a:r>
              <a:rPr lang="en-GB" dirty="0" err="1"/>
              <a:t>Hn</a:t>
            </a:r>
            <a:r>
              <a:rPr lang="en-GB" baseline="0" dirty="0"/>
              <a:t> and </a:t>
            </a:r>
            <a:r>
              <a:rPr lang="en-GB" baseline="0" dirty="0" err="1"/>
              <a:t>lnN</a:t>
            </a:r>
            <a:r>
              <a:rPr lang="en-GB" baseline="0" dirty="0"/>
              <a:t> values by  different values of N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Sheet3!$S$89</c:f>
              <c:strCache>
                <c:ptCount val="1"/>
                <c:pt idx="0">
                  <c:v>HN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Sheet3!$R$90:$R$100</c:f>
              <c:numCache>
                <c:formatCode>General</c:formatCode>
                <c:ptCount val="11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cat>
          <c:val>
            <c:numRef>
              <c:f>Sheet3!$S$90:$S$100</c:f>
              <c:numCache>
                <c:formatCode>General</c:formatCode>
                <c:ptCount val="11"/>
                <c:pt idx="0">
                  <c:v>1</c:v>
                </c:pt>
                <c:pt idx="1">
                  <c:v>2.9289700000000001</c:v>
                </c:pt>
                <c:pt idx="2">
                  <c:v>3.5977399999999999</c:v>
                </c:pt>
                <c:pt idx="3">
                  <c:v>3.99499</c:v>
                </c:pt>
                <c:pt idx="4">
                  <c:v>4.2785399999999996</c:v>
                </c:pt>
                <c:pt idx="5">
                  <c:v>4.4992099999999997</c:v>
                </c:pt>
                <c:pt idx="6">
                  <c:v>4.6798700000000002</c:v>
                </c:pt>
                <c:pt idx="7">
                  <c:v>4.83284</c:v>
                </c:pt>
                <c:pt idx="8">
                  <c:v>4.9654800000000003</c:v>
                </c:pt>
                <c:pt idx="9">
                  <c:v>5.0825699999999996</c:v>
                </c:pt>
                <c:pt idx="10">
                  <c:v>5.1873800000000001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C2-0F42-AAD6-6A0BBF35E068}"/>
            </c:ext>
          </c:extLst>
        </c:ser>
        <c:ser>
          <c:idx val="1"/>
          <c:order val="1"/>
          <c:tx>
            <c:strRef>
              <c:f>Sheet3!$T$89</c:f>
              <c:strCache>
                <c:ptCount val="1"/>
                <c:pt idx="0">
                  <c:v>LN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Sheet3!$R$90:$R$100</c:f>
              <c:numCache>
                <c:formatCode>General</c:formatCode>
                <c:ptCount val="11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cat>
          <c:val>
            <c:numRef>
              <c:f>Sheet3!$T$90:$T$100</c:f>
              <c:numCache>
                <c:formatCode>General</c:formatCode>
                <c:ptCount val="11"/>
                <c:pt idx="0">
                  <c:v>0</c:v>
                </c:pt>
                <c:pt idx="1">
                  <c:v>2.3025850929940459</c:v>
                </c:pt>
                <c:pt idx="2">
                  <c:v>2.9957322735539909</c:v>
                </c:pt>
                <c:pt idx="3">
                  <c:v>3.4011973816621555</c:v>
                </c:pt>
                <c:pt idx="4">
                  <c:v>3.6888794541139363</c:v>
                </c:pt>
                <c:pt idx="5">
                  <c:v>3.912023005428146</c:v>
                </c:pt>
                <c:pt idx="6">
                  <c:v>4.0943445622221004</c:v>
                </c:pt>
                <c:pt idx="7">
                  <c:v>4.2484952420493594</c:v>
                </c:pt>
                <c:pt idx="8">
                  <c:v>4.3820266346738812</c:v>
                </c:pt>
                <c:pt idx="9">
                  <c:v>4.499809670330265</c:v>
                </c:pt>
                <c:pt idx="10">
                  <c:v>4.6051701859880918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C2-0F42-AAD6-6A0BBF35E0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93493391"/>
        <c:axId val="1353321071"/>
      </c:lineChart>
      <c:catAx>
        <c:axId val="16934933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3321071"/>
        <c:crosses val="autoZero"/>
        <c:auto val="1"/>
        <c:lblAlgn val="ctr"/>
        <c:lblOffset val="100"/>
        <c:noMultiLvlLbl val="0"/>
      </c:catAx>
      <c:valAx>
        <c:axId val="1353321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NH /LN</a:t>
                </a:r>
                <a:r>
                  <a:rPr lang="en-GB" baseline="0"/>
                  <a:t> values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493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A simulation of </a:t>
            </a:r>
            <a:r>
              <a:rPr lang="en-GB" dirty="0" err="1"/>
              <a:t>Hn</a:t>
            </a:r>
            <a:r>
              <a:rPr lang="en-GB" dirty="0"/>
              <a:t> and</a:t>
            </a:r>
            <a:r>
              <a:rPr lang="en-GB" baseline="0" dirty="0"/>
              <a:t> </a:t>
            </a:r>
            <a:r>
              <a:rPr lang="en-GB" dirty="0" err="1"/>
              <a:t>lnN</a:t>
            </a:r>
            <a:r>
              <a:rPr lang="en-GB" dirty="0"/>
              <a:t> values by different</a:t>
            </a:r>
            <a:r>
              <a:rPr lang="en-GB" baseline="0" dirty="0"/>
              <a:t> values of N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Sheet4!$G$6</c:f>
              <c:strCache>
                <c:ptCount val="1"/>
                <c:pt idx="0">
                  <c:v>hn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Sheet4!$F$7:$F$14</c:f>
              <c:numCache>
                <c:formatCode>General</c:formatCode>
                <c:ptCount val="8"/>
                <c:pt idx="0">
                  <c:v>501</c:v>
                </c:pt>
                <c:pt idx="1">
                  <c:v>601</c:v>
                </c:pt>
                <c:pt idx="2">
                  <c:v>701</c:v>
                </c:pt>
                <c:pt idx="3">
                  <c:v>801</c:v>
                </c:pt>
                <c:pt idx="4">
                  <c:v>901</c:v>
                </c:pt>
                <c:pt idx="5">
                  <c:v>1001</c:v>
                </c:pt>
                <c:pt idx="6">
                  <c:v>1101</c:v>
                </c:pt>
                <c:pt idx="7">
                  <c:v>1201</c:v>
                </c:pt>
              </c:numCache>
            </c:numRef>
          </c:cat>
          <c:val>
            <c:numRef>
              <c:f>Sheet4!$G$7:$G$14</c:f>
              <c:numCache>
                <c:formatCode>General</c:formatCode>
                <c:ptCount val="8"/>
                <c:pt idx="0">
                  <c:v>6.7948000000000004</c:v>
                </c:pt>
                <c:pt idx="1">
                  <c:v>6.9766000000000004</c:v>
                </c:pt>
                <c:pt idx="2">
                  <c:v>7.1304299999999996</c:v>
                </c:pt>
                <c:pt idx="3">
                  <c:v>7.2637</c:v>
                </c:pt>
                <c:pt idx="4">
                  <c:v>7.3811999999999998</c:v>
                </c:pt>
                <c:pt idx="5">
                  <c:v>7.4864600000000001</c:v>
                </c:pt>
                <c:pt idx="6">
                  <c:v>7.5815999999999999</c:v>
                </c:pt>
                <c:pt idx="7">
                  <c:v>7.6684999999999999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D5-DA47-8071-E13B63EADFBF}"/>
            </c:ext>
          </c:extLst>
        </c:ser>
        <c:ser>
          <c:idx val="1"/>
          <c:order val="1"/>
          <c:tx>
            <c:strRef>
              <c:f>Sheet4!$H$6</c:f>
              <c:strCache>
                <c:ptCount val="1"/>
                <c:pt idx="0">
                  <c:v>lnN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Sheet4!$F$7:$F$14</c:f>
              <c:numCache>
                <c:formatCode>General</c:formatCode>
                <c:ptCount val="8"/>
                <c:pt idx="0">
                  <c:v>501</c:v>
                </c:pt>
                <c:pt idx="1">
                  <c:v>601</c:v>
                </c:pt>
                <c:pt idx="2">
                  <c:v>701</c:v>
                </c:pt>
                <c:pt idx="3">
                  <c:v>801</c:v>
                </c:pt>
                <c:pt idx="4">
                  <c:v>901</c:v>
                </c:pt>
                <c:pt idx="5">
                  <c:v>1001</c:v>
                </c:pt>
                <c:pt idx="6">
                  <c:v>1101</c:v>
                </c:pt>
                <c:pt idx="7">
                  <c:v>1201</c:v>
                </c:pt>
              </c:numCache>
            </c:numRef>
          </c:cat>
          <c:val>
            <c:numRef>
              <c:f>Sheet4!$H$7:$H$14</c:f>
              <c:numCache>
                <c:formatCode>General</c:formatCode>
                <c:ptCount val="8"/>
                <c:pt idx="0">
                  <c:v>6.2166061010848646</c:v>
                </c:pt>
                <c:pt idx="1">
                  <c:v>6.3985949345352076</c:v>
                </c:pt>
                <c:pt idx="2">
                  <c:v>6.5525078870345901</c:v>
                </c:pt>
                <c:pt idx="3">
                  <c:v>6.6858609470683596</c:v>
                </c:pt>
                <c:pt idx="4">
                  <c:v>6.8035052576083377</c:v>
                </c:pt>
                <c:pt idx="5">
                  <c:v>6.9087547793152204</c:v>
                </c:pt>
                <c:pt idx="6">
                  <c:v>7.0039741367226798</c:v>
                </c:pt>
                <c:pt idx="7">
                  <c:v>7.0909098220799835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D5-DA47-8071-E13B63EADF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5952143"/>
        <c:axId val="1126120335"/>
      </c:lineChart>
      <c:catAx>
        <c:axId val="11259521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6120335"/>
        <c:crosses val="autoZero"/>
        <c:auto val="1"/>
        <c:lblAlgn val="ctr"/>
        <c:lblOffset val="100"/>
        <c:noMultiLvlLbl val="0"/>
      </c:catAx>
      <c:valAx>
        <c:axId val="1126120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H/lnN values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952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100" dirty="0"/>
              <a:t>Proportion of correct responses by semantic features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03584421409349E-2"/>
          <c:y val="0.12711026615969581"/>
          <c:w val="0.75609816198295277"/>
          <c:h val="0.73229528674354805"/>
        </c:manualLayout>
      </c:layout>
      <c:lineChart>
        <c:grouping val="standard"/>
        <c:varyColors val="0"/>
        <c:ser>
          <c:idx val="1"/>
          <c:order val="0"/>
          <c:tx>
            <c:v>Chance line</c:v>
          </c:tx>
          <c:spPr>
            <a:ln w="317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'Featural analyses'!$F$23:$F$32</c:f>
              <c:strCache>
                <c:ptCount val="10"/>
                <c:pt idx="0">
                  <c:v>human</c:v>
                </c:pt>
                <c:pt idx="1">
                  <c:v>extended</c:v>
                </c:pt>
                <c:pt idx="2">
                  <c:v>augmentative</c:v>
                </c:pt>
                <c:pt idx="3">
                  <c:v>fruit</c:v>
                </c:pt>
                <c:pt idx="4">
                  <c:v>artefact</c:v>
                </c:pt>
                <c:pt idx="5">
                  <c:v>other</c:v>
                </c:pt>
                <c:pt idx="6">
                  <c:v>pejorative</c:v>
                </c:pt>
                <c:pt idx="7">
                  <c:v>wavy</c:v>
                </c:pt>
                <c:pt idx="8">
                  <c:v>narrow</c:v>
                </c:pt>
                <c:pt idx="9">
                  <c:v>diminutive</c:v>
                </c:pt>
              </c:strCache>
            </c:strRef>
          </c:cat>
          <c:val>
            <c:numRef>
              <c:f>'Featural analyses'!$J$23:$J$32</c:f>
              <c:numCache>
                <c:formatCode>General</c:formatCode>
                <c:ptCount val="10"/>
                <c:pt idx="0">
                  <c:v>0.125</c:v>
                </c:pt>
                <c:pt idx="1">
                  <c:v>0.125</c:v>
                </c:pt>
                <c:pt idx="2">
                  <c:v>0.125</c:v>
                </c:pt>
                <c:pt idx="3">
                  <c:v>0.125</c:v>
                </c:pt>
                <c:pt idx="4">
                  <c:v>0.125</c:v>
                </c:pt>
                <c:pt idx="5">
                  <c:v>0.125</c:v>
                </c:pt>
                <c:pt idx="6">
                  <c:v>0.125</c:v>
                </c:pt>
                <c:pt idx="7">
                  <c:v>0.125</c:v>
                </c:pt>
                <c:pt idx="8">
                  <c:v>0.125</c:v>
                </c:pt>
                <c:pt idx="9">
                  <c:v>0.125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BC-0241-B222-58CA1131C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98790591"/>
        <c:axId val="934594047"/>
      </c:lineChart>
      <c:catAx>
        <c:axId val="8987905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Semantic features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594047"/>
        <c:crosses val="autoZero"/>
        <c:auto val="1"/>
        <c:lblAlgn val="ctr"/>
        <c:lblOffset val="100"/>
        <c:noMultiLvlLbl val="0"/>
      </c:catAx>
      <c:valAx>
        <c:axId val="93459404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Proportion of correct response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8790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100" dirty="0"/>
              <a:t>Proportion of correct responses by semantic features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03584421409349E-2"/>
          <c:y val="0.12711026615969581"/>
          <c:w val="0.75609816198295277"/>
          <c:h val="0.73229528674354805"/>
        </c:manualLayout>
      </c:layout>
      <c:barChart>
        <c:barDir val="col"/>
        <c:grouping val="clustered"/>
        <c:varyColors val="0"/>
        <c:ser>
          <c:idx val="0"/>
          <c:order val="0"/>
          <c:tx>
            <c:v>Correct responses</c:v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'Featural analyses'!$L$23:$L$32</c:f>
                <c:numCache>
                  <c:formatCode>General</c:formatCode>
                  <c:ptCount val="10"/>
                  <c:pt idx="0">
                    <c:v>0.21814880114442825</c:v>
                  </c:pt>
                  <c:pt idx="1">
                    <c:v>0.12240769834154322</c:v>
                  </c:pt>
                  <c:pt idx="2">
                    <c:v>0.14381116198431865</c:v>
                  </c:pt>
                  <c:pt idx="3">
                    <c:v>0.18941048590991066</c:v>
                  </c:pt>
                  <c:pt idx="4">
                    <c:v>0.13471897911722952</c:v>
                  </c:pt>
                  <c:pt idx="5">
                    <c:v>0.17643127299590924</c:v>
                  </c:pt>
                  <c:pt idx="6">
                    <c:v>0.22668826592059949</c:v>
                  </c:pt>
                  <c:pt idx="7">
                    <c:v>0.13234837207221575</c:v>
                  </c:pt>
                  <c:pt idx="8">
                    <c:v>0.14454303013066463</c:v>
                  </c:pt>
                  <c:pt idx="9">
                    <c:v>0.24802692961381051</c:v>
                  </c:pt>
                </c:numCache>
              </c:numRef>
            </c:plus>
            <c:minus>
              <c:numRef>
                <c:f>'Featural analyses'!$L$23:$L$32</c:f>
                <c:numCache>
                  <c:formatCode>General</c:formatCode>
                  <c:ptCount val="10"/>
                  <c:pt idx="0">
                    <c:v>0.21814880114442825</c:v>
                  </c:pt>
                  <c:pt idx="1">
                    <c:v>0.12240769834154322</c:v>
                  </c:pt>
                  <c:pt idx="2">
                    <c:v>0.14381116198431865</c:v>
                  </c:pt>
                  <c:pt idx="3">
                    <c:v>0.18941048590991066</c:v>
                  </c:pt>
                  <c:pt idx="4">
                    <c:v>0.13471897911722952</c:v>
                  </c:pt>
                  <c:pt idx="5">
                    <c:v>0.17643127299590924</c:v>
                  </c:pt>
                  <c:pt idx="6">
                    <c:v>0.22668826592059949</c:v>
                  </c:pt>
                  <c:pt idx="7">
                    <c:v>0.13234837207221575</c:v>
                  </c:pt>
                  <c:pt idx="8">
                    <c:v>0.14454303013066463</c:v>
                  </c:pt>
                  <c:pt idx="9">
                    <c:v>0.24802692961381051</c:v>
                  </c:pt>
                </c:numCache>
              </c:numRef>
            </c:minus>
            <c:spPr>
              <a:noFill/>
              <a:ln w="9525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  <a:effectLst/>
            </c:spPr>
          </c:errBars>
          <c:cat>
            <c:strRef>
              <c:f>'Featural analyses'!$F$23:$F$32</c:f>
              <c:strCache>
                <c:ptCount val="10"/>
                <c:pt idx="0">
                  <c:v>human</c:v>
                </c:pt>
                <c:pt idx="1">
                  <c:v>extended</c:v>
                </c:pt>
                <c:pt idx="2">
                  <c:v>augmentative</c:v>
                </c:pt>
                <c:pt idx="3">
                  <c:v>fruit</c:v>
                </c:pt>
                <c:pt idx="4">
                  <c:v>artefact</c:v>
                </c:pt>
                <c:pt idx="5">
                  <c:v>other</c:v>
                </c:pt>
                <c:pt idx="6">
                  <c:v>pejorative</c:v>
                </c:pt>
                <c:pt idx="7">
                  <c:v>wavy</c:v>
                </c:pt>
                <c:pt idx="8">
                  <c:v>narrow</c:v>
                </c:pt>
                <c:pt idx="9">
                  <c:v>diminutive</c:v>
                </c:pt>
              </c:strCache>
            </c:strRef>
          </c:cat>
          <c:val>
            <c:numRef>
              <c:f>'Featural analyses'!$I$23:$I$32</c:f>
              <c:numCache>
                <c:formatCode>General</c:formatCode>
                <c:ptCount val="10"/>
                <c:pt idx="0">
                  <c:v>0.61728395061728392</c:v>
                </c:pt>
                <c:pt idx="1">
                  <c:v>0.13580246913580246</c:v>
                </c:pt>
                <c:pt idx="2">
                  <c:v>0.19753086419753085</c:v>
                </c:pt>
                <c:pt idx="3">
                  <c:v>0.24691358024691357</c:v>
                </c:pt>
                <c:pt idx="4">
                  <c:v>0.14814814814814814</c:v>
                </c:pt>
                <c:pt idx="5">
                  <c:v>0.30864197530864196</c:v>
                </c:pt>
                <c:pt idx="6">
                  <c:v>0.39506172839506171</c:v>
                </c:pt>
                <c:pt idx="7">
                  <c:v>0.12345679012345678</c:v>
                </c:pt>
                <c:pt idx="8">
                  <c:v>0.16049382716049382</c:v>
                </c:pt>
                <c:pt idx="9">
                  <c:v>0.58024691358024694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BC-0241-B222-58CA1131C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898790591"/>
        <c:axId val="934594047"/>
      </c:barChart>
      <c:lineChart>
        <c:grouping val="standard"/>
        <c:varyColors val="0"/>
        <c:ser>
          <c:idx val="1"/>
          <c:order val="1"/>
          <c:tx>
            <c:v>Chance line</c:v>
          </c:tx>
          <c:spPr>
            <a:ln w="317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'Featural analyses'!$F$23:$F$32</c:f>
              <c:strCache>
                <c:ptCount val="10"/>
                <c:pt idx="0">
                  <c:v>human</c:v>
                </c:pt>
                <c:pt idx="1">
                  <c:v>extended</c:v>
                </c:pt>
                <c:pt idx="2">
                  <c:v>augmentative</c:v>
                </c:pt>
                <c:pt idx="3">
                  <c:v>fruit</c:v>
                </c:pt>
                <c:pt idx="4">
                  <c:v>artefact</c:v>
                </c:pt>
                <c:pt idx="5">
                  <c:v>other</c:v>
                </c:pt>
                <c:pt idx="6">
                  <c:v>pejorative</c:v>
                </c:pt>
                <c:pt idx="7">
                  <c:v>wavy</c:v>
                </c:pt>
                <c:pt idx="8">
                  <c:v>narrow</c:v>
                </c:pt>
                <c:pt idx="9">
                  <c:v>diminutive</c:v>
                </c:pt>
              </c:strCache>
            </c:strRef>
          </c:cat>
          <c:val>
            <c:numRef>
              <c:f>'Featural analyses'!$J$23:$J$32</c:f>
              <c:numCache>
                <c:formatCode>General</c:formatCode>
                <c:ptCount val="10"/>
                <c:pt idx="0">
                  <c:v>0.125</c:v>
                </c:pt>
                <c:pt idx="1">
                  <c:v>0.125</c:v>
                </c:pt>
                <c:pt idx="2">
                  <c:v>0.125</c:v>
                </c:pt>
                <c:pt idx="3">
                  <c:v>0.125</c:v>
                </c:pt>
                <c:pt idx="4">
                  <c:v>0.125</c:v>
                </c:pt>
                <c:pt idx="5">
                  <c:v>0.125</c:v>
                </c:pt>
                <c:pt idx="6">
                  <c:v>0.125</c:v>
                </c:pt>
                <c:pt idx="7">
                  <c:v>0.125</c:v>
                </c:pt>
                <c:pt idx="8">
                  <c:v>0.125</c:v>
                </c:pt>
                <c:pt idx="9">
                  <c:v>0.125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BC-0241-B222-58CA1131C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8790591"/>
        <c:axId val="934594047"/>
      </c:lineChart>
      <c:catAx>
        <c:axId val="8987905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Semantic features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594047"/>
        <c:crosses val="autoZero"/>
        <c:auto val="1"/>
        <c:lblAlgn val="ctr"/>
        <c:lblOffset val="100"/>
        <c:noMultiLvlLbl val="0"/>
      </c:catAx>
      <c:valAx>
        <c:axId val="93459404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Proportion of correct response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8790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/>
              <a:t>Proportion of correct resposes by singular prefix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Chance line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LEVEL_1!$R$115:$R$122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LEVEL_1!$V$115:$V$122</c:f>
              <c:numCache>
                <c:formatCode>General</c:formatCode>
                <c:ptCount val="8"/>
                <c:pt idx="0">
                  <c:v>0.125</c:v>
                </c:pt>
                <c:pt idx="1">
                  <c:v>0.125</c:v>
                </c:pt>
                <c:pt idx="2">
                  <c:v>0.125</c:v>
                </c:pt>
                <c:pt idx="3">
                  <c:v>0.125</c:v>
                </c:pt>
                <c:pt idx="4">
                  <c:v>0.125</c:v>
                </c:pt>
                <c:pt idx="5">
                  <c:v>0.125</c:v>
                </c:pt>
                <c:pt idx="6">
                  <c:v>0.125</c:v>
                </c:pt>
                <c:pt idx="7">
                  <c:v>0.125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C5DD-9C44-8EE5-F85DD067616E}"/>
            </c:ext>
          </c:extLst>
        </c:ser>
        <c:ser>
          <c:idx val="2"/>
          <c:order val="1"/>
          <c:tx>
            <c:v>1/3 (mû-û)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2-C5DD-9C44-8EE5-F85DD067616E}"/>
            </c:ext>
          </c:extLst>
        </c:ser>
        <c:ser>
          <c:idx val="3"/>
          <c:order val="2"/>
          <c:tx>
            <c:v>5 (î-rî)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3-C5DD-9C44-8EE5-F85DD067616E}"/>
            </c:ext>
          </c:extLst>
        </c:ser>
        <c:ser>
          <c:idx val="4"/>
          <c:order val="3"/>
          <c:tx>
            <c:v>7 (k(g)î- k(g)î)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4-C5DD-9C44-8EE5-F85DD067616E}"/>
            </c:ext>
          </c:extLst>
        </c:ser>
        <c:ser>
          <c:idx val="5"/>
          <c:order val="4"/>
          <c:tx>
            <c:v>9 (-i)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5-C5DD-9C44-8EE5-F85DD067616E}"/>
            </c:ext>
          </c:extLst>
        </c:ser>
        <c:ser>
          <c:idx val="6"/>
          <c:order val="5"/>
          <c:tx>
            <c:v>9 (n-i)</c:v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6-C5DD-9C44-8EE5-F85DD067616E}"/>
            </c:ext>
          </c:extLst>
        </c:ser>
        <c:ser>
          <c:idx val="7"/>
          <c:order val="6"/>
          <c:tx>
            <c:v>11 (rû-rû)</c:v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7-C5DD-9C44-8EE5-F85DD067616E}"/>
            </c:ext>
          </c:extLst>
        </c:ser>
        <c:ser>
          <c:idx val="8"/>
          <c:order val="7"/>
          <c:tx>
            <c:v>12 (k(g)a- k(g)a)</c:v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8-C5DD-9C44-8EE5-F85DD067616E}"/>
            </c:ext>
          </c:extLst>
        </c:ser>
        <c:ser>
          <c:idx val="9"/>
          <c:order val="8"/>
          <c:tx>
            <c:v>14 (û-bû)</c:v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9-C5DD-9C44-8EE5-F85DD0676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62765696"/>
        <c:axId val="1643524512"/>
      </c:lineChart>
      <c:catAx>
        <c:axId val="16627656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200" b="1"/>
                  <a:t>Singular prefix stimulus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524512"/>
        <c:crosses val="autoZero"/>
        <c:auto val="1"/>
        <c:lblAlgn val="ctr"/>
        <c:lblOffset val="100"/>
        <c:noMultiLvlLbl val="0"/>
      </c:catAx>
      <c:valAx>
        <c:axId val="16435245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200" b="1"/>
                  <a:t>Proportion of correct response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2765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1" i="0" baseline="0" dirty="0">
                <a:effectLst/>
              </a:rPr>
              <a:t>Proportion of correct responses by singular prefix</a:t>
            </a:r>
            <a:endParaRPr lang="en-GB" sz="14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D8C-2A4E-A32D-A45B96CB3C8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D8C-2A4E-A32D-A45B96CB3C8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D8C-2A4E-A32D-A45B96CB3C8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D8C-2A4E-A32D-A45B96CB3C80}"/>
              </c:ext>
            </c:extLst>
          </c:dPt>
          <c:dPt>
            <c:idx val="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D8C-2A4E-A32D-A45B96CB3C80}"/>
              </c:ext>
            </c:extLst>
          </c:dPt>
          <c:dPt>
            <c:idx val="5"/>
            <c:invertIfNegative val="0"/>
            <c:bubble3D val="0"/>
            <c:spPr>
              <a:solidFill>
                <a:srgbClr val="7B000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D8C-2A4E-A32D-A45B96CB3C80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D8C-2A4E-A32D-A45B96CB3C80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D8C-2A4E-A32D-A45B96CB3C80}"/>
              </c:ext>
            </c:extLst>
          </c:dPt>
          <c:errBars>
            <c:errBarType val="both"/>
            <c:errValType val="cust"/>
            <c:noEndCap val="0"/>
            <c:plus>
              <c:numRef>
                <c:f>LEVEL_1!$W$115:$W$122</c:f>
                <c:numCache>
                  <c:formatCode>General</c:formatCode>
                  <c:ptCount val="8"/>
                  <c:pt idx="0">
                    <c:v>5.188035159119541E-2</c:v>
                  </c:pt>
                  <c:pt idx="1">
                    <c:v>7.427813527082075E-2</c:v>
                  </c:pt>
                  <c:pt idx="2">
                    <c:v>0</c:v>
                  </c:pt>
                  <c:pt idx="3">
                    <c:v>5.5708601453115555E-2</c:v>
                  </c:pt>
                  <c:pt idx="4">
                    <c:v>0</c:v>
                  </c:pt>
                  <c:pt idx="5">
                    <c:v>0</c:v>
                  </c:pt>
                  <c:pt idx="6">
                    <c:v>3.3333333333333305E-2</c:v>
                  </c:pt>
                  <c:pt idx="7">
                    <c:v>5.5708601453115555E-2</c:v>
                  </c:pt>
                </c:numCache>
              </c:numRef>
            </c:plus>
            <c:minus>
              <c:numRef>
                <c:f>LEVEL_1!$W$115:$W$122</c:f>
                <c:numCache>
                  <c:formatCode>General</c:formatCode>
                  <c:ptCount val="8"/>
                  <c:pt idx="0">
                    <c:v>5.188035159119541E-2</c:v>
                  </c:pt>
                  <c:pt idx="1">
                    <c:v>7.427813527082075E-2</c:v>
                  </c:pt>
                  <c:pt idx="2">
                    <c:v>0</c:v>
                  </c:pt>
                  <c:pt idx="3">
                    <c:v>5.5708601453115555E-2</c:v>
                  </c:pt>
                  <c:pt idx="4">
                    <c:v>0</c:v>
                  </c:pt>
                  <c:pt idx="5">
                    <c:v>0</c:v>
                  </c:pt>
                  <c:pt idx="6">
                    <c:v>3.3333333333333305E-2</c:v>
                  </c:pt>
                  <c:pt idx="7">
                    <c:v>5.5708601453115555E-2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LEVEL_1!$R$115:$R$122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LEVEL_1!$U$115:$U$122</c:f>
              <c:numCache>
                <c:formatCode>General</c:formatCode>
                <c:ptCount val="8"/>
                <c:pt idx="0">
                  <c:v>0.87931034482758619</c:v>
                </c:pt>
                <c:pt idx="1">
                  <c:v>0.8</c:v>
                </c:pt>
                <c:pt idx="2">
                  <c:v>1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  <c:pt idx="6">
                  <c:v>0.96666666666666667</c:v>
                </c:pt>
                <c:pt idx="7">
                  <c:v>0.89655172413793105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D8C-2A4E-A32D-A45B96CB3C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62765696"/>
        <c:axId val="1643524512"/>
      </c:barChart>
      <c:lineChart>
        <c:grouping val="standard"/>
        <c:varyColors val="0"/>
        <c:ser>
          <c:idx val="1"/>
          <c:order val="1"/>
          <c:tx>
            <c:v>Chance line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LEVEL_1!$R$115:$R$122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LEVEL_1!$V$115:$V$122</c:f>
              <c:numCache>
                <c:formatCode>General</c:formatCode>
                <c:ptCount val="8"/>
                <c:pt idx="0">
                  <c:v>0.125</c:v>
                </c:pt>
                <c:pt idx="1">
                  <c:v>0.125</c:v>
                </c:pt>
                <c:pt idx="2">
                  <c:v>0.125</c:v>
                </c:pt>
                <c:pt idx="3">
                  <c:v>0.125</c:v>
                </c:pt>
                <c:pt idx="4">
                  <c:v>0.125</c:v>
                </c:pt>
                <c:pt idx="5">
                  <c:v>0.125</c:v>
                </c:pt>
                <c:pt idx="6">
                  <c:v>0.125</c:v>
                </c:pt>
                <c:pt idx="7">
                  <c:v>0.125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3D8C-2A4E-A32D-A45B96CB3C80}"/>
            </c:ext>
          </c:extLst>
        </c:ser>
        <c:ser>
          <c:idx val="2"/>
          <c:order val="2"/>
          <c:tx>
            <c:v>1/3 (mû-û)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2-3D8C-2A4E-A32D-A45B96CB3C80}"/>
            </c:ext>
          </c:extLst>
        </c:ser>
        <c:ser>
          <c:idx val="3"/>
          <c:order val="3"/>
          <c:tx>
            <c:v>5 (î-rî)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3-3D8C-2A4E-A32D-A45B96CB3C80}"/>
            </c:ext>
          </c:extLst>
        </c:ser>
        <c:ser>
          <c:idx val="4"/>
          <c:order val="4"/>
          <c:tx>
            <c:v>7 (k(g)î- k(g)î)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4-3D8C-2A4E-A32D-A45B96CB3C80}"/>
            </c:ext>
          </c:extLst>
        </c:ser>
        <c:ser>
          <c:idx val="5"/>
          <c:order val="5"/>
          <c:tx>
            <c:v>9 (ø-i)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5-3D8C-2A4E-A32D-A45B96CB3C80}"/>
            </c:ext>
          </c:extLst>
        </c:ser>
        <c:ser>
          <c:idx val="6"/>
          <c:order val="6"/>
          <c:tx>
            <c:v>9 (n-i)</c:v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6-3D8C-2A4E-A32D-A45B96CB3C80}"/>
            </c:ext>
          </c:extLst>
        </c:ser>
        <c:ser>
          <c:idx val="7"/>
          <c:order val="7"/>
          <c:tx>
            <c:v>11 (rû-rû)</c:v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7-3D8C-2A4E-A32D-A45B96CB3C80}"/>
            </c:ext>
          </c:extLst>
        </c:ser>
        <c:ser>
          <c:idx val="8"/>
          <c:order val="8"/>
          <c:tx>
            <c:v>12 (k(g)a- k(g)a)</c:v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8-3D8C-2A4E-A32D-A45B96CB3C80}"/>
            </c:ext>
          </c:extLst>
        </c:ser>
        <c:ser>
          <c:idx val="9"/>
          <c:order val="9"/>
          <c:tx>
            <c:v>14 (û-bû)</c:v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9-3D8C-2A4E-A32D-A45B96CB3C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2765696"/>
        <c:axId val="1643524512"/>
      </c:lineChart>
      <c:catAx>
        <c:axId val="16627656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/>
                  <a:t>Singular prefix stimulus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524512"/>
        <c:crosses val="autoZero"/>
        <c:auto val="1"/>
        <c:lblAlgn val="ctr"/>
        <c:lblOffset val="100"/>
        <c:noMultiLvlLbl val="0"/>
      </c:catAx>
      <c:valAx>
        <c:axId val="16435245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/>
                  <a:t>Proportion of correct response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2765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87253754738990963"/>
          <c:y val="0.25745225170033298"/>
          <c:w val="0.1274624526100904"/>
          <c:h val="0.622434456069788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/>
              <a:t>Proportion of correct responses by class</a:t>
            </a:r>
            <a:r>
              <a:rPr lang="en-GB" b="1" baseline="0"/>
              <a:t> of plural stimulus</a:t>
            </a:r>
            <a:endParaRPr lang="en-GB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AAD-7E43-8B2D-ADDFCE97591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AAD-7E43-8B2D-ADDFCE97591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AAD-7E43-8B2D-ADDFCE97591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AAD-7E43-8B2D-ADDFCE97591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AAD-7E43-8B2D-ADDFCE97591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AAD-7E43-8B2D-ADDFCE97591F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AAD-7E43-8B2D-ADDFCE97591F}"/>
              </c:ext>
            </c:extLst>
          </c:dPt>
          <c:errBars>
            <c:errBarType val="both"/>
            <c:errValType val="cust"/>
            <c:noEndCap val="0"/>
            <c:plus>
              <c:numRef>
                <c:f>LEVEL_2!$X$30:$X$36</c:f>
                <c:numCache>
                  <c:formatCode>General</c:formatCode>
                  <c:ptCount val="7"/>
                  <c:pt idx="0">
                    <c:v>7.8540323245317303E-2</c:v>
                  </c:pt>
                  <c:pt idx="1">
                    <c:v>3.6750166158041775E-2</c:v>
                  </c:pt>
                  <c:pt idx="2">
                    <c:v>8.5096294339676318E-2</c:v>
                  </c:pt>
                  <c:pt idx="3">
                    <c:v>2.3160277792654997E-2</c:v>
                  </c:pt>
                  <c:pt idx="4">
                    <c:v>7.8540323245317303E-2</c:v>
                  </c:pt>
                  <c:pt idx="5">
                    <c:v>1.6666666666666656E-2</c:v>
                  </c:pt>
                  <c:pt idx="6">
                    <c:v>3.3333333333333305E-2</c:v>
                  </c:pt>
                </c:numCache>
              </c:numRef>
            </c:plus>
            <c:minus>
              <c:numRef>
                <c:f>LEVEL_2!$X$30:$X$36</c:f>
                <c:numCache>
                  <c:formatCode>General</c:formatCode>
                  <c:ptCount val="7"/>
                  <c:pt idx="0">
                    <c:v>7.8540323245317303E-2</c:v>
                  </c:pt>
                  <c:pt idx="1">
                    <c:v>3.6750166158041775E-2</c:v>
                  </c:pt>
                  <c:pt idx="2">
                    <c:v>8.5096294339676318E-2</c:v>
                  </c:pt>
                  <c:pt idx="3">
                    <c:v>2.3160277792654997E-2</c:v>
                  </c:pt>
                  <c:pt idx="4">
                    <c:v>7.8540323245317303E-2</c:v>
                  </c:pt>
                  <c:pt idx="5">
                    <c:v>1.6666666666666656E-2</c:v>
                  </c:pt>
                  <c:pt idx="6">
                    <c:v>3.3333333333333305E-2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LEVEL_2!$R$30:$R$36</c:f>
              <c:strCache>
                <c:ptCount val="7"/>
                <c:pt idx="0">
                  <c:v>a-</c:v>
                </c:pt>
                <c:pt idx="1">
                  <c:v>mî-</c:v>
                </c:pt>
                <c:pt idx="2">
                  <c:v>ma-</c:v>
                </c:pt>
                <c:pt idx="3">
                  <c:v>i-</c:v>
                </c:pt>
                <c:pt idx="4">
                  <c:v>⌀-</c:v>
                </c:pt>
                <c:pt idx="5">
                  <c:v>n-</c:v>
                </c:pt>
                <c:pt idx="6">
                  <c:v>tû-</c:v>
                </c:pt>
              </c:strCache>
            </c:strRef>
          </c:cat>
          <c:val>
            <c:numRef>
              <c:f>LEVEL_2!$V$30:$V$36</c:f>
              <c:numCache>
                <c:formatCode>General</c:formatCode>
                <c:ptCount val="7"/>
                <c:pt idx="0">
                  <c:v>0.76666666666666672</c:v>
                </c:pt>
                <c:pt idx="1">
                  <c:v>0.94117647058823528</c:v>
                </c:pt>
                <c:pt idx="2">
                  <c:v>0.95918367346938771</c:v>
                </c:pt>
                <c:pt idx="3">
                  <c:v>0.80769230769230771</c:v>
                </c:pt>
                <c:pt idx="4">
                  <c:v>0.76666666666666672</c:v>
                </c:pt>
                <c:pt idx="5">
                  <c:v>0.98333333333333328</c:v>
                </c:pt>
                <c:pt idx="6">
                  <c:v>0.96666666666666667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AAD-7E43-8B2D-ADDFCE9759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1278640"/>
        <c:axId val="1665741616"/>
      </c:barChart>
      <c:lineChart>
        <c:grouping val="standard"/>
        <c:varyColors val="0"/>
        <c:ser>
          <c:idx val="1"/>
          <c:order val="1"/>
          <c:tx>
            <c:v>Chance line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LEVEL_2!$R$30:$R$36</c:f>
              <c:strCache>
                <c:ptCount val="7"/>
                <c:pt idx="0">
                  <c:v>a-</c:v>
                </c:pt>
                <c:pt idx="1">
                  <c:v>mî-</c:v>
                </c:pt>
                <c:pt idx="2">
                  <c:v>ma-</c:v>
                </c:pt>
                <c:pt idx="3">
                  <c:v>i-</c:v>
                </c:pt>
                <c:pt idx="4">
                  <c:v>⌀-</c:v>
                </c:pt>
                <c:pt idx="5">
                  <c:v>n-</c:v>
                </c:pt>
                <c:pt idx="6">
                  <c:v>tû-</c:v>
                </c:pt>
              </c:strCache>
            </c:strRef>
          </c:cat>
          <c:val>
            <c:numRef>
              <c:f>LEVEL_2!$W$30:$W$36</c:f>
              <c:numCache>
                <c:formatCode>General</c:formatCode>
                <c:ptCount val="7"/>
                <c:pt idx="0">
                  <c:v>0.14285714285714285</c:v>
                </c:pt>
                <c:pt idx="1">
                  <c:v>0.14285714285714285</c:v>
                </c:pt>
                <c:pt idx="2">
                  <c:v>0.14285714285714285</c:v>
                </c:pt>
                <c:pt idx="3">
                  <c:v>0.14285714285714285</c:v>
                </c:pt>
                <c:pt idx="4">
                  <c:v>0.14285714285714285</c:v>
                </c:pt>
                <c:pt idx="5">
                  <c:v>0.14285714285714285</c:v>
                </c:pt>
                <c:pt idx="6">
                  <c:v>0.14285714285714285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AAD-7E43-8B2D-ADDFCE97591F}"/>
            </c:ext>
          </c:extLst>
        </c:ser>
        <c:ser>
          <c:idx val="2"/>
          <c:order val="2"/>
          <c:tx>
            <c:v>2 (a-ba)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0-9AAD-7E43-8B2D-ADDFCE97591F}"/>
            </c:ext>
          </c:extLst>
        </c:ser>
        <c:ser>
          <c:idx val="3"/>
          <c:order val="3"/>
          <c:tx>
            <c:v>4 (mî-î)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1-9AAD-7E43-8B2D-ADDFCE97591F}"/>
            </c:ext>
          </c:extLst>
        </c:ser>
        <c:ser>
          <c:idx val="4"/>
          <c:order val="4"/>
          <c:tx>
            <c:v>6 (ma-ma)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2-9AAD-7E43-8B2D-ADDFCE97591F}"/>
            </c:ext>
          </c:extLst>
        </c:ser>
        <c:ser>
          <c:idx val="5"/>
          <c:order val="5"/>
          <c:tx>
            <c:v>8 (i-bi)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3-9AAD-7E43-8B2D-ADDFCE97591F}"/>
            </c:ext>
          </c:extLst>
        </c:ser>
        <c:ser>
          <c:idx val="6"/>
          <c:order val="6"/>
          <c:tx>
            <c:v>10 (n-i)</c:v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4-9AAD-7E43-8B2D-ADDFCE97591F}"/>
            </c:ext>
          </c:extLst>
        </c:ser>
        <c:ser>
          <c:idx val="7"/>
          <c:order val="7"/>
          <c:tx>
            <c:v>13 (tû-tû)</c:v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5-9AAD-7E43-8B2D-ADDFCE9759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1278640"/>
        <c:axId val="1665741616"/>
      </c:lineChart>
      <c:catAx>
        <c:axId val="15012786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/>
                  <a:t>plural prefix</a:t>
                </a:r>
                <a:r>
                  <a:rPr lang="en-GB" b="1" baseline="0"/>
                  <a:t> stimulus</a:t>
                </a:r>
                <a:endParaRPr lang="en-GB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5741616"/>
        <c:crosses val="autoZero"/>
        <c:auto val="1"/>
        <c:lblAlgn val="ctr"/>
        <c:lblOffset val="100"/>
        <c:noMultiLvlLbl val="0"/>
      </c:catAx>
      <c:valAx>
        <c:axId val="166574161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/>
                  <a:t>Proportion of correct responses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1278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83051620311177676"/>
          <c:y val="0.28338974284453178"/>
          <c:w val="0.15648493795603691"/>
          <c:h val="0.525649837266893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[Morphological exp-cooked final.xlsx]LEVEL_3!PivotTable18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 baseline="0"/>
              <a:t>Proportion of plural class responses by class of singular stimulus</a:t>
            </a:r>
            <a:endParaRPr lang="en-GB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LEVEL_3!$T$2:$T$3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LEVEL_3!$S$4:$S$12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LEVEL_3!$T$4:$T$12</c:f>
              <c:numCache>
                <c:formatCode>General</c:formatCode>
                <c:ptCount val="8"/>
                <c:pt idx="0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DE-014F-8741-5EFFBA55EA22}"/>
            </c:ext>
          </c:extLst>
        </c:ser>
        <c:ser>
          <c:idx val="1"/>
          <c:order val="1"/>
          <c:tx>
            <c:strRef>
              <c:f>LEVEL_3!$U$2:$U$3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LEVEL_3!$S$4:$S$12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LEVEL_3!$U$4:$U$12</c:f>
              <c:numCache>
                <c:formatCode>General</c:formatCode>
                <c:ptCount val="8"/>
                <c:pt idx="0">
                  <c:v>42</c:v>
                </c:pt>
                <c:pt idx="1">
                  <c:v>5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2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DE-014F-8741-5EFFBA55EA22}"/>
            </c:ext>
          </c:extLst>
        </c:ser>
        <c:ser>
          <c:idx val="2"/>
          <c:order val="2"/>
          <c:tx>
            <c:strRef>
              <c:f>LEVEL_3!$V$2:$V$3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LEVEL_3!$S$4:$S$12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LEVEL_3!$V$4:$V$12</c:f>
              <c:numCache>
                <c:formatCode>General</c:formatCode>
                <c:ptCount val="8"/>
                <c:pt idx="0">
                  <c:v>4</c:v>
                </c:pt>
                <c:pt idx="1">
                  <c:v>11</c:v>
                </c:pt>
                <c:pt idx="2">
                  <c:v>8</c:v>
                </c:pt>
                <c:pt idx="3">
                  <c:v>9</c:v>
                </c:pt>
                <c:pt idx="4">
                  <c:v>2</c:v>
                </c:pt>
                <c:pt idx="5">
                  <c:v>6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DE-014F-8741-5EFFBA55EA22}"/>
            </c:ext>
          </c:extLst>
        </c:ser>
        <c:ser>
          <c:idx val="3"/>
          <c:order val="3"/>
          <c:tx>
            <c:strRef>
              <c:f>LEVEL_3!$W$2:$W$3</c:f>
              <c:strCache>
                <c:ptCount val="1"/>
                <c:pt idx="0">
                  <c:v>8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LEVEL_3!$S$4:$S$12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LEVEL_3!$W$4:$W$12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9</c:v>
                </c:pt>
                <c:pt idx="3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5DE-014F-8741-5EFFBA55EA22}"/>
            </c:ext>
          </c:extLst>
        </c:ser>
        <c:ser>
          <c:idx val="4"/>
          <c:order val="4"/>
          <c:tx>
            <c:strRef>
              <c:f>LEVEL_3!$X$2:$X$3</c:f>
              <c:strCache>
                <c:ptCount val="1"/>
                <c:pt idx="0">
                  <c:v>9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LEVEL_3!$S$4:$S$12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LEVEL_3!$X$4:$X$12</c:f>
              <c:numCache>
                <c:formatCode>General</c:formatCode>
                <c:ptCount val="8"/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DE-014F-8741-5EFFBA55EA22}"/>
            </c:ext>
          </c:extLst>
        </c:ser>
        <c:ser>
          <c:idx val="5"/>
          <c:order val="5"/>
          <c:tx>
            <c:strRef>
              <c:f>LEVEL_3!$Y$2:$Y$3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LEVEL_3!$S$4:$S$12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LEVEL_3!$Y$4:$Y$12</c:f>
              <c:numCache>
                <c:formatCode>General</c:formatCode>
                <c:ptCount val="8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12</c:v>
                </c:pt>
                <c:pt idx="4">
                  <c:v>16</c:v>
                </c:pt>
                <c:pt idx="5">
                  <c:v>12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5DE-014F-8741-5EFFBA55EA22}"/>
            </c:ext>
          </c:extLst>
        </c:ser>
        <c:ser>
          <c:idx val="6"/>
          <c:order val="6"/>
          <c:tx>
            <c:strRef>
              <c:f>LEVEL_3!$Z$2:$Z$3</c:f>
              <c:strCache>
                <c:ptCount val="1"/>
                <c:pt idx="0">
                  <c:v>11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LEVEL_3!$S$4:$S$12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LEVEL_3!$Z$4:$Z$12</c:f>
              <c:numCache>
                <c:formatCode>General</c:formatCode>
                <c:ptCount val="8"/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DE-014F-8741-5EFFBA55EA22}"/>
            </c:ext>
          </c:extLst>
        </c:ser>
        <c:ser>
          <c:idx val="7"/>
          <c:order val="7"/>
          <c:tx>
            <c:strRef>
              <c:f>LEVEL_3!$AA$2:$AA$3</c:f>
              <c:strCache>
                <c:ptCount val="1"/>
                <c:pt idx="0">
                  <c:v>13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LEVEL_3!$S$4:$S$12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LEVEL_3!$AA$4:$AA$12</c:f>
              <c:numCache>
                <c:formatCode>General</c:formatCode>
                <c:ptCount val="8"/>
                <c:pt idx="2">
                  <c:v>2</c:v>
                </c:pt>
                <c:pt idx="3">
                  <c:v>2</c:v>
                </c:pt>
                <c:pt idx="5">
                  <c:v>1</c:v>
                </c:pt>
                <c:pt idx="6">
                  <c:v>9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5DE-014F-8741-5EFFBA55EA22}"/>
            </c:ext>
          </c:extLst>
        </c:ser>
        <c:ser>
          <c:idx val="8"/>
          <c:order val="8"/>
          <c:tx>
            <c:strRef>
              <c:f>LEVEL_3!$AB$2:$AB$3</c:f>
              <c:strCache>
                <c:ptCount val="1"/>
                <c:pt idx="0">
                  <c:v>14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LEVEL_3!$S$4:$S$12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LEVEL_3!$AB$4:$AB$12</c:f>
              <c:numCache>
                <c:formatCode>General</c:formatCode>
                <c:ptCount val="8"/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5DE-014F-8741-5EFFBA55EA22}"/>
            </c:ext>
          </c:extLst>
        </c:ser>
        <c:ser>
          <c:idx val="9"/>
          <c:order val="9"/>
          <c:tx>
            <c:strRef>
              <c:f>LEVEL_3!$AC$2:$AC$3</c:f>
              <c:strCache>
                <c:ptCount val="1"/>
                <c:pt idx="0">
                  <c:v>NA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LEVEL_3!$S$4:$S$12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LEVEL_3!$AC$4:$AC$12</c:f>
              <c:numCache>
                <c:formatCode>General</c:formatCode>
                <c:ptCount val="8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5DE-014F-8741-5EFFBA55EA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13013264"/>
        <c:axId val="839052511"/>
      </c:barChart>
      <c:catAx>
        <c:axId val="19130132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 baseline="0" dirty="0"/>
                  <a:t>Singular prefix stimulus</a:t>
                </a:r>
                <a:endParaRPr lang="en-GB" b="1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9052511"/>
        <c:crosses val="autoZero"/>
        <c:auto val="1"/>
        <c:lblAlgn val="ctr"/>
        <c:lblOffset val="100"/>
        <c:noMultiLvlLbl val="0"/>
      </c:catAx>
      <c:valAx>
        <c:axId val="83905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 baseline="0"/>
                  <a:t> Proportion  of responses</a:t>
                </a:r>
                <a:endParaRPr lang="en-GB" b="1"/>
              </a:p>
            </c:rich>
          </c:tx>
          <c:layout>
            <c:manualLayout>
              <c:xMode val="edge"/>
              <c:yMode val="edge"/>
              <c:x val="1.1111111111111112E-2"/>
              <c:y val="0.3525849372995042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3013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4036995592188755"/>
          <c:y val="0.12581780402449694"/>
          <c:w val="4.1109313217179255E-2"/>
          <c:h val="0.509012555862949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/>
              <a:t>Proportion of correct plural class responses by singular stimulus prefix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D86-7443-BACA-395481174E2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D86-7443-BACA-395481174E2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D86-7443-BACA-395481174E26}"/>
              </c:ext>
            </c:extLst>
          </c:dPt>
          <c:dPt>
            <c:idx val="3"/>
            <c:invertIfNegative val="0"/>
            <c:bubble3D val="0"/>
            <c:spPr>
              <a:solidFill>
                <a:srgbClr val="40127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D86-7443-BACA-395481174E2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D86-7443-BACA-395481174E2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D86-7443-BACA-395481174E2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D86-7443-BACA-395481174E2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D86-7443-BACA-395481174E26}"/>
              </c:ext>
            </c:extLst>
          </c:dPt>
          <c:errBars>
            <c:errBarType val="both"/>
            <c:errValType val="cust"/>
            <c:noEndCap val="0"/>
            <c:plus>
              <c:numRef>
                <c:f>LEVEL_3!$X$35:$X$42</c:f>
                <c:numCache>
                  <c:formatCode>General</c:formatCode>
                  <c:ptCount val="8"/>
                  <c:pt idx="0">
                    <c:v>5.740225742153459E-2</c:v>
                  </c:pt>
                  <c:pt idx="1">
                    <c:v>8.9485545398399632E-2</c:v>
                  </c:pt>
                  <c:pt idx="2">
                    <c:v>9.0971765229468399E-2</c:v>
                  </c:pt>
                  <c:pt idx="3">
                    <c:v>9.2641111170620155E-2</c:v>
                  </c:pt>
                  <c:pt idx="4">
                    <c:v>9.0971765229468399E-2</c:v>
                  </c:pt>
                  <c:pt idx="5">
                    <c:v>8.5096294339676318E-2</c:v>
                  </c:pt>
                  <c:pt idx="6">
                    <c:v>8.5096294339676318E-2</c:v>
                  </c:pt>
                  <c:pt idx="7">
                    <c:v>9.0971765229468399E-2</c:v>
                  </c:pt>
                </c:numCache>
              </c:numRef>
            </c:plus>
            <c:minus>
              <c:numRef>
                <c:f>LEVEL_3!$X$35:$X$42</c:f>
                <c:numCache>
                  <c:formatCode>General</c:formatCode>
                  <c:ptCount val="8"/>
                  <c:pt idx="0">
                    <c:v>5.740225742153459E-2</c:v>
                  </c:pt>
                  <c:pt idx="1">
                    <c:v>8.9485545398399632E-2</c:v>
                  </c:pt>
                  <c:pt idx="2">
                    <c:v>9.0971765229468399E-2</c:v>
                  </c:pt>
                  <c:pt idx="3">
                    <c:v>9.2641111170620155E-2</c:v>
                  </c:pt>
                  <c:pt idx="4">
                    <c:v>9.0971765229468399E-2</c:v>
                  </c:pt>
                  <c:pt idx="5">
                    <c:v>8.5096294339676318E-2</c:v>
                  </c:pt>
                  <c:pt idx="6">
                    <c:v>8.5096294339676318E-2</c:v>
                  </c:pt>
                  <c:pt idx="7">
                    <c:v>9.0971765229468399E-2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LEVEL_3!$R$35:$R$42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LEVEL_3!$V$35:$V$42</c:f>
              <c:numCache>
                <c:formatCode>General</c:formatCode>
                <c:ptCount val="8"/>
                <c:pt idx="0">
                  <c:v>0.76666666666666672</c:v>
                </c:pt>
                <c:pt idx="1">
                  <c:v>0.40740740740740738</c:v>
                </c:pt>
                <c:pt idx="2">
                  <c:v>0.3</c:v>
                </c:pt>
                <c:pt idx="3">
                  <c:v>0.4</c:v>
                </c:pt>
                <c:pt idx="4">
                  <c:v>0.59259259259259256</c:v>
                </c:pt>
                <c:pt idx="5">
                  <c:v>0.4</c:v>
                </c:pt>
                <c:pt idx="6">
                  <c:v>0.3</c:v>
                </c:pt>
                <c:pt idx="7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D86-7443-BACA-39548117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52545424"/>
        <c:axId val="1960145424"/>
      </c:barChart>
      <c:lineChart>
        <c:grouping val="standard"/>
        <c:varyColors val="0"/>
        <c:ser>
          <c:idx val="1"/>
          <c:order val="1"/>
          <c:tx>
            <c:v>Chance line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LEVEL_3!$R$35:$R$42</c:f>
              <c:strCache>
                <c:ptCount val="8"/>
                <c:pt idx="0">
                  <c:v>mû-</c:v>
                </c:pt>
                <c:pt idx="1">
                  <c:v>î-</c:v>
                </c:pt>
                <c:pt idx="2">
                  <c:v>k(g)î-</c:v>
                </c:pt>
                <c:pt idx="3">
                  <c:v>⌀-</c:v>
                </c:pt>
                <c:pt idx="4">
                  <c:v>n-</c:v>
                </c:pt>
                <c:pt idx="5">
                  <c:v>rû-</c:v>
                </c:pt>
                <c:pt idx="6">
                  <c:v>k(g)a-</c:v>
                </c:pt>
                <c:pt idx="7">
                  <c:v>û-</c:v>
                </c:pt>
              </c:strCache>
            </c:strRef>
          </c:cat>
          <c:val>
            <c:numRef>
              <c:f>LEVEL_3!$W$35:$W$42</c:f>
              <c:numCache>
                <c:formatCode>General</c:formatCode>
                <c:ptCount val="8"/>
                <c:pt idx="0">
                  <c:v>0.125</c:v>
                </c:pt>
                <c:pt idx="1">
                  <c:v>0.125</c:v>
                </c:pt>
                <c:pt idx="2">
                  <c:v>0.125</c:v>
                </c:pt>
                <c:pt idx="3">
                  <c:v>0.125</c:v>
                </c:pt>
                <c:pt idx="4">
                  <c:v>0.125</c:v>
                </c:pt>
                <c:pt idx="5">
                  <c:v>0.125</c:v>
                </c:pt>
                <c:pt idx="6">
                  <c:v>0.125</c:v>
                </c:pt>
                <c:pt idx="7">
                  <c:v>0.125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7D86-7443-BACA-395481174E26}"/>
            </c:ext>
          </c:extLst>
        </c:ser>
        <c:ser>
          <c:idx val="2"/>
          <c:order val="2"/>
          <c:tx>
            <c:v>2/4 (a-ba/mî-î)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2-7D86-7443-BACA-395481174E26}"/>
            </c:ext>
          </c:extLst>
        </c:ser>
        <c:ser>
          <c:idx val="4"/>
          <c:order val="3"/>
          <c:tx>
            <c:v>6 (ma-ma)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3-7D86-7443-BACA-395481174E26}"/>
            </c:ext>
          </c:extLst>
        </c:ser>
        <c:ser>
          <c:idx val="5"/>
          <c:order val="4"/>
          <c:tx>
            <c:v>8 (i-bi)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4-7D86-7443-BACA-395481174E26}"/>
            </c:ext>
          </c:extLst>
        </c:ser>
        <c:ser>
          <c:idx val="8"/>
          <c:order val="5"/>
          <c:tx>
            <c:v>10 (⌀-i)</c:v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5-7D86-7443-BACA-395481174E26}"/>
            </c:ext>
          </c:extLst>
        </c:ser>
        <c:ser>
          <c:idx val="6"/>
          <c:order val="6"/>
          <c:tx>
            <c:v>10 (n-i)</c:v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6-7D86-7443-BACA-395481174E26}"/>
            </c:ext>
          </c:extLst>
        </c:ser>
        <c:ser>
          <c:idx val="7"/>
          <c:order val="7"/>
          <c:tx>
            <c:v>13 (tû-tû)</c:v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7-7D86-7443-BACA-395481174E26}"/>
            </c:ext>
          </c:extLst>
        </c:ser>
        <c:ser>
          <c:idx val="3"/>
          <c:order val="8"/>
          <c:tx>
            <c:v>6/10 (û-ma/û-n)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18-7D86-7443-BACA-39548117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52545424"/>
        <c:axId val="1960145424"/>
      </c:lineChart>
      <c:catAx>
        <c:axId val="16525454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200" b="1" dirty="0"/>
                  <a:t>Singular stimulus prefix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0145424"/>
        <c:crosses val="autoZero"/>
        <c:auto val="1"/>
        <c:lblAlgn val="ctr"/>
        <c:lblOffset val="100"/>
        <c:noMultiLvlLbl val="0"/>
      </c:catAx>
      <c:valAx>
        <c:axId val="196014542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200" b="1"/>
                  <a:t>Proportion</a:t>
                </a:r>
                <a:r>
                  <a:rPr lang="en-GB" sz="1200" b="1" baseline="0"/>
                  <a:t> of correct response</a:t>
                </a:r>
                <a:endParaRPr lang="en-GB" sz="12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2545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85035290918305539"/>
          <c:y val="0.37495121533721326"/>
          <c:w val="0.14650737339151285"/>
          <c:h val="0.402515833618623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[Semantic_Experiment (long data) 2.xlsx]Featural analyses!PivotTable16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100" b="1"/>
              <a:t>Proportion</a:t>
            </a:r>
            <a:r>
              <a:rPr lang="en-GB" sz="1100" b="1" baseline="0"/>
              <a:t> of </a:t>
            </a:r>
            <a:r>
              <a:rPr lang="en-GB" sz="1100" b="1"/>
              <a:t>responses</a:t>
            </a:r>
            <a:r>
              <a:rPr lang="en-GB" sz="1100" b="1" baseline="0"/>
              <a:t> by</a:t>
            </a:r>
            <a:r>
              <a:rPr lang="en-GB" sz="1100" b="1"/>
              <a:t> semantic features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'Featural analyses'!$B$3:$B$4</c:f>
              <c:strCache>
                <c:ptCount val="1"/>
                <c:pt idx="0">
                  <c:v>12 (k(g)a-ka)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'Featural analyses'!$A$5:$A$15</c:f>
              <c:strCache>
                <c:ptCount val="10"/>
                <c:pt idx="0">
                  <c:v>artefact</c:v>
                </c:pt>
                <c:pt idx="1">
                  <c:v>augmentative</c:v>
                </c:pt>
                <c:pt idx="2">
                  <c:v>diminutive</c:v>
                </c:pt>
                <c:pt idx="3">
                  <c:v>extended</c:v>
                </c:pt>
                <c:pt idx="4">
                  <c:v>fruit</c:v>
                </c:pt>
                <c:pt idx="5">
                  <c:v>human</c:v>
                </c:pt>
                <c:pt idx="6">
                  <c:v>narrow</c:v>
                </c:pt>
                <c:pt idx="7">
                  <c:v>other</c:v>
                </c:pt>
                <c:pt idx="8">
                  <c:v>pejorative</c:v>
                </c:pt>
                <c:pt idx="9">
                  <c:v>wavy</c:v>
                </c:pt>
              </c:strCache>
            </c:strRef>
          </c:cat>
          <c:val>
            <c:numRef>
              <c:f>'Featural analyses'!$B$5:$B$15</c:f>
              <c:numCache>
                <c:formatCode>General</c:formatCode>
                <c:ptCount val="10"/>
                <c:pt idx="0">
                  <c:v>5</c:v>
                </c:pt>
                <c:pt idx="1">
                  <c:v>1</c:v>
                </c:pt>
                <c:pt idx="2">
                  <c:v>50</c:v>
                </c:pt>
                <c:pt idx="3">
                  <c:v>8</c:v>
                </c:pt>
                <c:pt idx="4">
                  <c:v>3</c:v>
                </c:pt>
                <c:pt idx="6">
                  <c:v>5</c:v>
                </c:pt>
                <c:pt idx="7">
                  <c:v>2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E3-9B43-A368-B16ECC15FF54}"/>
            </c:ext>
          </c:extLst>
        </c:ser>
        <c:ser>
          <c:idx val="1"/>
          <c:order val="1"/>
          <c:tx>
            <c:strRef>
              <c:f>'Featural analyses'!$C$3:$C$4</c:f>
              <c:strCache>
                <c:ptCount val="1"/>
                <c:pt idx="0">
                  <c:v>7 (k(g)î-kî)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'Featural analyses'!$A$5:$A$15</c:f>
              <c:strCache>
                <c:ptCount val="10"/>
                <c:pt idx="0">
                  <c:v>artefact</c:v>
                </c:pt>
                <c:pt idx="1">
                  <c:v>augmentative</c:v>
                </c:pt>
                <c:pt idx="2">
                  <c:v>diminutive</c:v>
                </c:pt>
                <c:pt idx="3">
                  <c:v>extended</c:v>
                </c:pt>
                <c:pt idx="4">
                  <c:v>fruit</c:v>
                </c:pt>
                <c:pt idx="5">
                  <c:v>human</c:v>
                </c:pt>
                <c:pt idx="6">
                  <c:v>narrow</c:v>
                </c:pt>
                <c:pt idx="7">
                  <c:v>other</c:v>
                </c:pt>
                <c:pt idx="8">
                  <c:v>pejorative</c:v>
                </c:pt>
                <c:pt idx="9">
                  <c:v>wavy</c:v>
                </c:pt>
              </c:strCache>
            </c:strRef>
          </c:cat>
          <c:val>
            <c:numRef>
              <c:f>'Featural analyses'!$C$5:$C$15</c:f>
              <c:numCache>
                <c:formatCode>General</c:formatCode>
                <c:ptCount val="10"/>
                <c:pt idx="0">
                  <c:v>15</c:v>
                </c:pt>
                <c:pt idx="1">
                  <c:v>36</c:v>
                </c:pt>
                <c:pt idx="2">
                  <c:v>3</c:v>
                </c:pt>
                <c:pt idx="3">
                  <c:v>13</c:v>
                </c:pt>
                <c:pt idx="4">
                  <c:v>10</c:v>
                </c:pt>
                <c:pt idx="5">
                  <c:v>2</c:v>
                </c:pt>
                <c:pt idx="6">
                  <c:v>12</c:v>
                </c:pt>
                <c:pt idx="7">
                  <c:v>24</c:v>
                </c:pt>
                <c:pt idx="8">
                  <c:v>33</c:v>
                </c:pt>
                <c:pt idx="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E3-9B43-A368-B16ECC15FF54}"/>
            </c:ext>
          </c:extLst>
        </c:ser>
        <c:ser>
          <c:idx val="2"/>
          <c:order val="2"/>
          <c:tx>
            <c:strRef>
              <c:f>'Featural analyses'!$D$3:$D$4</c:f>
              <c:strCache>
                <c:ptCount val="1"/>
                <c:pt idx="0">
                  <c:v>1 (mû-û)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'Featural analyses'!$A$5:$A$15</c:f>
              <c:strCache>
                <c:ptCount val="10"/>
                <c:pt idx="0">
                  <c:v>artefact</c:v>
                </c:pt>
                <c:pt idx="1">
                  <c:v>augmentative</c:v>
                </c:pt>
                <c:pt idx="2">
                  <c:v>diminutive</c:v>
                </c:pt>
                <c:pt idx="3">
                  <c:v>extended</c:v>
                </c:pt>
                <c:pt idx="4">
                  <c:v>fruit</c:v>
                </c:pt>
                <c:pt idx="5">
                  <c:v>human</c:v>
                </c:pt>
                <c:pt idx="6">
                  <c:v>narrow</c:v>
                </c:pt>
                <c:pt idx="7">
                  <c:v>other</c:v>
                </c:pt>
                <c:pt idx="8">
                  <c:v>pejorative</c:v>
                </c:pt>
                <c:pt idx="9">
                  <c:v>wavy</c:v>
                </c:pt>
              </c:strCache>
            </c:strRef>
          </c:cat>
          <c:val>
            <c:numRef>
              <c:f>'Featural analyses'!$D$5:$D$15</c:f>
              <c:numCache>
                <c:formatCode>General</c:formatCode>
                <c:ptCount val="10"/>
                <c:pt idx="0">
                  <c:v>10</c:v>
                </c:pt>
                <c:pt idx="1">
                  <c:v>6</c:v>
                </c:pt>
                <c:pt idx="2">
                  <c:v>3</c:v>
                </c:pt>
                <c:pt idx="3">
                  <c:v>11</c:v>
                </c:pt>
                <c:pt idx="4">
                  <c:v>10</c:v>
                </c:pt>
                <c:pt idx="5">
                  <c:v>68</c:v>
                </c:pt>
                <c:pt idx="6">
                  <c:v>13</c:v>
                </c:pt>
                <c:pt idx="7">
                  <c:v>7</c:v>
                </c:pt>
                <c:pt idx="8">
                  <c:v>5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9E3-9B43-A368-B16ECC15FF54}"/>
            </c:ext>
          </c:extLst>
        </c:ser>
        <c:ser>
          <c:idx val="3"/>
          <c:order val="3"/>
          <c:tx>
            <c:strRef>
              <c:f>'Featural analyses'!$E$3:$E$4</c:f>
              <c:strCache>
                <c:ptCount val="1"/>
                <c:pt idx="0">
                  <c:v>5 (î-rî)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'Featural analyses'!$A$5:$A$15</c:f>
              <c:strCache>
                <c:ptCount val="10"/>
                <c:pt idx="0">
                  <c:v>artefact</c:v>
                </c:pt>
                <c:pt idx="1">
                  <c:v>augmentative</c:v>
                </c:pt>
                <c:pt idx="2">
                  <c:v>diminutive</c:v>
                </c:pt>
                <c:pt idx="3">
                  <c:v>extended</c:v>
                </c:pt>
                <c:pt idx="4">
                  <c:v>fruit</c:v>
                </c:pt>
                <c:pt idx="5">
                  <c:v>human</c:v>
                </c:pt>
                <c:pt idx="6">
                  <c:v>narrow</c:v>
                </c:pt>
                <c:pt idx="7">
                  <c:v>other</c:v>
                </c:pt>
                <c:pt idx="8">
                  <c:v>pejorative</c:v>
                </c:pt>
                <c:pt idx="9">
                  <c:v>wavy</c:v>
                </c:pt>
              </c:strCache>
            </c:strRef>
          </c:cat>
          <c:val>
            <c:numRef>
              <c:f>'Featural analyses'!$E$5:$E$15</c:f>
              <c:numCache>
                <c:formatCode>General</c:formatCode>
                <c:ptCount val="10"/>
                <c:pt idx="0">
                  <c:v>12</c:v>
                </c:pt>
                <c:pt idx="1">
                  <c:v>17</c:v>
                </c:pt>
                <c:pt idx="2">
                  <c:v>4</c:v>
                </c:pt>
                <c:pt idx="3">
                  <c:v>12</c:v>
                </c:pt>
                <c:pt idx="4">
                  <c:v>20</c:v>
                </c:pt>
                <c:pt idx="5">
                  <c:v>1</c:v>
                </c:pt>
                <c:pt idx="6">
                  <c:v>6</c:v>
                </c:pt>
                <c:pt idx="7">
                  <c:v>10</c:v>
                </c:pt>
                <c:pt idx="8">
                  <c:v>20</c:v>
                </c:pt>
                <c:pt idx="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9E3-9B43-A368-B16ECC15FF54}"/>
            </c:ext>
          </c:extLst>
        </c:ser>
        <c:ser>
          <c:idx val="4"/>
          <c:order val="4"/>
          <c:tx>
            <c:strRef>
              <c:f>'Featural analyses'!$F$3:$F$4</c:f>
              <c:strCache>
                <c:ptCount val="1"/>
                <c:pt idx="0">
                  <c:v>3 (mû-û)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'Featural analyses'!$A$5:$A$15</c:f>
              <c:strCache>
                <c:ptCount val="10"/>
                <c:pt idx="0">
                  <c:v>artefact</c:v>
                </c:pt>
                <c:pt idx="1">
                  <c:v>augmentative</c:v>
                </c:pt>
                <c:pt idx="2">
                  <c:v>diminutive</c:v>
                </c:pt>
                <c:pt idx="3">
                  <c:v>extended</c:v>
                </c:pt>
                <c:pt idx="4">
                  <c:v>fruit</c:v>
                </c:pt>
                <c:pt idx="5">
                  <c:v>human</c:v>
                </c:pt>
                <c:pt idx="6">
                  <c:v>narrow</c:v>
                </c:pt>
                <c:pt idx="7">
                  <c:v>other</c:v>
                </c:pt>
                <c:pt idx="8">
                  <c:v>pejorative</c:v>
                </c:pt>
                <c:pt idx="9">
                  <c:v>wavy</c:v>
                </c:pt>
              </c:strCache>
            </c:strRef>
          </c:cat>
          <c:val>
            <c:numRef>
              <c:f>'Featural analyses'!$F$5:$F$15</c:f>
              <c:numCache>
                <c:formatCode>General</c:formatCode>
                <c:ptCount val="10"/>
                <c:pt idx="0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9E3-9B43-A368-B16ECC15FF54}"/>
            </c:ext>
          </c:extLst>
        </c:ser>
        <c:ser>
          <c:idx val="5"/>
          <c:order val="5"/>
          <c:tx>
            <c:strRef>
              <c:f>'Featural analyses'!$G$3:$G$4</c:f>
              <c:strCache>
                <c:ptCount val="1"/>
                <c:pt idx="0">
                  <c:v>9(n(∅)-î)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'Featural analyses'!$A$5:$A$15</c:f>
              <c:strCache>
                <c:ptCount val="10"/>
                <c:pt idx="0">
                  <c:v>artefact</c:v>
                </c:pt>
                <c:pt idx="1">
                  <c:v>augmentative</c:v>
                </c:pt>
                <c:pt idx="2">
                  <c:v>diminutive</c:v>
                </c:pt>
                <c:pt idx="3">
                  <c:v>extended</c:v>
                </c:pt>
                <c:pt idx="4">
                  <c:v>fruit</c:v>
                </c:pt>
                <c:pt idx="5">
                  <c:v>human</c:v>
                </c:pt>
                <c:pt idx="6">
                  <c:v>narrow</c:v>
                </c:pt>
                <c:pt idx="7">
                  <c:v>other</c:v>
                </c:pt>
                <c:pt idx="8">
                  <c:v>pejorative</c:v>
                </c:pt>
                <c:pt idx="9">
                  <c:v>wavy</c:v>
                </c:pt>
              </c:strCache>
            </c:strRef>
          </c:cat>
          <c:val>
            <c:numRef>
              <c:f>'Featural analyses'!$G$5:$G$15</c:f>
              <c:numCache>
                <c:formatCode>General</c:formatCode>
                <c:ptCount val="10"/>
                <c:pt idx="0">
                  <c:v>31</c:v>
                </c:pt>
                <c:pt idx="1">
                  <c:v>21</c:v>
                </c:pt>
                <c:pt idx="2">
                  <c:v>16</c:v>
                </c:pt>
                <c:pt idx="3">
                  <c:v>31</c:v>
                </c:pt>
                <c:pt idx="4">
                  <c:v>35</c:v>
                </c:pt>
                <c:pt idx="5">
                  <c:v>9</c:v>
                </c:pt>
                <c:pt idx="6">
                  <c:v>32</c:v>
                </c:pt>
                <c:pt idx="7">
                  <c:v>36</c:v>
                </c:pt>
                <c:pt idx="8">
                  <c:v>23</c:v>
                </c:pt>
                <c:pt idx="9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9E3-9B43-A368-B16ECC15FF54}"/>
            </c:ext>
          </c:extLst>
        </c:ser>
        <c:ser>
          <c:idx val="6"/>
          <c:order val="6"/>
          <c:tx>
            <c:strRef>
              <c:f>'Featural analyses'!$H$3:$H$4</c:f>
              <c:strCache>
                <c:ptCount val="1"/>
                <c:pt idx="0">
                  <c:v>11 (rû-rû)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'Featural analyses'!$A$5:$A$15</c:f>
              <c:strCache>
                <c:ptCount val="10"/>
                <c:pt idx="0">
                  <c:v>artefact</c:v>
                </c:pt>
                <c:pt idx="1">
                  <c:v>augmentative</c:v>
                </c:pt>
                <c:pt idx="2">
                  <c:v>diminutive</c:v>
                </c:pt>
                <c:pt idx="3">
                  <c:v>extended</c:v>
                </c:pt>
                <c:pt idx="4">
                  <c:v>fruit</c:v>
                </c:pt>
                <c:pt idx="5">
                  <c:v>human</c:v>
                </c:pt>
                <c:pt idx="6">
                  <c:v>narrow</c:v>
                </c:pt>
                <c:pt idx="7">
                  <c:v>other</c:v>
                </c:pt>
                <c:pt idx="8">
                  <c:v>pejorative</c:v>
                </c:pt>
                <c:pt idx="9">
                  <c:v>wavy</c:v>
                </c:pt>
              </c:strCache>
            </c:strRef>
          </c:cat>
          <c:val>
            <c:numRef>
              <c:f>'Featural analyses'!$H$5:$H$15</c:f>
              <c:numCache>
                <c:formatCode>General</c:formatCode>
                <c:ptCount val="10"/>
                <c:pt idx="0">
                  <c:v>6</c:v>
                </c:pt>
                <c:pt idx="2">
                  <c:v>5</c:v>
                </c:pt>
                <c:pt idx="3">
                  <c:v>5</c:v>
                </c:pt>
                <c:pt idx="4">
                  <c:v>3</c:v>
                </c:pt>
                <c:pt idx="5">
                  <c:v>1</c:v>
                </c:pt>
                <c:pt idx="6">
                  <c:v>13</c:v>
                </c:pt>
                <c:pt idx="7">
                  <c:v>1</c:v>
                </c:pt>
                <c:pt idx="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9E3-9B43-A368-B16ECC15FF54}"/>
            </c:ext>
          </c:extLst>
        </c:ser>
        <c:ser>
          <c:idx val="7"/>
          <c:order val="7"/>
          <c:tx>
            <c:strRef>
              <c:f>'Featural analyses'!$I$3:$I$4</c:f>
              <c:strCache>
                <c:ptCount val="1"/>
                <c:pt idx="0">
                  <c:v>14 (û-bû)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'Featural analyses'!$A$5:$A$15</c:f>
              <c:strCache>
                <c:ptCount val="10"/>
                <c:pt idx="0">
                  <c:v>artefact</c:v>
                </c:pt>
                <c:pt idx="1">
                  <c:v>augmentative</c:v>
                </c:pt>
                <c:pt idx="2">
                  <c:v>diminutive</c:v>
                </c:pt>
                <c:pt idx="3">
                  <c:v>extended</c:v>
                </c:pt>
                <c:pt idx="4">
                  <c:v>fruit</c:v>
                </c:pt>
                <c:pt idx="5">
                  <c:v>human</c:v>
                </c:pt>
                <c:pt idx="6">
                  <c:v>narrow</c:v>
                </c:pt>
                <c:pt idx="7">
                  <c:v>other</c:v>
                </c:pt>
                <c:pt idx="8">
                  <c:v>pejorative</c:v>
                </c:pt>
                <c:pt idx="9">
                  <c:v>wavy</c:v>
                </c:pt>
              </c:strCache>
            </c:strRef>
          </c:cat>
          <c:val>
            <c:numRef>
              <c:f>'Featural analyses'!$I$5:$I$15</c:f>
              <c:numCache>
                <c:formatCode>General</c:formatCode>
                <c:ptCount val="10"/>
                <c:pt idx="0">
                  <c:v>1</c:v>
                </c:pt>
                <c:pt idx="3">
                  <c:v>1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9E3-9B43-A368-B16ECC15FF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09606495"/>
        <c:axId val="1326955839"/>
      </c:barChart>
      <c:catAx>
        <c:axId val="9096064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/>
                  <a:t>Semantic feature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6955839"/>
        <c:crossesAt val="0"/>
        <c:auto val="1"/>
        <c:lblAlgn val="ctr"/>
        <c:lblOffset val="100"/>
        <c:noMultiLvlLbl val="0"/>
      </c:catAx>
      <c:valAx>
        <c:axId val="1326955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/>
                  <a:t> Proportion of response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606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925A3-4D0E-5640-AA61-5E8AE109291C}" type="datetimeFigureOut">
              <a:rPr lang="en-US" smtClean="0"/>
              <a:t>12/10/22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E295F-315B-1C45-959E-A55E7E19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0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06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98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80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76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14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61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51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98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28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3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4" y="1074511"/>
            <a:ext cx="11604171" cy="4977946"/>
          </a:xfrm>
        </p:spPr>
        <p:txBody>
          <a:bodyPr/>
          <a:lstStyle>
            <a:lvl1pPr>
              <a:defRPr sz="3200">
                <a:latin typeface="Helvetica" pitchFamily="2" charset="0"/>
              </a:defRPr>
            </a:lvl1pPr>
            <a:lvl2pPr>
              <a:defRPr sz="3200">
                <a:latin typeface="Helvetica" pitchFamily="2" charset="0"/>
              </a:defRPr>
            </a:lvl2pPr>
            <a:lvl3pPr>
              <a:defRPr sz="3200">
                <a:latin typeface="Helvetica" pitchFamily="2" charset="0"/>
              </a:defRPr>
            </a:lvl3pPr>
            <a:lvl4pPr>
              <a:defRPr sz="3200">
                <a:latin typeface="Helvetica" pitchFamily="2" charset="0"/>
              </a:defRPr>
            </a:lvl4pPr>
            <a:lvl5pPr>
              <a:defRPr sz="320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17714" y="6356350"/>
            <a:ext cx="2743200" cy="365125"/>
          </a:xfr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rPr lang="en-GB"/>
              <a:t>Bantu 9, 2022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DB2115-D3B1-AC31-7779-C65719862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"/>
            <a:ext cx="12192000" cy="86701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sz="4000" dirty="0">
                <a:latin typeface="Helvetica" pitchFamily="2" charset="0"/>
              </a:rPr>
              <a:t>Experiment 1: Semantic Cues</a:t>
            </a:r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://hdl.handle.net/10019.1/107220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4533"/>
            <a:ext cx="9144000" cy="2387600"/>
          </a:xfrm>
          <a:noFill/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80808"/>
                </a:solidFill>
                <a:latin typeface="Helvetica" pitchFamily="2" charset="0"/>
                <a:cs typeface="Calibri Light"/>
              </a:rPr>
              <a:t>Semantic and morphophonological productivity of Kîîtharaka noun classes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915" y="3200401"/>
            <a:ext cx="10559142" cy="2928256"/>
          </a:xfrm>
          <a:noFill/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endParaRPr lang="en-US" sz="1400" dirty="0">
              <a:solidFill>
                <a:srgbClr val="080808"/>
              </a:solidFill>
              <a:cs typeface="Calibri"/>
            </a:endParaRPr>
          </a:p>
          <a:p>
            <a:r>
              <a:rPr lang="en-US" sz="3000" dirty="0">
                <a:solidFill>
                  <a:srgbClr val="080808"/>
                </a:solidFill>
                <a:cs typeface="Calibri"/>
              </a:rPr>
              <a:t>Patrick Kanampiu</a:t>
            </a:r>
          </a:p>
          <a:p>
            <a:r>
              <a:rPr lang="en-US" sz="3000" dirty="0">
                <a:cs typeface="Calibri"/>
              </a:rPr>
              <a:t>The University of Edinburgh</a:t>
            </a:r>
          </a:p>
          <a:p>
            <a:r>
              <a:rPr lang="en-US" sz="3000" dirty="0">
                <a:cs typeface="Calibri"/>
              </a:rPr>
              <a:t>(Supervised by Jennifer Culbertson &amp; Alexander Martin)</a:t>
            </a:r>
          </a:p>
          <a:p>
            <a:endParaRPr lang="en-US" sz="3000" dirty="0">
              <a:cs typeface="Calibri"/>
            </a:endParaRPr>
          </a:p>
          <a:p>
            <a:r>
              <a:rPr lang="en-US" sz="3000" dirty="0">
                <a:cs typeface="Calibri"/>
              </a:rPr>
              <a:t>MGRG  Seminar Series</a:t>
            </a:r>
          </a:p>
          <a:p>
            <a:r>
              <a:rPr lang="en-US" sz="3000" dirty="0">
                <a:cs typeface="Calibri"/>
              </a:rPr>
              <a:t>December 13, 2022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579"/>
    </mc:Choice>
    <mc:Fallback xmlns="">
      <p:transition spd="slow" advTm="425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160" y="1074511"/>
            <a:ext cx="11960840" cy="1615422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dirty="0"/>
              <a:t>Nouns grouped based on agreement </a:t>
            </a:r>
            <a:r>
              <a:rPr lang="en-GB" sz="2200" dirty="0"/>
              <a:t>(Hockett 1958, Corbett 1991, </a:t>
            </a:r>
            <a:r>
              <a:rPr lang="en-GB" sz="2200" dirty="0" err="1"/>
              <a:t>Katamba</a:t>
            </a:r>
            <a:r>
              <a:rPr lang="en-GB" sz="2200" dirty="0"/>
              <a:t> 2006)</a:t>
            </a:r>
            <a:r>
              <a:rPr lang="en-GB" sz="2800" dirty="0"/>
              <a:t>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Used interchangeably with gender </a:t>
            </a:r>
            <a:r>
              <a:rPr lang="en-GB" sz="2200" dirty="0"/>
              <a:t>(Corbett, 1991:1; </a:t>
            </a:r>
            <a:r>
              <a:rPr lang="en-GB" sz="2200" dirty="0" err="1"/>
              <a:t>Aikhenvald</a:t>
            </a:r>
            <a:r>
              <a:rPr lang="en-GB" sz="2200" dirty="0"/>
              <a:t>, 2006)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Noun class systems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B139E0-A499-261C-4EAB-A0B034C289DC}"/>
              </a:ext>
            </a:extLst>
          </p:cNvPr>
          <p:cNvSpPr txBox="1">
            <a:spLocks/>
          </p:cNvSpPr>
          <p:nvPr/>
        </p:nvSpPr>
        <p:spPr>
          <a:xfrm>
            <a:off x="1273628" y="2786740"/>
            <a:ext cx="4060372" cy="3733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4000" dirty="0"/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4000" dirty="0"/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900" dirty="0"/>
              <a:t>   </a:t>
            </a:r>
            <a:endParaRPr lang="en-GB" dirty="0"/>
          </a:p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2EF3E0B-E7F8-992B-BEDC-F85E99045E4D}"/>
              </a:ext>
            </a:extLst>
          </p:cNvPr>
          <p:cNvSpPr txBox="1">
            <a:spLocks/>
          </p:cNvSpPr>
          <p:nvPr/>
        </p:nvSpPr>
        <p:spPr>
          <a:xfrm>
            <a:off x="3581401" y="4168067"/>
            <a:ext cx="5769429" cy="288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200" dirty="0"/>
              <a:t>		        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EED7F71-7EFB-E2CA-94B4-CD37820DD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718189"/>
              </p:ext>
            </p:extLst>
          </p:nvPr>
        </p:nvGraphicFramePr>
        <p:xfrm>
          <a:off x="496613" y="2708915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Kîîtharaka</a:t>
                      </a:r>
                      <a:endParaRPr lang="en-GB" sz="2400" b="1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(1)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(2)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7.machete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(3)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i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bi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8.machete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8.rel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BAC7D68A-9A80-411E-059B-9ADE3A328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235843"/>
              </p:ext>
            </p:extLst>
          </p:nvPr>
        </p:nvGraphicFramePr>
        <p:xfrm>
          <a:off x="6099761" y="2708916"/>
          <a:ext cx="5024729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742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1887166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(4) 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(5) 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42CD770-C9AD-2626-C659-F82C0DA5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31856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160" y="1074511"/>
            <a:ext cx="11960840" cy="1615422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dirty="0"/>
              <a:t>Nouns grouped based on agreement </a:t>
            </a:r>
            <a:r>
              <a:rPr lang="en-GB" sz="2200" dirty="0"/>
              <a:t>(Hockett 1958, Corbett 1991, </a:t>
            </a:r>
            <a:r>
              <a:rPr lang="en-GB" sz="2200" dirty="0" err="1"/>
              <a:t>Katamba</a:t>
            </a:r>
            <a:r>
              <a:rPr lang="en-GB" sz="2200" dirty="0"/>
              <a:t> 2006)</a:t>
            </a:r>
            <a:r>
              <a:rPr lang="en-GB" sz="2800" dirty="0"/>
              <a:t>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Used interchangeably with gender </a:t>
            </a:r>
            <a:r>
              <a:rPr lang="en-GB" sz="2200" dirty="0"/>
              <a:t>(Corbett, 1991:1; </a:t>
            </a:r>
            <a:r>
              <a:rPr lang="en-GB" sz="2200" dirty="0" err="1"/>
              <a:t>Aikhenvald</a:t>
            </a:r>
            <a:r>
              <a:rPr lang="en-GB" sz="2200" dirty="0"/>
              <a:t>, 2006)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Noun class systems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B139E0-A499-261C-4EAB-A0B034C289DC}"/>
              </a:ext>
            </a:extLst>
          </p:cNvPr>
          <p:cNvSpPr txBox="1">
            <a:spLocks/>
          </p:cNvSpPr>
          <p:nvPr/>
        </p:nvSpPr>
        <p:spPr>
          <a:xfrm>
            <a:off x="1273628" y="2786740"/>
            <a:ext cx="4060372" cy="3733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4000" dirty="0"/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4000" dirty="0"/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900" dirty="0"/>
              <a:t>   </a:t>
            </a:r>
            <a:endParaRPr lang="en-GB" dirty="0"/>
          </a:p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2EF3E0B-E7F8-992B-BEDC-F85E99045E4D}"/>
              </a:ext>
            </a:extLst>
          </p:cNvPr>
          <p:cNvSpPr txBox="1">
            <a:spLocks/>
          </p:cNvSpPr>
          <p:nvPr/>
        </p:nvSpPr>
        <p:spPr>
          <a:xfrm>
            <a:off x="3581401" y="4168067"/>
            <a:ext cx="5769429" cy="288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200" dirty="0"/>
              <a:t>		        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EED7F71-7EFB-E2CA-94B4-CD37820DD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732987"/>
              </p:ext>
            </p:extLst>
          </p:nvPr>
        </p:nvGraphicFramePr>
        <p:xfrm>
          <a:off x="496613" y="2708915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(2)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(3)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BAC7D68A-9A80-411E-059B-9ADE3A328808}"/>
              </a:ext>
            </a:extLst>
          </p:cNvPr>
          <p:cNvGraphicFramePr>
            <a:graphicFrameLocks noGrp="1"/>
          </p:cNvGraphicFramePr>
          <p:nvPr/>
        </p:nvGraphicFramePr>
        <p:xfrm>
          <a:off x="6099761" y="2708916"/>
          <a:ext cx="5024729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742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1887166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(4) 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(5) 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42CD770-C9AD-2626-C659-F82C0DA5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78849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160" y="1074511"/>
            <a:ext cx="11960840" cy="1615422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dirty="0"/>
              <a:t>Nouns grouped based on agreement </a:t>
            </a:r>
            <a:r>
              <a:rPr lang="en-GB" sz="2200" dirty="0"/>
              <a:t>(Hockett 1958, Corbett 1991, </a:t>
            </a:r>
            <a:r>
              <a:rPr lang="en-GB" sz="2200" dirty="0" err="1"/>
              <a:t>Katamba</a:t>
            </a:r>
            <a:r>
              <a:rPr lang="en-GB" sz="2200" dirty="0"/>
              <a:t> 2006)</a:t>
            </a:r>
            <a:r>
              <a:rPr lang="en-GB" sz="2800" dirty="0"/>
              <a:t>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Used interchangeably with gender </a:t>
            </a:r>
            <a:r>
              <a:rPr lang="en-GB" sz="2200" dirty="0"/>
              <a:t>(Corbett, 1991:1; </a:t>
            </a:r>
            <a:r>
              <a:rPr lang="en-GB" sz="2200" dirty="0" err="1"/>
              <a:t>Aikhenvald</a:t>
            </a:r>
            <a:r>
              <a:rPr lang="en-GB" sz="2200" dirty="0"/>
              <a:t>, 2006)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Noun class systems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B139E0-A499-261C-4EAB-A0B034C289DC}"/>
              </a:ext>
            </a:extLst>
          </p:cNvPr>
          <p:cNvSpPr txBox="1">
            <a:spLocks/>
          </p:cNvSpPr>
          <p:nvPr/>
        </p:nvSpPr>
        <p:spPr>
          <a:xfrm>
            <a:off x="1273628" y="2786740"/>
            <a:ext cx="4060372" cy="3733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4000" dirty="0"/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4000" dirty="0"/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900" dirty="0"/>
              <a:t>   </a:t>
            </a:r>
            <a:endParaRPr lang="en-GB" dirty="0"/>
          </a:p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2EF3E0B-E7F8-992B-BEDC-F85E99045E4D}"/>
              </a:ext>
            </a:extLst>
          </p:cNvPr>
          <p:cNvSpPr txBox="1">
            <a:spLocks/>
          </p:cNvSpPr>
          <p:nvPr/>
        </p:nvSpPr>
        <p:spPr>
          <a:xfrm>
            <a:off x="3581401" y="4168067"/>
            <a:ext cx="5769429" cy="288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200" dirty="0"/>
              <a:t>		        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EED7F71-7EFB-E2CA-94B4-CD37820DD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925234"/>
              </p:ext>
            </p:extLst>
          </p:nvPr>
        </p:nvGraphicFramePr>
        <p:xfrm>
          <a:off x="496613" y="2708915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Kîîtharaka</a:t>
                      </a:r>
                      <a:endParaRPr lang="en-GB" sz="2400" b="1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(1) 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(2) 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7.machete 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(3) 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i</a:t>
                      </a:r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bi</a:t>
                      </a:r>
                      <a:r>
                        <a:rPr lang="en-GB" sz="24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8.machete </a:t>
                      </a:r>
                      <a:endParaRPr lang="en-US" sz="2400" dirty="0">
                        <a:solidFill>
                          <a:schemeClr val="bg1">
                            <a:lumMod val="8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" pitchFamily="2" charset="0"/>
                        </a:rPr>
                        <a:t>8.rel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BAC7D68A-9A80-411E-059B-9ADE3A328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6436"/>
              </p:ext>
            </p:extLst>
          </p:nvPr>
        </p:nvGraphicFramePr>
        <p:xfrm>
          <a:off x="6099761" y="2708916"/>
          <a:ext cx="5024729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742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1887166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(4)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(5)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camionnette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42CD770-C9AD-2626-C659-F82C0DA5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9912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BDE29573-1C2D-DB73-15BE-86C09E3F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313528"/>
              </p:ext>
            </p:extLst>
          </p:nvPr>
        </p:nvGraphicFramePr>
        <p:xfrm>
          <a:off x="6115987" y="2001115"/>
          <a:ext cx="500850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6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1887166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(4)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>
                        <a:solidFill>
                          <a:schemeClr val="bg2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(5)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D84FFDFB-2DE9-DEB8-8118-DC95F988A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29524"/>
              </p:ext>
            </p:extLst>
          </p:nvPr>
        </p:nvGraphicFramePr>
        <p:xfrm>
          <a:off x="497073" y="2001116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Kîîtharaka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(1)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(2)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7.machete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(3)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i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bi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8.machete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8.rel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28" y="795303"/>
            <a:ext cx="11604171" cy="497794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/>
              <a:t>Semantics</a:t>
            </a:r>
          </a:p>
          <a:p>
            <a:pPr>
              <a:lnSpc>
                <a:spcPct val="100000"/>
              </a:lnSpc>
            </a:pPr>
            <a:r>
              <a:rPr lang="en-GB" sz="2800" b="1" dirty="0"/>
              <a:t>Form of the noun </a:t>
            </a:r>
            <a:r>
              <a:rPr lang="en-GB" sz="2800" dirty="0"/>
              <a:t>(morphology and/or phonology)</a:t>
            </a:r>
            <a:endParaRPr lang="en-GB" sz="2800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GB" sz="2800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endParaRPr lang="en-GB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2800" b="1" dirty="0"/>
              <a:t> </a:t>
            </a:r>
            <a:endParaRPr lang="en-GB" sz="28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79"/>
            <a:ext cx="12192000" cy="867017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What determines noun class in language?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7EDA8F-070F-14F4-FD7A-48D9F71D4783}"/>
              </a:ext>
            </a:extLst>
          </p:cNvPr>
          <p:cNvCxnSpPr>
            <a:cxnSpLocks/>
          </p:cNvCxnSpPr>
          <p:nvPr/>
        </p:nvCxnSpPr>
        <p:spPr>
          <a:xfrm flipH="1">
            <a:off x="3973134" y="3399800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A92D7D-DA46-56AE-E1FA-0ACBC3F66AD0}"/>
              </a:ext>
            </a:extLst>
          </p:cNvPr>
          <p:cNvCxnSpPr>
            <a:cxnSpLocks/>
          </p:cNvCxnSpPr>
          <p:nvPr/>
        </p:nvCxnSpPr>
        <p:spPr>
          <a:xfrm flipH="1">
            <a:off x="10267677" y="3399800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575592-5DA2-48E6-8EF4-F91EE05EACF8}"/>
              </a:ext>
            </a:extLst>
          </p:cNvPr>
          <p:cNvSpPr txBox="1"/>
          <p:nvPr/>
        </p:nvSpPr>
        <p:spPr>
          <a:xfrm>
            <a:off x="10965466" y="2342838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semantics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(male)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5873AD-0117-1160-9CA1-66CBDE46AFF0}"/>
              </a:ext>
            </a:extLst>
          </p:cNvPr>
          <p:cNvCxnSpPr>
            <a:cxnSpLocks/>
          </p:cNvCxnSpPr>
          <p:nvPr/>
        </p:nvCxnSpPr>
        <p:spPr>
          <a:xfrm flipH="1">
            <a:off x="3973134" y="4552032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AC23C13-2270-9755-AD5F-FB5AA5961F25}"/>
              </a:ext>
            </a:extLst>
          </p:cNvPr>
          <p:cNvSpPr txBox="1"/>
          <p:nvPr/>
        </p:nvSpPr>
        <p:spPr>
          <a:xfrm>
            <a:off x="10942940" y="3345450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morpho-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phonology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(-</a:t>
            </a:r>
            <a:r>
              <a:rPr lang="en-US" i="1" dirty="0" err="1">
                <a:solidFill>
                  <a:schemeClr val="bg2"/>
                </a:solidFill>
                <a:latin typeface="Helvetica" pitchFamily="2" charset="0"/>
              </a:rPr>
              <a:t>ette</a:t>
            </a:r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05B8CF-0AD2-18B4-0330-148C0D43C413}"/>
              </a:ext>
            </a:extLst>
          </p:cNvPr>
          <p:cNvCxnSpPr>
            <a:cxnSpLocks/>
          </p:cNvCxnSpPr>
          <p:nvPr/>
        </p:nvCxnSpPr>
        <p:spPr>
          <a:xfrm flipH="1">
            <a:off x="10267677" y="4552032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889A22C2-ED85-0435-149A-9C601F88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5</a:t>
            </a:fld>
            <a:endParaRPr lang="en-US" sz="2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3833592-EC23-4A07-6CFD-FA3401629788}"/>
              </a:ext>
            </a:extLst>
          </p:cNvPr>
          <p:cNvCxnSpPr/>
          <p:nvPr/>
        </p:nvCxnSpPr>
        <p:spPr>
          <a:xfrm flipH="1">
            <a:off x="10308733" y="2701363"/>
            <a:ext cx="656733" cy="0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710E23-E07D-E2AC-40EC-C5B04E978A8A}"/>
              </a:ext>
            </a:extLst>
          </p:cNvPr>
          <p:cNvCxnSpPr/>
          <p:nvPr/>
        </p:nvCxnSpPr>
        <p:spPr>
          <a:xfrm flipH="1">
            <a:off x="10267677" y="3825285"/>
            <a:ext cx="656733" cy="0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8945E1-93DE-F872-8FB6-01E6D987A6E0}"/>
              </a:ext>
            </a:extLst>
          </p:cNvPr>
          <p:cNvCxnSpPr/>
          <p:nvPr/>
        </p:nvCxnSpPr>
        <p:spPr>
          <a:xfrm flipH="1">
            <a:off x="4160044" y="4188698"/>
            <a:ext cx="656733" cy="0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4DA4A9-2BB3-5DC3-03A2-82E73DA4DDE1}"/>
              </a:ext>
            </a:extLst>
          </p:cNvPr>
          <p:cNvSpPr txBox="1"/>
          <p:nvPr/>
        </p:nvSpPr>
        <p:spPr>
          <a:xfrm>
            <a:off x="4867510" y="4038017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morpho-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phonology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Helvetica" pitchFamily="2" charset="0"/>
              </a:rPr>
              <a:t>kî</a:t>
            </a:r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-)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95FEA-74EA-237D-4AAD-63D4838DC825}"/>
              </a:ext>
            </a:extLst>
          </p:cNvPr>
          <p:cNvSpPr txBox="1"/>
          <p:nvPr/>
        </p:nvSpPr>
        <p:spPr>
          <a:xfrm>
            <a:off x="4912074" y="2341450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semantics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(human)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79742B-62EE-2C60-1B88-00901B741BF6}"/>
              </a:ext>
            </a:extLst>
          </p:cNvPr>
          <p:cNvCxnSpPr/>
          <p:nvPr/>
        </p:nvCxnSpPr>
        <p:spPr>
          <a:xfrm flipH="1">
            <a:off x="4160044" y="2680704"/>
            <a:ext cx="656733" cy="0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24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39"/>
    </mc:Choice>
    <mc:Fallback xmlns="">
      <p:transition spd="slow" advTm="1943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BDE29573-1C2D-DB73-15BE-86C09E3F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046025"/>
              </p:ext>
            </p:extLst>
          </p:nvPr>
        </p:nvGraphicFramePr>
        <p:xfrm>
          <a:off x="6115987" y="1954223"/>
          <a:ext cx="500850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6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1887166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(4)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(5)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D84FFDFB-2DE9-DEB8-8118-DC95F988A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359517"/>
              </p:ext>
            </p:extLst>
          </p:nvPr>
        </p:nvGraphicFramePr>
        <p:xfrm>
          <a:off x="497073" y="1942501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(2)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7.machete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(3)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i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bi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8.machete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8.rel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28" y="795303"/>
            <a:ext cx="11604171" cy="497794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/>
              <a:t>Semantics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2"/>
                </a:solidFill>
              </a:rPr>
              <a:t>Form of the noun </a:t>
            </a:r>
            <a:r>
              <a:rPr lang="en-GB" sz="2800" dirty="0">
                <a:solidFill>
                  <a:schemeClr val="bg2"/>
                </a:solidFill>
              </a:rPr>
              <a:t>(morphology and/or phonology)</a:t>
            </a:r>
            <a:endParaRPr lang="en-GB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2800" b="1" dirty="0"/>
              <a:t> </a:t>
            </a:r>
            <a:endParaRPr lang="en-GB" sz="28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79"/>
            <a:ext cx="12192000" cy="867017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What determines noun class in language?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7EDA8F-070F-14F4-FD7A-48D9F71D4783}"/>
              </a:ext>
            </a:extLst>
          </p:cNvPr>
          <p:cNvCxnSpPr>
            <a:cxnSpLocks/>
          </p:cNvCxnSpPr>
          <p:nvPr/>
        </p:nvCxnSpPr>
        <p:spPr>
          <a:xfrm flipH="1">
            <a:off x="3973134" y="3399800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A92D7D-DA46-56AE-E1FA-0ACBC3F66AD0}"/>
              </a:ext>
            </a:extLst>
          </p:cNvPr>
          <p:cNvCxnSpPr>
            <a:cxnSpLocks/>
          </p:cNvCxnSpPr>
          <p:nvPr/>
        </p:nvCxnSpPr>
        <p:spPr>
          <a:xfrm flipH="1">
            <a:off x="10267677" y="3399800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575592-5DA2-48E6-8EF4-F91EE05EACF8}"/>
              </a:ext>
            </a:extLst>
          </p:cNvPr>
          <p:cNvSpPr txBox="1"/>
          <p:nvPr/>
        </p:nvSpPr>
        <p:spPr>
          <a:xfrm>
            <a:off x="10965466" y="2378007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(male)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5873AD-0117-1160-9CA1-66CBDE46AFF0}"/>
              </a:ext>
            </a:extLst>
          </p:cNvPr>
          <p:cNvCxnSpPr>
            <a:cxnSpLocks/>
          </p:cNvCxnSpPr>
          <p:nvPr/>
        </p:nvCxnSpPr>
        <p:spPr>
          <a:xfrm flipH="1">
            <a:off x="3973134" y="4552032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AC23C13-2270-9755-AD5F-FB5AA5961F25}"/>
              </a:ext>
            </a:extLst>
          </p:cNvPr>
          <p:cNvSpPr txBox="1"/>
          <p:nvPr/>
        </p:nvSpPr>
        <p:spPr>
          <a:xfrm>
            <a:off x="10942940" y="3497849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morpho-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phonology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(-</a:t>
            </a:r>
            <a:r>
              <a:rPr lang="en-US" i="1" dirty="0" err="1">
                <a:solidFill>
                  <a:schemeClr val="bg2"/>
                </a:solidFill>
                <a:latin typeface="Helvetica" pitchFamily="2" charset="0"/>
              </a:rPr>
              <a:t>ete</a:t>
            </a:r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05B8CF-0AD2-18B4-0330-148C0D43C413}"/>
              </a:ext>
            </a:extLst>
          </p:cNvPr>
          <p:cNvCxnSpPr>
            <a:cxnSpLocks/>
          </p:cNvCxnSpPr>
          <p:nvPr/>
        </p:nvCxnSpPr>
        <p:spPr>
          <a:xfrm flipH="1">
            <a:off x="10267677" y="4552032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889A22C2-ED85-0435-149A-9C601F88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6</a:t>
            </a:fld>
            <a:endParaRPr lang="en-US" sz="2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3833592-EC23-4A07-6CFD-FA3401629788}"/>
              </a:ext>
            </a:extLst>
          </p:cNvPr>
          <p:cNvCxnSpPr/>
          <p:nvPr/>
        </p:nvCxnSpPr>
        <p:spPr>
          <a:xfrm flipH="1">
            <a:off x="10308733" y="2654471"/>
            <a:ext cx="6567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710E23-E07D-E2AC-40EC-C5B04E978A8A}"/>
              </a:ext>
            </a:extLst>
          </p:cNvPr>
          <p:cNvCxnSpPr/>
          <p:nvPr/>
        </p:nvCxnSpPr>
        <p:spPr>
          <a:xfrm flipH="1">
            <a:off x="10267677" y="3790116"/>
            <a:ext cx="656733" cy="0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8945E1-93DE-F872-8FB6-01E6D987A6E0}"/>
              </a:ext>
            </a:extLst>
          </p:cNvPr>
          <p:cNvCxnSpPr/>
          <p:nvPr/>
        </p:nvCxnSpPr>
        <p:spPr>
          <a:xfrm flipH="1">
            <a:off x="4160044" y="3790116"/>
            <a:ext cx="656733" cy="0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4DA4A9-2BB3-5DC3-03A2-82E73DA4DDE1}"/>
              </a:ext>
            </a:extLst>
          </p:cNvPr>
          <p:cNvSpPr txBox="1"/>
          <p:nvPr/>
        </p:nvSpPr>
        <p:spPr>
          <a:xfrm>
            <a:off x="4866927" y="3557151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morpho-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phonology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(-</a:t>
            </a:r>
            <a:r>
              <a:rPr lang="en-US" i="1" dirty="0" err="1">
                <a:solidFill>
                  <a:schemeClr val="bg2"/>
                </a:solidFill>
                <a:latin typeface="Helvetica" pitchFamily="2" charset="0"/>
              </a:rPr>
              <a:t>ete</a:t>
            </a:r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95FEA-74EA-237D-4AAD-63D4838DC825}"/>
              </a:ext>
            </a:extLst>
          </p:cNvPr>
          <p:cNvSpPr txBox="1"/>
          <p:nvPr/>
        </p:nvSpPr>
        <p:spPr>
          <a:xfrm>
            <a:off x="4912074" y="2294558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(human)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79742B-62EE-2C60-1B88-00901B741BF6}"/>
              </a:ext>
            </a:extLst>
          </p:cNvPr>
          <p:cNvCxnSpPr/>
          <p:nvPr/>
        </p:nvCxnSpPr>
        <p:spPr>
          <a:xfrm flipH="1">
            <a:off x="4160044" y="2551751"/>
            <a:ext cx="6567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965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019"/>
    </mc:Choice>
    <mc:Fallback>
      <p:transition spd="slow" advTm="3501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BDE29573-1C2D-DB73-15BE-86C09E3F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803362"/>
              </p:ext>
            </p:extLst>
          </p:nvPr>
        </p:nvGraphicFramePr>
        <p:xfrm>
          <a:off x="6115987" y="2130068"/>
          <a:ext cx="500850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6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1887166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(4)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>
                        <a:solidFill>
                          <a:schemeClr val="bg2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(5)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D84FFDFB-2DE9-DEB8-8118-DC95F988A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340711"/>
              </p:ext>
            </p:extLst>
          </p:nvPr>
        </p:nvGraphicFramePr>
        <p:xfrm>
          <a:off x="497073" y="2094900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(1)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(2)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(3)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8.rel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91" y="909134"/>
            <a:ext cx="11604171" cy="497794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2">
                    <a:lumMod val="90000"/>
                  </a:schemeClr>
                </a:solidFill>
              </a:rPr>
              <a:t>Semantics</a:t>
            </a:r>
          </a:p>
          <a:p>
            <a:pPr>
              <a:lnSpc>
                <a:spcPct val="100000"/>
              </a:lnSpc>
            </a:pPr>
            <a:r>
              <a:rPr lang="en-GB" sz="2800" b="1" dirty="0"/>
              <a:t>Form of the noun </a:t>
            </a:r>
            <a:r>
              <a:rPr lang="en-GB" sz="2800" dirty="0"/>
              <a:t>(morphology and/or phonology)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79"/>
            <a:ext cx="12192000" cy="867017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What determines noun class in language?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7EDA8F-070F-14F4-FD7A-48D9F71D4783}"/>
              </a:ext>
            </a:extLst>
          </p:cNvPr>
          <p:cNvCxnSpPr>
            <a:cxnSpLocks/>
          </p:cNvCxnSpPr>
          <p:nvPr/>
        </p:nvCxnSpPr>
        <p:spPr>
          <a:xfrm flipH="1">
            <a:off x="3973134" y="3399800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A92D7D-DA46-56AE-E1FA-0ACBC3F66AD0}"/>
              </a:ext>
            </a:extLst>
          </p:cNvPr>
          <p:cNvCxnSpPr>
            <a:cxnSpLocks/>
          </p:cNvCxnSpPr>
          <p:nvPr/>
        </p:nvCxnSpPr>
        <p:spPr>
          <a:xfrm flipH="1">
            <a:off x="10267677" y="3399800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575592-5DA2-48E6-8EF4-F91EE05EACF8}"/>
              </a:ext>
            </a:extLst>
          </p:cNvPr>
          <p:cNvSpPr txBox="1"/>
          <p:nvPr/>
        </p:nvSpPr>
        <p:spPr>
          <a:xfrm>
            <a:off x="10965466" y="2448345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semantics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(male)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5873AD-0117-1160-9CA1-66CBDE46AFF0}"/>
              </a:ext>
            </a:extLst>
          </p:cNvPr>
          <p:cNvCxnSpPr>
            <a:cxnSpLocks/>
          </p:cNvCxnSpPr>
          <p:nvPr/>
        </p:nvCxnSpPr>
        <p:spPr>
          <a:xfrm flipH="1">
            <a:off x="3973134" y="4552032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AC23C13-2270-9755-AD5F-FB5AA5961F25}"/>
              </a:ext>
            </a:extLst>
          </p:cNvPr>
          <p:cNvSpPr txBox="1"/>
          <p:nvPr/>
        </p:nvSpPr>
        <p:spPr>
          <a:xfrm>
            <a:off x="10942940" y="3603356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morpho-</a:t>
            </a:r>
          </a:p>
          <a:p>
            <a:r>
              <a:rPr lang="en-US" dirty="0">
                <a:latin typeface="Helvetica" pitchFamily="2" charset="0"/>
              </a:rPr>
              <a:t>phonology</a:t>
            </a:r>
          </a:p>
          <a:p>
            <a:r>
              <a:rPr lang="en-US" dirty="0">
                <a:latin typeface="Helvetica" pitchFamily="2" charset="0"/>
              </a:rPr>
              <a:t>(-</a:t>
            </a:r>
            <a:r>
              <a:rPr lang="en-US" i="1" dirty="0" err="1">
                <a:latin typeface="Helvetica" pitchFamily="2" charset="0"/>
              </a:rPr>
              <a:t>ette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05B8CF-0AD2-18B4-0330-148C0D43C413}"/>
              </a:ext>
            </a:extLst>
          </p:cNvPr>
          <p:cNvCxnSpPr>
            <a:cxnSpLocks/>
          </p:cNvCxnSpPr>
          <p:nvPr/>
        </p:nvCxnSpPr>
        <p:spPr>
          <a:xfrm flipH="1">
            <a:off x="10267677" y="4552032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889A22C2-ED85-0435-149A-9C601F88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7</a:t>
            </a:fld>
            <a:endParaRPr lang="en-US" sz="2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3833592-EC23-4A07-6CFD-FA3401629788}"/>
              </a:ext>
            </a:extLst>
          </p:cNvPr>
          <p:cNvCxnSpPr/>
          <p:nvPr/>
        </p:nvCxnSpPr>
        <p:spPr>
          <a:xfrm flipH="1">
            <a:off x="10308733" y="2795147"/>
            <a:ext cx="656733" cy="0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710E23-E07D-E2AC-40EC-C5B04E978A8A}"/>
              </a:ext>
            </a:extLst>
          </p:cNvPr>
          <p:cNvCxnSpPr/>
          <p:nvPr/>
        </p:nvCxnSpPr>
        <p:spPr>
          <a:xfrm flipH="1">
            <a:off x="10267677" y="3919069"/>
            <a:ext cx="656733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4DA4A9-2BB3-5DC3-03A2-82E73DA4DDE1}"/>
              </a:ext>
            </a:extLst>
          </p:cNvPr>
          <p:cNvSpPr txBox="1"/>
          <p:nvPr/>
        </p:nvSpPr>
        <p:spPr>
          <a:xfrm>
            <a:off x="4867510" y="3768388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morpho-</a:t>
            </a:r>
          </a:p>
          <a:p>
            <a:r>
              <a:rPr lang="en-US" dirty="0">
                <a:latin typeface="Helvetica" pitchFamily="2" charset="0"/>
              </a:rPr>
              <a:t>phonology</a:t>
            </a:r>
          </a:p>
          <a:p>
            <a:r>
              <a:rPr lang="en-US" dirty="0">
                <a:latin typeface="Helvetica" pitchFamily="2" charset="0"/>
              </a:rPr>
              <a:t>(</a:t>
            </a:r>
            <a:r>
              <a:rPr lang="en-US" i="1" dirty="0" err="1">
                <a:latin typeface="Helvetica" pitchFamily="2" charset="0"/>
              </a:rPr>
              <a:t>kî</a:t>
            </a:r>
            <a:r>
              <a:rPr lang="en-US" i="1" dirty="0">
                <a:latin typeface="Helvetica" pitchFamily="2" charset="0"/>
              </a:rPr>
              <a:t>/</a:t>
            </a:r>
            <a:r>
              <a:rPr lang="en-US" i="1" dirty="0" err="1">
                <a:latin typeface="Helvetica" pitchFamily="2" charset="0"/>
              </a:rPr>
              <a:t>kî-i</a:t>
            </a:r>
            <a:r>
              <a:rPr lang="en-US" i="1" dirty="0">
                <a:latin typeface="Helvetica" pitchFamily="2" charset="0"/>
              </a:rPr>
              <a:t>/bi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95FEA-74EA-237D-4AAD-63D4838DC825}"/>
              </a:ext>
            </a:extLst>
          </p:cNvPr>
          <p:cNvSpPr txBox="1"/>
          <p:nvPr/>
        </p:nvSpPr>
        <p:spPr>
          <a:xfrm>
            <a:off x="4912074" y="2482126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semantics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(male)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79742B-62EE-2C60-1B88-00901B741BF6}"/>
              </a:ext>
            </a:extLst>
          </p:cNvPr>
          <p:cNvCxnSpPr/>
          <p:nvPr/>
        </p:nvCxnSpPr>
        <p:spPr>
          <a:xfrm flipH="1">
            <a:off x="4160044" y="2739319"/>
            <a:ext cx="656733" cy="0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8945E1-93DE-F872-8FB6-01E6D987A6E0}"/>
              </a:ext>
            </a:extLst>
          </p:cNvPr>
          <p:cNvCxnSpPr/>
          <p:nvPr/>
        </p:nvCxnSpPr>
        <p:spPr>
          <a:xfrm flipH="1">
            <a:off x="4160044" y="3965961"/>
            <a:ext cx="656733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188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567"/>
    </mc:Choice>
    <mc:Fallback>
      <p:transition spd="slow" advTm="1956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4">
            <a:extLst>
              <a:ext uri="{FF2B5EF4-FFF2-40B4-BE49-F238E27FC236}">
                <a16:creationId xmlns:a16="http://schemas.microsoft.com/office/drawing/2014/main" id="{F81EE789-B76A-5DCB-52F5-974BA865F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95704"/>
              </p:ext>
            </p:extLst>
          </p:nvPr>
        </p:nvGraphicFramePr>
        <p:xfrm>
          <a:off x="6049477" y="2046256"/>
          <a:ext cx="502472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742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  <a:gridCol w="175098">
                  <a:extLst>
                    <a:ext uri="{9D8B030D-6E8A-4147-A177-3AD203B41FA5}">
                      <a16:colId xmlns:a16="http://schemas.microsoft.com/office/drawing/2014/main" val="2498759456"/>
                    </a:ext>
                  </a:extLst>
                </a:gridCol>
                <a:gridCol w="1212005">
                  <a:extLst>
                    <a:ext uri="{9D8B030D-6E8A-4147-A177-3AD203B41FA5}">
                      <a16:colId xmlns:a16="http://schemas.microsoft.com/office/drawing/2014/main" val="298721630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(10)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41366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(11) 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personne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389106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person.F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(12)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(13)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squel</a:t>
                      </a:r>
                      <a:r>
                        <a:rPr lang="en-GB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569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skeleton.M</a:t>
                      </a:r>
                      <a:endParaRPr lang="en-GB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735109"/>
                  </a:ext>
                </a:extLst>
              </a:tr>
            </a:tbl>
          </a:graphicData>
        </a:graphic>
      </p:graphicFrame>
      <p:graphicFrame>
        <p:nvGraphicFramePr>
          <p:cNvPr id="35" name="Table 4">
            <a:extLst>
              <a:ext uri="{FF2B5EF4-FFF2-40B4-BE49-F238E27FC236}">
                <a16:creationId xmlns:a16="http://schemas.microsoft.com/office/drawing/2014/main" id="{F3F054EF-C7E9-619B-437A-90FAF3681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225880"/>
              </p:ext>
            </p:extLst>
          </p:nvPr>
        </p:nvGraphicFramePr>
        <p:xfrm>
          <a:off x="496613" y="2005535"/>
          <a:ext cx="5597373" cy="4562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(6)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(7)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kîroria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7.prophet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(8)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î</a:t>
                      </a: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the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ûûra</a:t>
                      </a:r>
                      <a:endParaRPr lang="en-GB" sz="24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5.father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1.dist.dem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nkoma</a:t>
                      </a:r>
                      <a:endParaRPr lang="en-US" sz="24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aathi</a:t>
                      </a:r>
                      <a:endParaRPr lang="en-GB" sz="24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425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9.devil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1.went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52820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74511"/>
            <a:ext cx="11604171" cy="880603"/>
          </a:xfrm>
        </p:spPr>
        <p:txBody>
          <a:bodyPr anchor="t">
            <a:noAutofit/>
          </a:bodyPr>
          <a:lstStyle/>
          <a:p>
            <a:pPr lvl="0"/>
            <a:r>
              <a:rPr lang="en-GB" sz="2800" dirty="0"/>
              <a:t>But there are typically, many exceptions!...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8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determines noun class in a language?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23C13-2270-9755-AD5F-FB5AA5961F25}"/>
              </a:ext>
            </a:extLst>
          </p:cNvPr>
          <p:cNvSpPr txBox="1"/>
          <p:nvPr/>
        </p:nvSpPr>
        <p:spPr>
          <a:xfrm>
            <a:off x="10342073" y="59506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A98031-286B-8959-3B88-3E49A4C05BAC}"/>
              </a:ext>
            </a:extLst>
          </p:cNvPr>
          <p:cNvSpPr txBox="1"/>
          <p:nvPr/>
        </p:nvSpPr>
        <p:spPr>
          <a:xfrm>
            <a:off x="5339618" y="369915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21A527-3434-1B2B-7BFA-BC48BF9AB826}"/>
              </a:ext>
            </a:extLst>
          </p:cNvPr>
          <p:cNvCxnSpPr>
            <a:cxnSpLocks/>
          </p:cNvCxnSpPr>
          <p:nvPr/>
        </p:nvCxnSpPr>
        <p:spPr>
          <a:xfrm flipH="1">
            <a:off x="4509144" y="5691225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8A31F9-33C9-CF63-9FD2-29D84CDA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8</a:t>
            </a:fld>
            <a:endParaRPr lang="en-US" sz="28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B45CCE-4160-989B-7828-C9D23DC88CEA}"/>
              </a:ext>
            </a:extLst>
          </p:cNvPr>
          <p:cNvCxnSpPr>
            <a:cxnSpLocks/>
          </p:cNvCxnSpPr>
          <p:nvPr/>
        </p:nvCxnSpPr>
        <p:spPr>
          <a:xfrm flipH="1">
            <a:off x="3973134" y="2719866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E8444FA-9946-1CC4-18FF-20286900C062}"/>
              </a:ext>
            </a:extLst>
          </p:cNvPr>
          <p:cNvSpPr txBox="1"/>
          <p:nvPr/>
        </p:nvSpPr>
        <p:spPr>
          <a:xfrm>
            <a:off x="4787593" y="2402649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(human)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86D41A0-78F3-D850-1884-6505DB21122A}"/>
              </a:ext>
            </a:extLst>
          </p:cNvPr>
          <p:cNvCxnSpPr>
            <a:cxnSpLocks/>
          </p:cNvCxnSpPr>
          <p:nvPr/>
        </p:nvCxnSpPr>
        <p:spPr>
          <a:xfrm flipH="1">
            <a:off x="10267677" y="2755035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EE77461-550D-66AB-A97A-735DBEA10F47}"/>
              </a:ext>
            </a:extLst>
          </p:cNvPr>
          <p:cNvSpPr txBox="1"/>
          <p:nvPr/>
        </p:nvSpPr>
        <p:spPr>
          <a:xfrm>
            <a:off x="10945951" y="2535684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(male)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641123-F5D1-F436-8D89-7FC9D71A3244}"/>
              </a:ext>
            </a:extLst>
          </p:cNvPr>
          <p:cNvCxnSpPr>
            <a:cxnSpLocks/>
          </p:cNvCxnSpPr>
          <p:nvPr/>
        </p:nvCxnSpPr>
        <p:spPr>
          <a:xfrm flipH="1">
            <a:off x="4509144" y="3848651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78B90E3-EDB2-83D1-9FF5-7699F48CD119}"/>
              </a:ext>
            </a:extLst>
          </p:cNvPr>
          <p:cNvSpPr txBox="1"/>
          <p:nvPr/>
        </p:nvSpPr>
        <p:spPr>
          <a:xfrm>
            <a:off x="10649912" y="4876198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morpho-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phonology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(-</a:t>
            </a:r>
            <a:r>
              <a:rPr lang="en-US" i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ette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C2FC3A-9A7B-D788-3A1D-5F08E1A2E139}"/>
              </a:ext>
            </a:extLst>
          </p:cNvPr>
          <p:cNvCxnSpPr>
            <a:cxnSpLocks/>
          </p:cNvCxnSpPr>
          <p:nvPr/>
        </p:nvCxnSpPr>
        <p:spPr>
          <a:xfrm flipH="1">
            <a:off x="9993179" y="5239530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F862F3-85E4-8A5F-CB59-71861ABA90A2}"/>
              </a:ext>
            </a:extLst>
          </p:cNvPr>
          <p:cNvCxnSpPr>
            <a:cxnSpLocks/>
          </p:cNvCxnSpPr>
          <p:nvPr/>
        </p:nvCxnSpPr>
        <p:spPr>
          <a:xfrm flipH="1">
            <a:off x="9644284" y="6135277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B58E04-8364-2627-8C57-8FE74D47BECB}"/>
              </a:ext>
            </a:extLst>
          </p:cNvPr>
          <p:cNvCxnSpPr>
            <a:cxnSpLocks/>
          </p:cNvCxnSpPr>
          <p:nvPr/>
        </p:nvCxnSpPr>
        <p:spPr>
          <a:xfrm flipH="1">
            <a:off x="10125874" y="3637440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A18245F-0F25-3F67-2639-D39B3CF5E07F}"/>
              </a:ext>
            </a:extLst>
          </p:cNvPr>
          <p:cNvSpPr txBox="1"/>
          <p:nvPr/>
        </p:nvSpPr>
        <p:spPr>
          <a:xfrm>
            <a:off x="5347518" y="55329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9DFCFF-A997-8AD0-B905-C4203386C229}"/>
              </a:ext>
            </a:extLst>
          </p:cNvPr>
          <p:cNvSpPr txBox="1"/>
          <p:nvPr/>
        </p:nvSpPr>
        <p:spPr>
          <a:xfrm>
            <a:off x="10649912" y="3472652"/>
            <a:ext cx="703888" cy="37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    ?</a:t>
            </a:r>
          </a:p>
        </p:txBody>
      </p:sp>
    </p:spTree>
    <p:extLst>
      <p:ext uri="{BB962C8B-B14F-4D97-AF65-F5344CB8AC3E}">
        <p14:creationId xmlns:p14="http://schemas.microsoft.com/office/powerpoint/2010/main" val="4074759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4">
            <a:extLst>
              <a:ext uri="{FF2B5EF4-FFF2-40B4-BE49-F238E27FC236}">
                <a16:creationId xmlns:a16="http://schemas.microsoft.com/office/drawing/2014/main" id="{F81EE789-B76A-5DCB-52F5-974BA865F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222035"/>
              </p:ext>
            </p:extLst>
          </p:nvPr>
        </p:nvGraphicFramePr>
        <p:xfrm>
          <a:off x="6049477" y="2046256"/>
          <a:ext cx="502472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742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  <a:gridCol w="175098">
                  <a:extLst>
                    <a:ext uri="{9D8B030D-6E8A-4147-A177-3AD203B41FA5}">
                      <a16:colId xmlns:a16="http://schemas.microsoft.com/office/drawing/2014/main" val="2498759456"/>
                    </a:ext>
                  </a:extLst>
                </a:gridCol>
                <a:gridCol w="1212005">
                  <a:extLst>
                    <a:ext uri="{9D8B030D-6E8A-4147-A177-3AD203B41FA5}">
                      <a16:colId xmlns:a16="http://schemas.microsoft.com/office/drawing/2014/main" val="298721630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(10)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41366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(11)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personne</a:t>
                      </a:r>
                      <a:endParaRPr lang="en-GB" sz="24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389106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person.F</a:t>
                      </a:r>
                      <a:endParaRPr lang="en-GB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(12)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(13)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squel</a:t>
                      </a:r>
                      <a:r>
                        <a:rPr lang="en-GB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569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skeleton.M</a:t>
                      </a:r>
                      <a:endParaRPr lang="en-GB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735109"/>
                  </a:ext>
                </a:extLst>
              </a:tr>
            </a:tbl>
          </a:graphicData>
        </a:graphic>
      </p:graphicFrame>
      <p:graphicFrame>
        <p:nvGraphicFramePr>
          <p:cNvPr id="35" name="Table 4">
            <a:extLst>
              <a:ext uri="{FF2B5EF4-FFF2-40B4-BE49-F238E27FC236}">
                <a16:creationId xmlns:a16="http://schemas.microsoft.com/office/drawing/2014/main" id="{F3F054EF-C7E9-619B-437A-90FAF3681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907814"/>
              </p:ext>
            </p:extLst>
          </p:nvPr>
        </p:nvGraphicFramePr>
        <p:xfrm>
          <a:off x="496613" y="2005535"/>
          <a:ext cx="5597373" cy="4562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(6)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(7)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7.prophet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(8) 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î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5.father 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1.dist.dem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n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koma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athi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251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9.devil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1.went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929456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74511"/>
            <a:ext cx="11604171" cy="880603"/>
          </a:xfrm>
        </p:spPr>
        <p:txBody>
          <a:bodyPr anchor="t">
            <a:noAutofit/>
          </a:bodyPr>
          <a:lstStyle/>
          <a:p>
            <a:pPr lvl="0"/>
            <a:r>
              <a:rPr lang="en-GB" sz="2800" dirty="0"/>
              <a:t>But there are typically, many exceptions!...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8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determines noun class in a language?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23C13-2270-9755-AD5F-FB5AA5961F25}"/>
              </a:ext>
            </a:extLst>
          </p:cNvPr>
          <p:cNvSpPr txBox="1"/>
          <p:nvPr/>
        </p:nvSpPr>
        <p:spPr>
          <a:xfrm>
            <a:off x="10342073" y="59506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21A527-3434-1B2B-7BFA-BC48BF9AB826}"/>
              </a:ext>
            </a:extLst>
          </p:cNvPr>
          <p:cNvCxnSpPr>
            <a:cxnSpLocks/>
          </p:cNvCxnSpPr>
          <p:nvPr/>
        </p:nvCxnSpPr>
        <p:spPr>
          <a:xfrm flipH="1">
            <a:off x="4509144" y="5691225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8A31F9-33C9-CF63-9FD2-29D84CDA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9</a:t>
            </a:fld>
            <a:endParaRPr lang="en-US" sz="28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B45CCE-4160-989B-7828-C9D23DC88CEA}"/>
              </a:ext>
            </a:extLst>
          </p:cNvPr>
          <p:cNvCxnSpPr>
            <a:cxnSpLocks/>
          </p:cNvCxnSpPr>
          <p:nvPr/>
        </p:nvCxnSpPr>
        <p:spPr>
          <a:xfrm flipH="1">
            <a:off x="3973134" y="2719866"/>
            <a:ext cx="843643" cy="0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E8444FA-9946-1CC4-18FF-20286900C062}"/>
              </a:ext>
            </a:extLst>
          </p:cNvPr>
          <p:cNvSpPr txBox="1"/>
          <p:nvPr/>
        </p:nvSpPr>
        <p:spPr>
          <a:xfrm>
            <a:off x="4787593" y="2402649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semantics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(human)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86D41A0-78F3-D850-1884-6505DB21122A}"/>
              </a:ext>
            </a:extLst>
          </p:cNvPr>
          <p:cNvCxnSpPr>
            <a:cxnSpLocks/>
          </p:cNvCxnSpPr>
          <p:nvPr/>
        </p:nvCxnSpPr>
        <p:spPr>
          <a:xfrm flipH="1">
            <a:off x="10267677" y="2755035"/>
            <a:ext cx="697789" cy="0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EE77461-550D-66AB-A97A-735DBEA10F47}"/>
              </a:ext>
            </a:extLst>
          </p:cNvPr>
          <p:cNvSpPr txBox="1"/>
          <p:nvPr/>
        </p:nvSpPr>
        <p:spPr>
          <a:xfrm>
            <a:off x="10945951" y="2535684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semantics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(male)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641123-F5D1-F436-8D89-7FC9D71A3244}"/>
              </a:ext>
            </a:extLst>
          </p:cNvPr>
          <p:cNvCxnSpPr>
            <a:cxnSpLocks/>
          </p:cNvCxnSpPr>
          <p:nvPr/>
        </p:nvCxnSpPr>
        <p:spPr>
          <a:xfrm flipH="1">
            <a:off x="4087116" y="3848651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78B90E3-EDB2-83D1-9FF5-7699F48CD119}"/>
              </a:ext>
            </a:extLst>
          </p:cNvPr>
          <p:cNvSpPr txBox="1"/>
          <p:nvPr/>
        </p:nvSpPr>
        <p:spPr>
          <a:xfrm>
            <a:off x="10649912" y="4876198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morpho-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phonology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(-</a:t>
            </a:r>
            <a:r>
              <a:rPr lang="en-US" i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ette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C2FC3A-9A7B-D788-3A1D-5F08E1A2E139}"/>
              </a:ext>
            </a:extLst>
          </p:cNvPr>
          <p:cNvCxnSpPr>
            <a:cxnSpLocks/>
          </p:cNvCxnSpPr>
          <p:nvPr/>
        </p:nvCxnSpPr>
        <p:spPr>
          <a:xfrm flipH="1">
            <a:off x="9993179" y="5239530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F862F3-85E4-8A5F-CB59-71861ABA90A2}"/>
              </a:ext>
            </a:extLst>
          </p:cNvPr>
          <p:cNvCxnSpPr>
            <a:cxnSpLocks/>
          </p:cNvCxnSpPr>
          <p:nvPr/>
        </p:nvCxnSpPr>
        <p:spPr>
          <a:xfrm flipH="1">
            <a:off x="9644284" y="6135277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B58E04-8364-2627-8C57-8FE74D47BECB}"/>
              </a:ext>
            </a:extLst>
          </p:cNvPr>
          <p:cNvCxnSpPr>
            <a:cxnSpLocks/>
          </p:cNvCxnSpPr>
          <p:nvPr/>
        </p:nvCxnSpPr>
        <p:spPr>
          <a:xfrm flipH="1">
            <a:off x="10125874" y="3637440"/>
            <a:ext cx="697789" cy="0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A18245F-0F25-3F67-2639-D39B3CF5E07F}"/>
              </a:ext>
            </a:extLst>
          </p:cNvPr>
          <p:cNvSpPr txBox="1"/>
          <p:nvPr/>
        </p:nvSpPr>
        <p:spPr>
          <a:xfrm>
            <a:off x="5347518" y="482953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9DFCFF-A997-8AD0-B905-C4203386C229}"/>
              </a:ext>
            </a:extLst>
          </p:cNvPr>
          <p:cNvSpPr txBox="1"/>
          <p:nvPr/>
        </p:nvSpPr>
        <p:spPr>
          <a:xfrm>
            <a:off x="10616571" y="3495572"/>
            <a:ext cx="703888" cy="37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6CE37-50F0-B473-DD3B-11E1B34B4677}"/>
              </a:ext>
            </a:extLst>
          </p:cNvPr>
          <p:cNvSpPr txBox="1"/>
          <p:nvPr/>
        </p:nvSpPr>
        <p:spPr>
          <a:xfrm>
            <a:off x="4939527" y="3652737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morpho-</a:t>
            </a:r>
          </a:p>
          <a:p>
            <a:r>
              <a:rPr lang="en-US" dirty="0">
                <a:latin typeface="Helvetica" pitchFamily="2" charset="0"/>
              </a:rPr>
              <a:t>phonology</a:t>
            </a:r>
          </a:p>
          <a:p>
            <a:r>
              <a:rPr lang="en-US" dirty="0">
                <a:latin typeface="Helvetica" pitchFamily="2" charset="0"/>
              </a:rPr>
              <a:t>(</a:t>
            </a:r>
            <a:r>
              <a:rPr lang="en-US" i="1" dirty="0" err="1">
                <a:latin typeface="Helvetica" pitchFamily="2" charset="0"/>
              </a:rPr>
              <a:t>kî</a:t>
            </a:r>
            <a:r>
              <a:rPr lang="en-US" i="1" dirty="0">
                <a:latin typeface="Helvetica" pitchFamily="2" charset="0"/>
              </a:rPr>
              <a:t>-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2797D3-396F-31CE-6A87-A95EA3A89C98}"/>
              </a:ext>
            </a:extLst>
          </p:cNvPr>
          <p:cNvCxnSpPr>
            <a:cxnSpLocks/>
          </p:cNvCxnSpPr>
          <p:nvPr/>
        </p:nvCxnSpPr>
        <p:spPr>
          <a:xfrm flipH="1">
            <a:off x="4407751" y="5014197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4AE478-FCD3-9CA7-25F7-5B5BE437050F}"/>
              </a:ext>
            </a:extLst>
          </p:cNvPr>
          <p:cNvCxnSpPr>
            <a:cxnSpLocks/>
          </p:cNvCxnSpPr>
          <p:nvPr/>
        </p:nvCxnSpPr>
        <p:spPr>
          <a:xfrm flipH="1">
            <a:off x="4365771" y="5950611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95DF9B7-859C-26D8-EA23-511923355E89}"/>
              </a:ext>
            </a:extLst>
          </p:cNvPr>
          <p:cNvSpPr txBox="1"/>
          <p:nvPr/>
        </p:nvSpPr>
        <p:spPr>
          <a:xfrm>
            <a:off x="5276674" y="578348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09601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4">
            <a:extLst>
              <a:ext uri="{FF2B5EF4-FFF2-40B4-BE49-F238E27FC236}">
                <a16:creationId xmlns:a16="http://schemas.microsoft.com/office/drawing/2014/main" id="{F81EE789-B76A-5DCB-52F5-974BA865F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46401"/>
              </p:ext>
            </p:extLst>
          </p:nvPr>
        </p:nvGraphicFramePr>
        <p:xfrm>
          <a:off x="6049477" y="2046256"/>
          <a:ext cx="502472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742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  <a:gridCol w="175098">
                  <a:extLst>
                    <a:ext uri="{9D8B030D-6E8A-4147-A177-3AD203B41FA5}">
                      <a16:colId xmlns:a16="http://schemas.microsoft.com/office/drawing/2014/main" val="2498759456"/>
                    </a:ext>
                  </a:extLst>
                </a:gridCol>
                <a:gridCol w="1212005">
                  <a:extLst>
                    <a:ext uri="{9D8B030D-6E8A-4147-A177-3AD203B41FA5}">
                      <a16:colId xmlns:a16="http://schemas.microsoft.com/office/drawing/2014/main" val="298721630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(10)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41366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(11)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personne</a:t>
                      </a:r>
                      <a:endParaRPr lang="en-GB" sz="24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389106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person.F</a:t>
                      </a:r>
                      <a:endParaRPr lang="en-GB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(12)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(13)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squel</a:t>
                      </a: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569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skeleton.M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735109"/>
                  </a:ext>
                </a:extLst>
              </a:tr>
            </a:tbl>
          </a:graphicData>
        </a:graphic>
      </p:graphicFrame>
      <p:graphicFrame>
        <p:nvGraphicFramePr>
          <p:cNvPr id="35" name="Table 4">
            <a:extLst>
              <a:ext uri="{FF2B5EF4-FFF2-40B4-BE49-F238E27FC236}">
                <a16:creationId xmlns:a16="http://schemas.microsoft.com/office/drawing/2014/main" id="{F3F054EF-C7E9-619B-437A-90FAF3681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091956"/>
              </p:ext>
            </p:extLst>
          </p:nvPr>
        </p:nvGraphicFramePr>
        <p:xfrm>
          <a:off x="496613" y="2005535"/>
          <a:ext cx="5597373" cy="4562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Kîîtharaka</a:t>
                      </a:r>
                      <a:endParaRPr lang="en-GB" sz="2400" b="1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(6)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(7)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b="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b="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7.prophet </a:t>
                      </a:r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(8) </a:t>
                      </a:r>
                      <a:endParaRPr lang="en-US" sz="2400" b="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îthe</a:t>
                      </a:r>
                      <a:endParaRPr lang="en-US" sz="2400" b="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ûra</a:t>
                      </a:r>
                      <a:endParaRPr lang="en-GB" sz="2400" b="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5.father </a:t>
                      </a:r>
                      <a:endParaRPr lang="en-US" sz="2400" b="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1.dist.dem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(9)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nkoma</a:t>
                      </a:r>
                      <a:endParaRPr lang="en-US" sz="2400" b="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 err="1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aathi</a:t>
                      </a:r>
                      <a:endParaRPr lang="en-GB" sz="2400" b="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251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9.devil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bg2"/>
                          </a:solidFill>
                          <a:latin typeface="Helvetica" pitchFamily="2" charset="0"/>
                        </a:rPr>
                        <a:t>1.went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929456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74511"/>
            <a:ext cx="11604171" cy="880603"/>
          </a:xfrm>
        </p:spPr>
        <p:txBody>
          <a:bodyPr anchor="t">
            <a:noAutofit/>
          </a:bodyPr>
          <a:lstStyle/>
          <a:p>
            <a:pPr lvl="0"/>
            <a:r>
              <a:rPr lang="en-GB" sz="2800" dirty="0"/>
              <a:t>But there are typically, many exceptions!...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8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determines noun class in a language?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23C13-2270-9755-AD5F-FB5AA5961F25}"/>
              </a:ext>
            </a:extLst>
          </p:cNvPr>
          <p:cNvSpPr txBox="1"/>
          <p:nvPr/>
        </p:nvSpPr>
        <p:spPr>
          <a:xfrm>
            <a:off x="10342073" y="537618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21A527-3434-1B2B-7BFA-BC48BF9AB826}"/>
              </a:ext>
            </a:extLst>
          </p:cNvPr>
          <p:cNvCxnSpPr>
            <a:cxnSpLocks/>
          </p:cNvCxnSpPr>
          <p:nvPr/>
        </p:nvCxnSpPr>
        <p:spPr>
          <a:xfrm flipH="1">
            <a:off x="4509144" y="5691225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8A31F9-33C9-CF63-9FD2-29D84CDA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10</a:t>
            </a:fld>
            <a:endParaRPr lang="en-US" sz="28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B45CCE-4160-989B-7828-C9D23DC88CEA}"/>
              </a:ext>
            </a:extLst>
          </p:cNvPr>
          <p:cNvCxnSpPr>
            <a:cxnSpLocks/>
          </p:cNvCxnSpPr>
          <p:nvPr/>
        </p:nvCxnSpPr>
        <p:spPr>
          <a:xfrm flipH="1">
            <a:off x="3973134" y="2719866"/>
            <a:ext cx="843643" cy="0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E8444FA-9946-1CC4-18FF-20286900C062}"/>
              </a:ext>
            </a:extLst>
          </p:cNvPr>
          <p:cNvSpPr txBox="1"/>
          <p:nvPr/>
        </p:nvSpPr>
        <p:spPr>
          <a:xfrm>
            <a:off x="4787593" y="2402649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semantics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(human)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86D41A0-78F3-D850-1884-6505DB21122A}"/>
              </a:ext>
            </a:extLst>
          </p:cNvPr>
          <p:cNvCxnSpPr>
            <a:cxnSpLocks/>
          </p:cNvCxnSpPr>
          <p:nvPr/>
        </p:nvCxnSpPr>
        <p:spPr>
          <a:xfrm flipH="1">
            <a:off x="10267677" y="2755035"/>
            <a:ext cx="697789" cy="0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EE77461-550D-66AB-A97A-735DBEA10F47}"/>
              </a:ext>
            </a:extLst>
          </p:cNvPr>
          <p:cNvSpPr txBox="1"/>
          <p:nvPr/>
        </p:nvSpPr>
        <p:spPr>
          <a:xfrm>
            <a:off x="10945951" y="2535684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semantics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(male)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641123-F5D1-F436-8D89-7FC9D71A3244}"/>
              </a:ext>
            </a:extLst>
          </p:cNvPr>
          <p:cNvCxnSpPr>
            <a:cxnSpLocks/>
          </p:cNvCxnSpPr>
          <p:nvPr/>
        </p:nvCxnSpPr>
        <p:spPr>
          <a:xfrm flipH="1">
            <a:off x="4239515" y="3848651"/>
            <a:ext cx="843643" cy="0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78B90E3-EDB2-83D1-9FF5-7699F48CD119}"/>
              </a:ext>
            </a:extLst>
          </p:cNvPr>
          <p:cNvSpPr txBox="1"/>
          <p:nvPr/>
        </p:nvSpPr>
        <p:spPr>
          <a:xfrm>
            <a:off x="10649912" y="4430724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morpho-</a:t>
            </a:r>
          </a:p>
          <a:p>
            <a:r>
              <a:rPr lang="en-US" dirty="0">
                <a:latin typeface="Helvetica" pitchFamily="2" charset="0"/>
              </a:rPr>
              <a:t>phonology</a:t>
            </a:r>
          </a:p>
          <a:p>
            <a:r>
              <a:rPr lang="en-US" dirty="0">
                <a:latin typeface="Helvetica" pitchFamily="2" charset="0"/>
              </a:rPr>
              <a:t>(-</a:t>
            </a:r>
            <a:r>
              <a:rPr lang="en-US" i="1" dirty="0" err="1">
                <a:latin typeface="Helvetica" pitchFamily="2" charset="0"/>
              </a:rPr>
              <a:t>ette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C2FC3A-9A7B-D788-3A1D-5F08E1A2E139}"/>
              </a:ext>
            </a:extLst>
          </p:cNvPr>
          <p:cNvCxnSpPr>
            <a:cxnSpLocks/>
          </p:cNvCxnSpPr>
          <p:nvPr/>
        </p:nvCxnSpPr>
        <p:spPr>
          <a:xfrm flipH="1">
            <a:off x="9993179" y="5239530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F862F3-85E4-8A5F-CB59-71861ABA90A2}"/>
              </a:ext>
            </a:extLst>
          </p:cNvPr>
          <p:cNvCxnSpPr>
            <a:cxnSpLocks/>
          </p:cNvCxnSpPr>
          <p:nvPr/>
        </p:nvCxnSpPr>
        <p:spPr>
          <a:xfrm flipH="1">
            <a:off x="9644284" y="6135277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B58E04-8364-2627-8C57-8FE74D47BECB}"/>
              </a:ext>
            </a:extLst>
          </p:cNvPr>
          <p:cNvCxnSpPr>
            <a:cxnSpLocks/>
          </p:cNvCxnSpPr>
          <p:nvPr/>
        </p:nvCxnSpPr>
        <p:spPr>
          <a:xfrm flipH="1">
            <a:off x="10125874" y="3637440"/>
            <a:ext cx="697789" cy="0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A18245F-0F25-3F67-2639-D39B3CF5E07F}"/>
              </a:ext>
            </a:extLst>
          </p:cNvPr>
          <p:cNvSpPr txBox="1"/>
          <p:nvPr/>
        </p:nvSpPr>
        <p:spPr>
          <a:xfrm>
            <a:off x="5347518" y="47709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9DFCFF-A997-8AD0-B905-C4203386C229}"/>
              </a:ext>
            </a:extLst>
          </p:cNvPr>
          <p:cNvSpPr txBox="1"/>
          <p:nvPr/>
        </p:nvSpPr>
        <p:spPr>
          <a:xfrm>
            <a:off x="10616571" y="3495572"/>
            <a:ext cx="703888" cy="37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42B8FFC-A986-1DDE-1407-CF50D978572F}"/>
              </a:ext>
            </a:extLst>
          </p:cNvPr>
          <p:cNvCxnSpPr>
            <a:cxnSpLocks/>
          </p:cNvCxnSpPr>
          <p:nvPr/>
        </p:nvCxnSpPr>
        <p:spPr>
          <a:xfrm flipH="1">
            <a:off x="9952123" y="4619004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8C034C-D7BD-3988-DCE2-253CDC86AD55}"/>
              </a:ext>
            </a:extLst>
          </p:cNvPr>
          <p:cNvCxnSpPr>
            <a:cxnSpLocks/>
          </p:cNvCxnSpPr>
          <p:nvPr/>
        </p:nvCxnSpPr>
        <p:spPr>
          <a:xfrm flipH="1">
            <a:off x="9652440" y="5533023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96A955-C2FB-89E8-8822-3D25FE6F11C5}"/>
              </a:ext>
            </a:extLst>
          </p:cNvPr>
          <p:cNvCxnSpPr>
            <a:cxnSpLocks/>
          </p:cNvCxnSpPr>
          <p:nvPr/>
        </p:nvCxnSpPr>
        <p:spPr>
          <a:xfrm flipH="1">
            <a:off x="4295640" y="4954150"/>
            <a:ext cx="843643" cy="0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E00F66F-E2B4-79D9-313B-980483F709CB}"/>
              </a:ext>
            </a:extLst>
          </p:cNvPr>
          <p:cNvCxnSpPr>
            <a:cxnSpLocks/>
          </p:cNvCxnSpPr>
          <p:nvPr/>
        </p:nvCxnSpPr>
        <p:spPr>
          <a:xfrm flipH="1">
            <a:off x="4336547" y="5902243"/>
            <a:ext cx="843643" cy="0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1D48F32-78A9-A6CB-8AE7-A14ED90330B5}"/>
              </a:ext>
            </a:extLst>
          </p:cNvPr>
          <p:cNvSpPr txBox="1"/>
          <p:nvPr/>
        </p:nvSpPr>
        <p:spPr>
          <a:xfrm>
            <a:off x="5382688" y="566186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9844AC-6C49-D768-457D-0CD3E37E91E8}"/>
              </a:ext>
            </a:extLst>
          </p:cNvPr>
          <p:cNvSpPr txBox="1"/>
          <p:nvPr/>
        </p:nvSpPr>
        <p:spPr>
          <a:xfrm>
            <a:off x="5097577" y="3658572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morpho-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phonology</a:t>
            </a:r>
          </a:p>
          <a:p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(</a:t>
            </a:r>
            <a:r>
              <a:rPr lang="en-US" i="1" dirty="0" err="1">
                <a:solidFill>
                  <a:schemeClr val="bg2"/>
                </a:solidFill>
                <a:latin typeface="Helvetica" pitchFamily="2" charset="0"/>
              </a:rPr>
              <a:t>kî</a:t>
            </a:r>
            <a:r>
              <a:rPr lang="en-US" i="1" dirty="0">
                <a:solidFill>
                  <a:schemeClr val="bg2"/>
                </a:solidFill>
                <a:latin typeface="Helvetica" pitchFamily="2" charset="0"/>
              </a:rPr>
              <a:t>-</a:t>
            </a:r>
            <a:r>
              <a:rPr lang="en-US" dirty="0">
                <a:solidFill>
                  <a:schemeClr val="bg2"/>
                </a:solidFill>
                <a:latin typeface="Helvetica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189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How do we know what semantic or morphophonological cues are productive amidst such exceptions?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Do speakers treat different types of cues the same way? (e.g., Karmiloff-Smith, 1981; Perez-Pereira 1991; </a:t>
            </a:r>
            <a:r>
              <a:rPr lang="en-GB" sz="2800" dirty="0" err="1"/>
              <a:t>Gxilishe</a:t>
            </a:r>
            <a:r>
              <a:rPr lang="en-GB" sz="2800" dirty="0"/>
              <a:t> et al., 2009; Gagliardi &amp; </a:t>
            </a:r>
            <a:r>
              <a:rPr lang="en-GB" sz="2800" dirty="0" err="1"/>
              <a:t>Lidz</a:t>
            </a:r>
            <a:r>
              <a:rPr lang="en-GB" sz="2800" dirty="0"/>
              <a:t> 2014 </a:t>
            </a:r>
            <a:r>
              <a:rPr lang="en-GB" sz="2800" dirty="0" err="1"/>
              <a:t>a.o</a:t>
            </a:r>
            <a:r>
              <a:rPr lang="en-GB" sz="2800" dirty="0"/>
              <a:t>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>
                <a:solidFill>
                  <a:schemeClr val="bg2"/>
                </a:solidFill>
              </a:rPr>
              <a:t>Do traditional approaches to Bantu noun classes answer these questions?</a:t>
            </a: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GB" sz="2800" dirty="0">
                <a:solidFill>
                  <a:schemeClr val="bg2"/>
                </a:solidFill>
              </a:rPr>
              <a:t>Required: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dirty="0">
                <a:solidFill>
                  <a:schemeClr val="bg2"/>
                </a:solidFill>
              </a:rPr>
              <a:t>A </a:t>
            </a:r>
            <a:r>
              <a:rPr lang="en-GB" sz="2800" b="1" dirty="0">
                <a:solidFill>
                  <a:schemeClr val="bg2"/>
                </a:solidFill>
              </a:rPr>
              <a:t>theory</a:t>
            </a:r>
            <a:r>
              <a:rPr lang="en-GB" sz="2800" dirty="0">
                <a:solidFill>
                  <a:schemeClr val="bg2"/>
                </a:solidFill>
              </a:rPr>
              <a:t> of productivity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b="1" dirty="0">
                <a:solidFill>
                  <a:schemeClr val="bg2"/>
                </a:solidFill>
              </a:rPr>
              <a:t>Empirical</a:t>
            </a:r>
            <a:r>
              <a:rPr lang="en-GB" sz="2800" dirty="0">
                <a:solidFill>
                  <a:schemeClr val="bg2"/>
                </a:solidFill>
              </a:rPr>
              <a:t> </a:t>
            </a:r>
            <a:r>
              <a:rPr lang="en-GB" sz="2800" b="1" dirty="0">
                <a:solidFill>
                  <a:schemeClr val="bg2"/>
                </a:solidFill>
              </a:rPr>
              <a:t>evidence</a:t>
            </a:r>
            <a:r>
              <a:rPr lang="en-GB" sz="2800" dirty="0">
                <a:solidFill>
                  <a:schemeClr val="bg2"/>
                </a:solidFill>
              </a:rPr>
              <a:t> for speakers’ use of different cues.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GB" sz="2800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GB" sz="2800" dirty="0"/>
          </a:p>
          <a:p>
            <a:pPr lvl="1">
              <a:lnSpc>
                <a:spcPct val="100000"/>
              </a:lnSpc>
              <a:spcAft>
                <a:spcPts val="1200"/>
              </a:spcAft>
            </a:pPr>
            <a:endParaRPr lang="en-GB" sz="2800" dirty="0"/>
          </a:p>
          <a:p>
            <a:pPr marL="0" indent="0">
              <a:buNone/>
            </a:pPr>
            <a:endParaRPr lang="en-GB" sz="3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Theoretical and empirical questions…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2742-1351-2AF3-4D8F-58EB001F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3BE0-2861-AA45-A99C-8107B4816AEB}" type="slidenum">
              <a:rPr lang="en-US" sz="2800" smtClean="0"/>
              <a:t>11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58258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003"/>
    </mc:Choice>
    <mc:Fallback>
      <p:transition spd="slow" advTm="3300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How do we know what semantic or morphophonological cues are productive amidst such exceptions?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Do speakers treat different types of cues the same way? (e.g., Karmiloff-Smith, 1981; Perez-Pereira 1991;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</a:rPr>
              <a:t>Gxilishe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 et al., 2009; Gagliardi &amp;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</a:rPr>
              <a:t>Lidz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 2014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</a:rPr>
              <a:t>a.o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Do traditional approaches to Bantu noun classes answer these questions?</a:t>
            </a: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GB" sz="2800" dirty="0">
                <a:solidFill>
                  <a:schemeClr val="bg2"/>
                </a:solidFill>
              </a:rPr>
              <a:t>Required: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dirty="0">
                <a:solidFill>
                  <a:schemeClr val="bg2"/>
                </a:solidFill>
              </a:rPr>
              <a:t>A </a:t>
            </a:r>
            <a:r>
              <a:rPr lang="en-GB" sz="2800" b="1" dirty="0">
                <a:solidFill>
                  <a:schemeClr val="bg2"/>
                </a:solidFill>
              </a:rPr>
              <a:t>theory</a:t>
            </a:r>
            <a:r>
              <a:rPr lang="en-GB" sz="2800" dirty="0">
                <a:solidFill>
                  <a:schemeClr val="bg2"/>
                </a:solidFill>
              </a:rPr>
              <a:t> of productivity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b="1" dirty="0">
                <a:solidFill>
                  <a:schemeClr val="bg2"/>
                </a:solidFill>
              </a:rPr>
              <a:t>Empirical</a:t>
            </a:r>
            <a:r>
              <a:rPr lang="en-GB" sz="2800" dirty="0">
                <a:solidFill>
                  <a:schemeClr val="bg2"/>
                </a:solidFill>
              </a:rPr>
              <a:t> </a:t>
            </a:r>
            <a:r>
              <a:rPr lang="en-GB" sz="2800" b="1" dirty="0">
                <a:solidFill>
                  <a:schemeClr val="bg2"/>
                </a:solidFill>
              </a:rPr>
              <a:t>evidence</a:t>
            </a:r>
            <a:r>
              <a:rPr lang="en-GB" sz="2800" dirty="0">
                <a:solidFill>
                  <a:schemeClr val="bg2"/>
                </a:solidFill>
              </a:rPr>
              <a:t> for speakers’ use of different cues.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GB" sz="2800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GB" sz="2800" dirty="0"/>
          </a:p>
          <a:p>
            <a:pPr lvl="1">
              <a:lnSpc>
                <a:spcPct val="100000"/>
              </a:lnSpc>
              <a:spcAft>
                <a:spcPts val="1200"/>
              </a:spcAft>
            </a:pPr>
            <a:endParaRPr lang="en-GB" sz="2800" dirty="0"/>
          </a:p>
          <a:p>
            <a:pPr marL="0" indent="0">
              <a:buNone/>
            </a:pPr>
            <a:endParaRPr lang="en-GB" sz="3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Theoretical and empirical questions…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2742-1351-2AF3-4D8F-58EB001F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3BE0-2861-AA45-A99C-8107B4816AEB}" type="slidenum">
              <a:rPr lang="en-US" sz="2800" smtClean="0"/>
              <a:t>12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9641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205"/>
    </mc:Choice>
    <mc:Fallback>
      <p:transition spd="slow" advTm="1520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3EBE080-0118-8C4B-B95B-AD3639D72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859" y="1263235"/>
            <a:ext cx="7543799" cy="52418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469366-EFB9-BC40-83C9-BAFC06DE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Helvetica" pitchFamily="2" charset="0"/>
              </a:rPr>
              <a:t>Traditional approaches to Bantu noun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45C0E-A36D-5149-9F53-E7DF1D773103}"/>
              </a:ext>
            </a:extLst>
          </p:cNvPr>
          <p:cNvSpPr txBox="1"/>
          <p:nvPr/>
        </p:nvSpPr>
        <p:spPr>
          <a:xfrm>
            <a:off x="3372496" y="921013"/>
            <a:ext cx="4008384" cy="473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The Proto-Bantu System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74DEC-38A8-D74A-B2DA-F738199F8FB4}"/>
              </a:ext>
            </a:extLst>
          </p:cNvPr>
          <p:cNvSpPr txBox="1"/>
          <p:nvPr/>
        </p:nvSpPr>
        <p:spPr>
          <a:xfrm>
            <a:off x="8266097" y="908267"/>
            <a:ext cx="3822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(Richardson, 1967; </a:t>
            </a:r>
            <a:r>
              <a:rPr lang="en-US" dirty="0" err="1">
                <a:latin typeface="Helvetica" pitchFamily="2" charset="0"/>
              </a:rPr>
              <a:t>Welmers</a:t>
            </a:r>
            <a:r>
              <a:rPr lang="en-US" dirty="0">
                <a:latin typeface="Helvetica" pitchFamily="2" charset="0"/>
              </a:rPr>
              <a:t>, 1973)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8A230-1C02-4B99-21F8-BB9654CD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29752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882"/>
    </mc:Choice>
    <mc:Fallback>
      <p:transition spd="slow" advTm="3988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BCD8A-CDCC-456A-B9F7-56D330D14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457200" lvl="1" indent="0" fontAlgn="base">
              <a:buNone/>
            </a:pPr>
            <a:r>
              <a:rPr lang="en-GB" sz="2800" b="1" dirty="0"/>
              <a:t>Key features:</a:t>
            </a:r>
          </a:p>
          <a:p>
            <a:pPr lvl="1" fontAlgn="base"/>
            <a:r>
              <a:rPr lang="en-GB" sz="2800" dirty="0"/>
              <a:t>Classes marked by the prefix (rather than agreement) – problematic</a:t>
            </a:r>
          </a:p>
          <a:p>
            <a:pPr marL="914400" lvl="2" indent="0" fontAlgn="base">
              <a:buNone/>
            </a:pPr>
            <a:r>
              <a:rPr lang="en-GB" sz="2800" dirty="0"/>
              <a:t>    </a:t>
            </a:r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lvl="1" fontAlgn="base"/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Centred on semantics – problematic (lack of semantic regularity for some classes, several classes sharing semantic features)</a:t>
            </a:r>
          </a:p>
          <a:p>
            <a:pPr marL="457200" lvl="1" indent="0" fontAlgn="base">
              <a:buNone/>
            </a:pPr>
            <a:endParaRPr lang="en-GB" sz="2800" dirty="0">
              <a:solidFill>
                <a:schemeClr val="bg2">
                  <a:lumMod val="90000"/>
                </a:schemeClr>
              </a:solidFill>
            </a:endParaRPr>
          </a:p>
          <a:p>
            <a:pPr lvl="1" fontAlgn="base"/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Do not make use of any theory of productivity</a:t>
            </a:r>
          </a:p>
          <a:p>
            <a:pPr marL="457200" lvl="1" indent="0" fontAlgn="base">
              <a:buNone/>
            </a:pPr>
            <a:endParaRPr lang="en-GB" sz="2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995805-B9D0-00A3-2EEC-F26E12C3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Traditional approaches to Bantu noun classes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6F54D0-B9C8-736F-1DE0-2FD30A20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14</a:t>
            </a:fld>
            <a:endParaRPr lang="en-US" sz="2800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55FE2F69-B3D2-CE09-7897-97DFAE274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517759"/>
              </p:ext>
            </p:extLst>
          </p:nvPr>
        </p:nvGraphicFramePr>
        <p:xfrm>
          <a:off x="833336" y="2191884"/>
          <a:ext cx="559737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98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74399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Swahili 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(Carstens 1991)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(13)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ki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faru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dogo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389913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rhino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1.small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BA6636-F304-64EC-4C1A-54ADC358A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635497"/>
              </p:ext>
            </p:extLst>
          </p:nvPr>
        </p:nvGraphicFramePr>
        <p:xfrm>
          <a:off x="6121414" y="2191884"/>
          <a:ext cx="559737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98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74399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(corpus data)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(14)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n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koma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athi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389913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9.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devil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1.went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828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491"/>
    </mc:Choice>
    <mc:Fallback>
      <p:transition spd="slow" advTm="5949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BCD8A-CDCC-456A-B9F7-56D330D14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457200" lvl="1" indent="0" fontAlgn="base">
              <a:buNone/>
            </a:pPr>
            <a:r>
              <a:rPr lang="en-GB" sz="2800" b="1" dirty="0"/>
              <a:t>Key features:</a:t>
            </a:r>
          </a:p>
          <a:p>
            <a:pPr lvl="1" fontAlgn="base"/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Classes marked by the prefix (rather than agreement) – problematic</a:t>
            </a:r>
          </a:p>
          <a:p>
            <a:pPr marL="914400" lvl="2" indent="0" fontAlgn="base">
              <a:buNone/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    </a:t>
            </a:r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lvl="1" fontAlgn="base"/>
            <a:r>
              <a:rPr lang="en-GB" sz="2800" dirty="0"/>
              <a:t>Centred on semantics – problematic (lack of semantic regularity for some classes, several classes sharing semantic features)</a:t>
            </a:r>
          </a:p>
          <a:p>
            <a:pPr marL="457200" lvl="1" indent="0" fontAlgn="base">
              <a:buNone/>
            </a:pPr>
            <a:endParaRPr lang="en-GB" sz="2800" dirty="0"/>
          </a:p>
          <a:p>
            <a:pPr lvl="1" fontAlgn="base"/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Do not make use of any theory of productivity</a:t>
            </a:r>
          </a:p>
          <a:p>
            <a:pPr marL="457200" lvl="1" indent="0" fontAlgn="base">
              <a:buNone/>
            </a:pPr>
            <a:endParaRPr lang="en-GB" sz="2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995805-B9D0-00A3-2EEC-F26E12C3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Traditional approaches to Bantu noun classes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6F54D0-B9C8-736F-1DE0-2FD30A20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15</a:t>
            </a:fld>
            <a:endParaRPr lang="en-US" sz="2800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55FE2F69-B3D2-CE09-7897-97DFAE274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157153"/>
              </p:ext>
            </p:extLst>
          </p:nvPr>
        </p:nvGraphicFramePr>
        <p:xfrm>
          <a:off x="833336" y="2191884"/>
          <a:ext cx="559737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98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74399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Swahili </a:t>
                      </a:r>
                      <a:r>
                        <a:rPr lang="en-GB" sz="24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(Carstens 1991)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(13) </a:t>
                      </a:r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ki</a:t>
                      </a:r>
                      <a:r>
                        <a:rPr lang="en-GB" sz="2400" b="0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faru</a:t>
                      </a:r>
                      <a:endParaRPr lang="en-US" sz="2400" b="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m</a:t>
                      </a:r>
                      <a:r>
                        <a:rPr lang="en-GB" sz="2400" b="0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dogo</a:t>
                      </a:r>
                      <a:endParaRPr lang="en-GB" sz="2400" b="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389913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7.</a:t>
                      </a:r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rhino </a:t>
                      </a:r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1.small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BA6636-F304-64EC-4C1A-54ADC358A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664708"/>
              </p:ext>
            </p:extLst>
          </p:nvPr>
        </p:nvGraphicFramePr>
        <p:xfrm>
          <a:off x="6121414" y="2191884"/>
          <a:ext cx="559737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98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74399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Kîîtharaka</a:t>
                      </a:r>
                      <a:r>
                        <a:rPr lang="en-GB" sz="2400" b="1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 </a:t>
                      </a:r>
                      <a:r>
                        <a:rPr lang="en-GB" sz="24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(corpus data)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(14) </a:t>
                      </a:r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n</a:t>
                      </a:r>
                      <a:r>
                        <a:rPr lang="en-GB" sz="2400" b="0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koma</a:t>
                      </a:r>
                      <a:endParaRPr lang="en-US" sz="2400" b="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a</a:t>
                      </a:r>
                      <a:r>
                        <a:rPr lang="en-GB" sz="2400" b="0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thi</a:t>
                      </a:r>
                      <a:endParaRPr lang="en-GB" sz="2400" b="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389913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9.</a:t>
                      </a:r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devil </a:t>
                      </a:r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1.went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791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998"/>
    </mc:Choice>
    <mc:Fallback>
      <p:transition spd="slow" advTm="1899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3EBE080-0118-8C4B-B95B-AD3639D72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859" y="1263235"/>
            <a:ext cx="7543799" cy="52418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469366-EFB9-BC40-83C9-BAFC06DE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Helvetica" pitchFamily="2" charset="0"/>
              </a:rPr>
              <a:t>Traditional approaches to Bantu noun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45C0E-A36D-5149-9F53-E7DF1D773103}"/>
              </a:ext>
            </a:extLst>
          </p:cNvPr>
          <p:cNvSpPr txBox="1"/>
          <p:nvPr/>
        </p:nvSpPr>
        <p:spPr>
          <a:xfrm>
            <a:off x="3372496" y="921013"/>
            <a:ext cx="4008384" cy="473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The Proto-Bantu System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74DEC-38A8-D74A-B2DA-F738199F8FB4}"/>
              </a:ext>
            </a:extLst>
          </p:cNvPr>
          <p:cNvSpPr txBox="1"/>
          <p:nvPr/>
        </p:nvSpPr>
        <p:spPr>
          <a:xfrm>
            <a:off x="8266097" y="908267"/>
            <a:ext cx="3822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(Richardson, 1967; </a:t>
            </a:r>
            <a:r>
              <a:rPr lang="en-US" dirty="0" err="1">
                <a:latin typeface="Helvetica" pitchFamily="2" charset="0"/>
              </a:rPr>
              <a:t>Welmers</a:t>
            </a:r>
            <a:r>
              <a:rPr lang="en-US" dirty="0">
                <a:latin typeface="Helvetica" pitchFamily="2" charset="0"/>
              </a:rPr>
              <a:t>, 1973)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8A230-1C02-4B99-21F8-BB9654CD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16</a:t>
            </a:fld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50C074-9C92-ED59-38EC-403414CE8B06}"/>
              </a:ext>
            </a:extLst>
          </p:cNvPr>
          <p:cNvSpPr txBox="1"/>
          <p:nvPr/>
        </p:nvSpPr>
        <p:spPr>
          <a:xfrm>
            <a:off x="6372664" y="1634264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/>
              <a:t>other animates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85E96-4D28-C80B-FC4D-600FEA4D16E7}"/>
              </a:ext>
            </a:extLst>
          </p:cNvPr>
          <p:cNvSpPr txBox="1"/>
          <p:nvPr/>
        </p:nvSpPr>
        <p:spPr>
          <a:xfrm>
            <a:off x="5709153" y="3713576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/>
              <a:t>animates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6725A0-37EF-BC6F-9632-9EB25C6D751D}"/>
              </a:ext>
            </a:extLst>
          </p:cNvPr>
          <p:cNvSpPr txBox="1"/>
          <p:nvPr/>
        </p:nvSpPr>
        <p:spPr>
          <a:xfrm>
            <a:off x="8661164" y="2335304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>
                <a:highlight>
                  <a:srgbClr val="FF00FF"/>
                </a:highlight>
              </a:rPr>
              <a:t>other </a:t>
            </a:r>
            <a:r>
              <a:rPr lang="en-US" sz="1600" dirty="0" err="1">
                <a:highlight>
                  <a:srgbClr val="FF00FF"/>
                </a:highlight>
              </a:rPr>
              <a:t>inanimates</a:t>
            </a:r>
            <a:endParaRPr lang="en-US" sz="1600" dirty="0">
              <a:highlight>
                <a:srgbClr val="FF00FF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8BFBD0-B51A-8544-A42C-82B0F63D48AF}"/>
              </a:ext>
            </a:extLst>
          </p:cNvPr>
          <p:cNvSpPr txBox="1"/>
          <p:nvPr/>
        </p:nvSpPr>
        <p:spPr>
          <a:xfrm>
            <a:off x="6590908" y="3713576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 err="1">
                <a:highlight>
                  <a:srgbClr val="FF00FF"/>
                </a:highlight>
              </a:rPr>
              <a:t>inanimates</a:t>
            </a:r>
            <a:endParaRPr lang="en-US" sz="1600" dirty="0">
              <a:highlight>
                <a:srgbClr val="FF00FF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E12A52-CFC7-C721-B443-505DCD149EE6}"/>
              </a:ext>
            </a:extLst>
          </p:cNvPr>
          <p:cNvSpPr txBox="1"/>
          <p:nvPr/>
        </p:nvSpPr>
        <p:spPr>
          <a:xfrm>
            <a:off x="5737289" y="5425488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>
                <a:highlight>
                  <a:srgbClr val="00FFFF"/>
                </a:highlight>
              </a:rPr>
              <a:t>diminutives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7FDC84-9397-638D-7337-B0D97F006D69}"/>
              </a:ext>
            </a:extLst>
          </p:cNvPr>
          <p:cNvSpPr txBox="1"/>
          <p:nvPr/>
        </p:nvSpPr>
        <p:spPr>
          <a:xfrm>
            <a:off x="5756137" y="4047953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>
                <a:highlight>
                  <a:srgbClr val="00FFFF"/>
                </a:highlight>
              </a:rPr>
              <a:t>diminutives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3E2730-C8AF-BFFF-51CD-0FAA72403B59}"/>
              </a:ext>
            </a:extLst>
          </p:cNvPr>
          <p:cNvSpPr txBox="1"/>
          <p:nvPr/>
        </p:nvSpPr>
        <p:spPr>
          <a:xfrm>
            <a:off x="7015104" y="5776279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>
                <a:highlight>
                  <a:srgbClr val="00FFFF"/>
                </a:highlight>
              </a:rPr>
              <a:t>diminutives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CA70EA-6060-3A70-0460-F3ECC07F5272}"/>
              </a:ext>
            </a:extLst>
          </p:cNvPr>
          <p:cNvSpPr txBox="1"/>
          <p:nvPr/>
        </p:nvSpPr>
        <p:spPr>
          <a:xfrm>
            <a:off x="5756136" y="5776279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>
                <a:highlight>
                  <a:srgbClr val="FF0000"/>
                </a:highlight>
              </a:rPr>
              <a:t>augmentatives</a:t>
            </a:r>
            <a:endParaRPr lang="en-US" sz="1600" dirty="0">
              <a:highlight>
                <a:srgbClr val="00FFFF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75E4F2-B392-FBF0-E37F-1C55496253E4}"/>
              </a:ext>
            </a:extLst>
          </p:cNvPr>
          <p:cNvSpPr txBox="1"/>
          <p:nvPr/>
        </p:nvSpPr>
        <p:spPr>
          <a:xfrm>
            <a:off x="5655155" y="6125921"/>
            <a:ext cx="1613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>
                <a:highlight>
                  <a:srgbClr val="FF0000"/>
                </a:highlight>
              </a:rPr>
              <a:t>augmentatives</a:t>
            </a:r>
            <a:endParaRPr lang="en-US" sz="1600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08398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67"/>
    </mc:Choice>
    <mc:Fallback>
      <p:transition spd="slow" advTm="2006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BCD8A-CDCC-456A-B9F7-56D330D14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457200" lvl="1" indent="0" fontAlgn="base">
              <a:buNone/>
            </a:pPr>
            <a:r>
              <a:rPr lang="en-GB" sz="2800" b="1" dirty="0"/>
              <a:t>Key features:</a:t>
            </a:r>
          </a:p>
          <a:p>
            <a:pPr lvl="1" fontAlgn="base"/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Classes marked by the prefix (rather than agreement) – problematic</a:t>
            </a:r>
          </a:p>
          <a:p>
            <a:pPr marL="914400" lvl="2" indent="0" fontAlgn="base">
              <a:buNone/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    </a:t>
            </a:r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lvl="1" fontAlgn="base"/>
            <a:r>
              <a:rPr lang="en-GB" sz="2800" dirty="0">
                <a:solidFill>
                  <a:schemeClr val="bg2">
                    <a:lumMod val="90000"/>
                  </a:schemeClr>
                </a:solidFill>
              </a:rPr>
              <a:t>Centred on semantics – problematic (lack of semantic regularity for some classes, several classes sharing semantic features)</a:t>
            </a:r>
          </a:p>
          <a:p>
            <a:pPr marL="457200" lvl="1" indent="0" fontAlgn="base">
              <a:buNone/>
            </a:pPr>
            <a:endParaRPr lang="en-GB" sz="2800" dirty="0">
              <a:solidFill>
                <a:schemeClr val="bg2">
                  <a:lumMod val="90000"/>
                </a:schemeClr>
              </a:solidFill>
            </a:endParaRPr>
          </a:p>
          <a:p>
            <a:pPr lvl="1" fontAlgn="base"/>
            <a:r>
              <a:rPr lang="en-GB" sz="2800" dirty="0"/>
              <a:t>Do not make use of any theory of productivity</a:t>
            </a:r>
          </a:p>
          <a:p>
            <a:pPr marL="457200" lvl="1" indent="0" fontAlgn="base">
              <a:buNone/>
            </a:pPr>
            <a:endParaRPr lang="en-GB" sz="2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995805-B9D0-00A3-2EEC-F26E12C3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Traditional approaches to Bantu noun classes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6F54D0-B9C8-736F-1DE0-2FD30A20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17</a:t>
            </a:fld>
            <a:endParaRPr lang="en-US" sz="2800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55FE2F69-B3D2-CE09-7897-97DFAE274F04}"/>
              </a:ext>
            </a:extLst>
          </p:cNvPr>
          <p:cNvGraphicFramePr>
            <a:graphicFrameLocks noGrp="1"/>
          </p:cNvGraphicFramePr>
          <p:nvPr/>
        </p:nvGraphicFramePr>
        <p:xfrm>
          <a:off x="833336" y="2191884"/>
          <a:ext cx="559737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98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74399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Swahili </a:t>
                      </a:r>
                      <a:r>
                        <a:rPr lang="en-GB" sz="24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(Carstens 1991)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(13) </a:t>
                      </a:r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ki</a:t>
                      </a:r>
                      <a:r>
                        <a:rPr lang="en-GB" sz="2400" b="0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faru</a:t>
                      </a:r>
                      <a:endParaRPr lang="en-US" sz="2400" b="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m</a:t>
                      </a:r>
                      <a:r>
                        <a:rPr lang="en-GB" sz="2400" b="0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dogo</a:t>
                      </a:r>
                      <a:endParaRPr lang="en-GB" sz="2400" b="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389913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7.</a:t>
                      </a:r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rhino </a:t>
                      </a:r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1.small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BA6636-F304-64EC-4C1A-54ADC358A90E}"/>
              </a:ext>
            </a:extLst>
          </p:cNvPr>
          <p:cNvGraphicFramePr>
            <a:graphicFrameLocks noGrp="1"/>
          </p:cNvGraphicFramePr>
          <p:nvPr/>
        </p:nvGraphicFramePr>
        <p:xfrm>
          <a:off x="6121414" y="2191884"/>
          <a:ext cx="559737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98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74399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Kîîtharaka</a:t>
                      </a:r>
                      <a:r>
                        <a:rPr lang="en-GB" sz="2400" b="1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 </a:t>
                      </a:r>
                      <a:r>
                        <a:rPr lang="en-GB" sz="24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(corpus data)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(14) </a:t>
                      </a:r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n</a:t>
                      </a:r>
                      <a:r>
                        <a:rPr lang="en-GB" sz="2400" b="0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koma</a:t>
                      </a:r>
                      <a:endParaRPr lang="en-US" sz="2400" b="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a</a:t>
                      </a:r>
                      <a:r>
                        <a:rPr lang="en-GB" sz="2400" b="0" dirty="0" err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thi</a:t>
                      </a:r>
                      <a:endParaRPr lang="en-GB" sz="2400" b="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389913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9.</a:t>
                      </a:r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devil </a:t>
                      </a:r>
                      <a:endParaRPr lang="en-US" sz="2400" dirty="0">
                        <a:solidFill>
                          <a:schemeClr val="bg2">
                            <a:lumMod val="90000"/>
                          </a:schemeClr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Helvetica" pitchFamily="2" charset="0"/>
                        </a:rPr>
                        <a:t>1.went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3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48"/>
    </mc:Choice>
    <mc:Fallback>
      <p:transition spd="slow" advTm="2844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How do we know what semantic or morphophonological cues are productive amidst such exceptions?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Do speakers treat different types of cues the same way? (e.g., Karmiloff-Smith, 1981; Perez-Pereira 1991; </a:t>
            </a:r>
            <a:r>
              <a:rPr lang="en-GB" sz="2800" dirty="0" err="1"/>
              <a:t>Gxilishe</a:t>
            </a:r>
            <a:r>
              <a:rPr lang="en-GB" sz="2800" dirty="0"/>
              <a:t> et al., 2009; Gagliardi &amp; </a:t>
            </a:r>
            <a:r>
              <a:rPr lang="en-GB" sz="2800" dirty="0" err="1"/>
              <a:t>Lidz</a:t>
            </a:r>
            <a:r>
              <a:rPr lang="en-GB" sz="2800" dirty="0"/>
              <a:t> 2014 </a:t>
            </a:r>
            <a:r>
              <a:rPr lang="en-GB" sz="2800" dirty="0" err="1"/>
              <a:t>a.o</a:t>
            </a:r>
            <a:r>
              <a:rPr lang="en-GB" sz="2800" dirty="0"/>
              <a:t>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>
                <a:solidFill>
                  <a:schemeClr val="bg2"/>
                </a:solidFill>
              </a:rPr>
              <a:t>Do traditional approaches to Bantu noun classes answer these questions?</a:t>
            </a: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GB" sz="2800" dirty="0"/>
              <a:t>Required: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A </a:t>
            </a:r>
            <a:r>
              <a:rPr lang="en-GB" sz="2800" b="1" dirty="0"/>
              <a:t>theory</a:t>
            </a:r>
            <a:r>
              <a:rPr lang="en-GB" sz="2800" dirty="0"/>
              <a:t> of productivity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b="1" dirty="0"/>
              <a:t>Empirical</a:t>
            </a:r>
            <a:r>
              <a:rPr lang="en-GB" sz="2800" dirty="0"/>
              <a:t> </a:t>
            </a:r>
            <a:r>
              <a:rPr lang="en-GB" sz="2800" b="1" dirty="0"/>
              <a:t>evidence</a:t>
            </a:r>
            <a:r>
              <a:rPr lang="en-GB" sz="2800" dirty="0"/>
              <a:t> for speakers’ use of different cues.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GB" sz="2800" dirty="0"/>
          </a:p>
          <a:p>
            <a:pPr marL="0" indent="0">
              <a:buNone/>
            </a:pPr>
            <a:endParaRPr lang="en-GB" sz="3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Theoretical and empirical questions…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2742-1351-2AF3-4D8F-58EB001F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3BE0-2861-AA45-A99C-8107B4816AEB}" type="slidenum">
              <a:rPr lang="en-US" sz="2800" smtClean="0"/>
              <a:t>18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21355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81"/>
    </mc:Choice>
    <mc:Fallback>
      <p:transition spd="slow" advTm="1268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BCD8A-CDCC-456A-B9F7-56D330D14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0587"/>
            <a:ext cx="11604171" cy="4867386"/>
          </a:xfrm>
        </p:spPr>
        <p:txBody>
          <a:bodyPr vert="horz" lIns="91440" tIns="45720" rIns="91440" bIns="45720" rtlCol="0">
            <a:normAutofit/>
          </a:bodyPr>
          <a:lstStyle/>
          <a:p>
            <a:pPr lvl="1" fontAlgn="base">
              <a:spcAft>
                <a:spcPts val="600"/>
              </a:spcAft>
            </a:pPr>
            <a:r>
              <a:rPr lang="en-GB" sz="2800" dirty="0"/>
              <a:t>Are problematic</a:t>
            </a:r>
          </a:p>
          <a:p>
            <a:pPr lvl="2" fontAlgn="base">
              <a:spcAft>
                <a:spcPts val="600"/>
              </a:spcAft>
            </a:pPr>
            <a:r>
              <a:rPr lang="en-GB" sz="2800" dirty="0"/>
              <a:t>Class determined by prefix (not agreement) – Not always true</a:t>
            </a:r>
          </a:p>
          <a:p>
            <a:pPr lvl="2" fontAlgn="base">
              <a:spcAft>
                <a:spcPts val="600"/>
              </a:spcAft>
            </a:pPr>
            <a:r>
              <a:rPr lang="en-GB" sz="2800" dirty="0"/>
              <a:t>Semantically centred - some lack semantic regularity and others 	                              share features</a:t>
            </a:r>
          </a:p>
          <a:p>
            <a:pPr lvl="2" fontAlgn="base">
              <a:spcAft>
                <a:spcPts val="600"/>
              </a:spcAft>
            </a:pPr>
            <a:r>
              <a:rPr lang="en-GB" sz="2800" dirty="0"/>
              <a:t>No theory to show what makes a feature productive</a:t>
            </a:r>
          </a:p>
          <a:p>
            <a:pPr lvl="2" fontAlgn="base">
              <a:spcAft>
                <a:spcPts val="600"/>
              </a:spcAft>
            </a:pPr>
            <a:r>
              <a:rPr lang="en-GB" sz="2800" dirty="0"/>
              <a:t>No empirical evidence for speakers use of given features as cues to noun classification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995805-B9D0-00A3-2EEC-F26E12C3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Traditional approaches to Bantu noun classes 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E10F49-CF1A-3D8D-74A2-555CC731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19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49304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CAB7F-1009-D64F-B3BA-3003D3352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74511"/>
            <a:ext cx="11840936" cy="497794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</a:rPr>
              <a:t>The project aims to establish productive features that determine noun class membership in Kîîtharaka: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</a:rPr>
              <a:t>Corpus analyses using Tolerance Principle (Yang, 2016)- provides a way of establishing productivity of rules in a set of items with exceptions (exceptions should not exceed a certain threshold)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</a:rPr>
              <a:t>Psycholinguistic tests – shows what speakers pay attention to.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GB" sz="2800" dirty="0">
                <a:solidFill>
                  <a:srgbClr val="000000"/>
                </a:solidFill>
              </a:rPr>
              <a:t>Includes testing the  relative importance of semantic and morpho-phonological cues (following e.g., Karmiloff-Smith, 1981; Gagliardi &amp; </a:t>
            </a:r>
            <a:r>
              <a:rPr lang="en-GB" sz="2800" dirty="0" err="1">
                <a:solidFill>
                  <a:srgbClr val="000000"/>
                </a:solidFill>
              </a:rPr>
              <a:t>Lidz</a:t>
            </a:r>
            <a:r>
              <a:rPr lang="en-GB" sz="2800" dirty="0">
                <a:solidFill>
                  <a:srgbClr val="000000"/>
                </a:solidFill>
              </a:rPr>
              <a:t> 2014, and others).</a:t>
            </a:r>
          </a:p>
          <a:p>
            <a:pPr marL="0" indent="0">
              <a:buNone/>
            </a:pPr>
            <a:br>
              <a:rPr lang="en-GB" sz="2800" dirty="0">
                <a:solidFill>
                  <a:srgbClr val="000000"/>
                </a:solidFill>
              </a:rPr>
            </a:br>
            <a:br>
              <a:rPr lang="en-GB" sz="2800" dirty="0">
                <a:solidFill>
                  <a:srgbClr val="000000"/>
                </a:solidFill>
              </a:rPr>
            </a:b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9CA3B-C704-B14A-A81D-7AFDBE6F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latin typeface="Helvetica" pitchFamily="2" charset="0"/>
              </a:rPr>
              <a:t>A different approach to </a:t>
            </a:r>
            <a:r>
              <a:rPr lang="en-US" dirty="0" err="1">
                <a:latin typeface="Helvetica" pitchFamily="2" charset="0"/>
              </a:rPr>
              <a:t>Kîîtharaka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26B6B-B7B9-1108-D938-5305EBBC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20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595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57"/>
    </mc:Choice>
    <mc:Fallback xmlns="">
      <p:transition spd="slow" advTm="5905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810" y="724887"/>
            <a:ext cx="11696379" cy="3900901"/>
          </a:xfr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study uses a corpus (2327 nouns)</a:t>
            </a:r>
          </a:p>
          <a:p>
            <a:pPr lvl="1" fontAlgn="base">
              <a:buFont typeface="Wingdings" pitchFamily="2" charset="2"/>
              <a:buChar char="ü"/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1000 collected from Kîîtharaka bible and, </a:t>
            </a:r>
          </a:p>
          <a:p>
            <a:pPr lvl="1" fontAlgn="base">
              <a:buFont typeface="Wingdings" pitchFamily="2" charset="2"/>
              <a:buChar char="ü"/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1327 translated from SIL comparative African Wordlist (Snider    </a:t>
            </a:r>
          </a:p>
          <a:p>
            <a:pPr marL="0" indent="0" fontAlgn="base">
              <a:buNone/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and Roberts, 2006).</a:t>
            </a:r>
          </a:p>
          <a:p>
            <a:pPr fontAlgn="base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Coded for singular/plural agreement, semantics and morphophonological features (prefixes).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Building a Corpus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EFC64-F912-F2EF-BCDC-A9485AFB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03519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8C19-F470-1C47-853B-56C80283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514350" indent="-514350">
              <a:buAutoNum type="romanLcParenR"/>
            </a:pPr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Semantic features coded for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ADAD31C-F780-83DE-308B-4BECFDE22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118378"/>
              </p:ext>
            </p:extLst>
          </p:nvPr>
        </p:nvGraphicFramePr>
        <p:xfrm>
          <a:off x="1778750" y="879169"/>
          <a:ext cx="7857620" cy="50396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7070">
                  <a:extLst>
                    <a:ext uri="{9D8B030D-6E8A-4147-A177-3AD203B41FA5}">
                      <a16:colId xmlns:a16="http://schemas.microsoft.com/office/drawing/2014/main" val="570350758"/>
                    </a:ext>
                  </a:extLst>
                </a:gridCol>
                <a:gridCol w="5300550">
                  <a:extLst>
                    <a:ext uri="{9D8B030D-6E8A-4147-A177-3AD203B41FA5}">
                      <a16:colId xmlns:a16="http://schemas.microsoft.com/office/drawing/2014/main" val="1566014375"/>
                    </a:ext>
                  </a:extLst>
                </a:gridCol>
              </a:tblGrid>
              <a:tr h="436976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60" dirty="0">
                          <a:solidFill>
                            <a:schemeClr val="tx1"/>
                          </a:solidFill>
                        </a:rPr>
                        <a:t>Target Class</a:t>
                      </a:r>
                    </a:p>
                  </a:txBody>
                  <a:tcPr marL="89163" marR="89163" marT="89163" marB="89163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cap="none" spc="60" dirty="0">
                          <a:solidFill>
                            <a:schemeClr val="tx1"/>
                          </a:solidFill>
                        </a:rPr>
                        <a:t>Semantic Feature(s)</a:t>
                      </a:r>
                    </a:p>
                  </a:txBody>
                  <a:tcPr marL="89163" marR="89163" marT="89163" marB="89163" anchor="b"/>
                </a:tc>
                <a:extLst>
                  <a:ext uri="{0D108BD9-81ED-4DB2-BD59-A6C34878D82A}">
                    <a16:rowId xmlns:a16="http://schemas.microsoft.com/office/drawing/2014/main" val="2226518550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 (super)human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2509463051"/>
                  </a:ext>
                </a:extLst>
              </a:tr>
              <a:tr h="67233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Extended shape, spread shape, protruding shape, trees &amp; plants, dispersive mass)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410574139"/>
                  </a:ext>
                </a:extLst>
              </a:tr>
              <a:tr h="67233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Fruits, round shape, plant part, augmentative, made of wood, cohesive mass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4012359983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Artefacts, pejorative, derived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4265551506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Animals, artefacts, loan (other)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859560216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Narrow things, wavy-shaped things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2774414135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Diminutives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220665434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Abstract, mass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152984915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Derived, infinitives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64579919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927A2-545F-F345-9BD8-7392A60A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6917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19"/>
    </mc:Choice>
    <mc:Fallback xmlns="">
      <p:transition spd="slow" advTm="1481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8C19-F470-1C47-853B-56C80283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514350" indent="-514350">
              <a:buAutoNum type="romanLcParenR"/>
            </a:pPr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701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Morphophonological features coded for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8EC7F-02CC-80DD-8271-7426362E6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23</a:t>
            </a:fld>
            <a:endParaRPr lang="en-US" sz="2800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80F48BD-36F1-8161-D603-6C2E28B89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429519"/>
              </p:ext>
            </p:extLst>
          </p:nvPr>
        </p:nvGraphicFramePr>
        <p:xfrm>
          <a:off x="2203939" y="1179331"/>
          <a:ext cx="6119446" cy="4647945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714237">
                  <a:extLst>
                    <a:ext uri="{9D8B030D-6E8A-4147-A177-3AD203B41FA5}">
                      <a16:colId xmlns:a16="http://schemas.microsoft.com/office/drawing/2014/main" val="929939796"/>
                    </a:ext>
                  </a:extLst>
                </a:gridCol>
                <a:gridCol w="3405209">
                  <a:extLst>
                    <a:ext uri="{9D8B030D-6E8A-4147-A177-3AD203B41FA5}">
                      <a16:colId xmlns:a16="http://schemas.microsoft.com/office/drawing/2014/main" val="1484386170"/>
                    </a:ext>
                  </a:extLst>
                </a:gridCol>
              </a:tblGrid>
              <a:tr h="5059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Morphophonological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596423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M(u)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500329386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Mû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630830219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Î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13883807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Kî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648554422"/>
                  </a:ext>
                </a:extLst>
              </a:tr>
              <a:tr h="394840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N, </a:t>
                      </a:r>
                      <a:r>
                        <a:rPr lang="en-US" sz="2400" cap="none" spc="0" dirty="0" err="1">
                          <a:solidFill>
                            <a:schemeClr val="tx1"/>
                          </a:solidFill>
                        </a:rPr>
                        <a:t>ø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788182576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Rû</a:t>
                      </a:r>
                      <a:endParaRPr lang="en-US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954455200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Ka-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998875085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U-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265091397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Kû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94950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7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55"/>
    </mc:Choice>
    <mc:Fallback xmlns="">
      <p:transition spd="slow" advTm="8655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87958"/>
            <a:ext cx="11604171" cy="4977946"/>
          </a:xfr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endParaRPr lang="en-GB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fontAlgn="base"/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Corpus analysed for rule productivity using Tolerance Principle (Yang, 2016)</a:t>
            </a:r>
          </a:p>
          <a:p>
            <a:pPr fontAlgn="base"/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Tolerance Principle demonstrates how to establish the productivity of rules with exceptions.</a:t>
            </a:r>
          </a:p>
          <a:p>
            <a:pPr lvl="1"/>
            <a:r>
              <a:rPr lang="en-US" sz="2400" dirty="0"/>
              <a:t>Proposed to account for how and when children acquiring a language make generalizations and when they don’t.</a:t>
            </a:r>
          </a:p>
          <a:p>
            <a:pPr lvl="1"/>
            <a:r>
              <a:rPr lang="en-US" sz="2400" dirty="0"/>
              <a:t>provides a threshold beyond which the exceptions should not exceed for the rule to be productive.</a:t>
            </a:r>
          </a:p>
          <a:p>
            <a:pPr lvl="1"/>
            <a:r>
              <a:rPr lang="en-US" sz="2400" dirty="0"/>
              <a:t>Makes use of 2 integer values N (number of items in the lexicon) and e (number of items not obeying the rule)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Let a rule be defined over a set of N items. </a:t>
            </a:r>
          </a:p>
          <a:p>
            <a:pPr lvl="1"/>
            <a:r>
              <a:rPr lang="en-US" sz="2400" dirty="0"/>
              <a:t>The rule is productive if the number of exceptions does not exceed a threshold, 𝛉</a:t>
            </a:r>
            <a:r>
              <a:rPr lang="en-US" sz="2400" baseline="-25000" dirty="0"/>
              <a:t>N.</a:t>
            </a:r>
          </a:p>
          <a:p>
            <a:pPr marL="457200" lvl="1" indent="0">
              <a:buNone/>
            </a:pPr>
            <a:r>
              <a:rPr lang="en-US" sz="2400" b="1" baseline="-25000" dirty="0"/>
              <a:t>               </a:t>
            </a:r>
            <a:r>
              <a:rPr lang="en-US" sz="2400" dirty="0"/>
              <a:t>exceptions ≤ 𝛉</a:t>
            </a:r>
            <a:r>
              <a:rPr lang="en-US" sz="2400" baseline="-25000" dirty="0"/>
              <a:t>N </a:t>
            </a:r>
            <a:r>
              <a:rPr lang="en-US" sz="2400" dirty="0"/>
              <a:t>(N/ln(N))                              </a:t>
            </a:r>
          </a:p>
          <a:p>
            <a:pPr lvl="1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Corpus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1726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Derivation of Tolerance Principle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25</a:t>
            </a:fld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84E6FD-EAD5-9163-4E7E-BD6D9067BC31}"/>
                  </a:ext>
                </a:extLst>
              </p:cNvPr>
              <p:cNvSpPr txBox="1"/>
              <p:nvPr/>
            </p:nvSpPr>
            <p:spPr>
              <a:xfrm>
                <a:off x="0" y="866976"/>
                <a:ext cx="12192000" cy="6397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Symbol" pitchFamily="2" charset="2"/>
                  <a:buChar char=""/>
                </a:pP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Makes use of </a:t>
                </a:r>
                <a:r>
                  <a:rPr lang="en-US" sz="24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Zipf’s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Law (1949)</a:t>
                </a:r>
                <a:endPara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 rank (r) of a word in a naturally occurring corpora is inversely promotional to its frequency (r=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; f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 </a:t>
                </a:r>
                <a:r>
                  <a:rPr lang="en-US" sz="2400" i="1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-th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ranked word takes </a:t>
                </a:r>
                <a:r>
                  <a:rPr lang="en-US" sz="2400" i="1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units of time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to be checked off in a serial search</a:t>
                </a:r>
                <a:endPara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 probability of word </a:t>
                </a:r>
                <a:r>
                  <a:rPr lang="en-US" sz="2400" i="1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/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US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f/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fk</m:t>
                        </m:r>
                      </m:e>
                    </m:nary>
                  </m:oMath>
                </a14:m>
                <a:endParaRPr lang="en-GB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/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B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/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sSub>
                          <m:sSubPr>
                            <m:ctrlPr>
                              <a:rPr lang="en-GB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/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GB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GB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rk</m:t>
                            </m:r>
                          </m:den>
                        </m:f>
                      </m:e>
                    </m:nary>
                  </m:oMath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/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/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GB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GB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𝑖𝐻</m:t>
                        </m:r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:r>
                  <a:rPr lang="en-US" sz="1600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Hn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n-</a:t>
                </a:r>
                <a:r>
                  <a:rPr lang="en-US" sz="1600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harmonic number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Symbol" pitchFamily="2" charset="2"/>
                  <a:buChar char=""/>
                </a:pP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Harmonic number = sum of reciprocals of N natural numbers</a:t>
                </a:r>
                <a:endPara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Approximates to natural logarithm- both grow exponentially as a function of N items (= </a:t>
                </a:r>
                <a:r>
                  <a:rPr lang="en-US" sz="24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lnN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  <a:endPara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Thus, p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robability of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en-US" sz="24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ranked word (now,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𝑙𝑛𝑁</m:t>
                        </m:r>
                      </m:den>
                    </m:f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multiplied by total ranks (N) gives total time complexity to process unproductive rule:</a:t>
                </a:r>
                <a:endPara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𝑙𝑛𝑁</m:t>
                        </m:r>
                      </m:den>
                    </m:f>
                  </m:oMath>
                </a14:m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x N = N/</a:t>
                </a:r>
                <a:r>
                  <a:rPr lang="en-US" sz="24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lnN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(threshold)</a:t>
                </a:r>
                <a:endPara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84E6FD-EAD5-9163-4E7E-BD6D9067B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6976"/>
                <a:ext cx="12192000" cy="6397329"/>
              </a:xfrm>
              <a:prstGeom prst="rect">
                <a:avLst/>
              </a:prstGeom>
              <a:blipFill>
                <a:blip r:embed="rId3"/>
                <a:stretch>
                  <a:fillRect l="-832" t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321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Derivation of Tolerance Principle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26</a:t>
            </a:fld>
            <a:endParaRPr lang="en-US" sz="2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6528D3E-FBA4-0378-73A2-F8A06EF142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7349509"/>
              </p:ext>
            </p:extLst>
          </p:nvPr>
        </p:nvGraphicFramePr>
        <p:xfrm>
          <a:off x="609601" y="1087438"/>
          <a:ext cx="10585938" cy="5184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28616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Derivation of Tolerance Principle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27</a:t>
            </a:fld>
            <a:endParaRPr lang="en-US" sz="28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DC38C0F-A242-1F4E-213F-5A01504224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6647789"/>
              </p:ext>
            </p:extLst>
          </p:nvPr>
        </p:nvGraphicFramePr>
        <p:xfrm>
          <a:off x="1112520" y="1280160"/>
          <a:ext cx="850392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13850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6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2DB646-FCF9-3ADB-491D-30A5724D7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Corpus Results</a:t>
            </a:r>
          </a:p>
        </p:txBody>
      </p:sp>
      <p:pic>
        <p:nvPicPr>
          <p:cNvPr id="12" name="Graphic 11" descr="Bar chart">
            <a:extLst>
              <a:ext uri="{FF2B5EF4-FFF2-40B4-BE49-F238E27FC236}">
                <a16:creationId xmlns:a16="http://schemas.microsoft.com/office/drawing/2014/main" id="{08028A74-4FE2-E6D0-92E8-C054F7C0B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8" name="Group 2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AD4CFA-B676-20B3-B9BD-502EE3F5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30EA680-D336-4FF7-8B7A-9848BB0A1C32}" type="slidenum">
              <a:rPr lang="en-US"/>
              <a:pPr>
                <a:lnSpc>
                  <a:spcPct val="90000"/>
                </a:lnSpc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02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70"/>
    </mc:Choice>
    <mc:Fallback>
      <p:transition spd="slow" advTm="897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AD4CFA-B676-20B3-B9BD-502EE3F5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29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2DB646-FCF9-3ADB-491D-30A5724D7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E60299-DD38-C497-8809-32AB10E56C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semantic feature for class 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06DEA4-6A00-58AF-F01F-31275EF50B1F}"/>
              </a:ext>
            </a:extLst>
          </p:cNvPr>
          <p:cNvGraphicFramePr>
            <a:graphicFrameLocks noGrp="1"/>
          </p:cNvGraphicFramePr>
          <p:nvPr/>
        </p:nvGraphicFramePr>
        <p:xfrm>
          <a:off x="374573" y="1343086"/>
          <a:ext cx="10774498" cy="3688535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Semantic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5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Human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Augmentative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42590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Round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71848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part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84154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Fruit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Made from wood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78296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Derived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Cohesive mass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113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077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70"/>
    </mc:Choice>
    <mc:Fallback>
      <p:transition spd="slow" advTm="897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986243-9037-BC13-F23A-195B4100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30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3FDBD8-9EF0-A699-90B4-6EE61B4F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0B753D-C973-4917-0E97-052B280690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unproductive semantic feature for class 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FB78FA-C26D-750C-032B-FA1371C36660}"/>
              </a:ext>
            </a:extLst>
          </p:cNvPr>
          <p:cNvGraphicFramePr>
            <a:graphicFrameLocks noGrp="1"/>
          </p:cNvGraphicFramePr>
          <p:nvPr/>
        </p:nvGraphicFramePr>
        <p:xfrm>
          <a:off x="374573" y="1343086"/>
          <a:ext cx="10774498" cy="4459187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Semantic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3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Animal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Protruding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Tree/plant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529663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Artefact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14525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Narrow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6883809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Derived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40773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Cohesive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823363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Dispersive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804353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Extended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0219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Spread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790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351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 fontScale="90000"/>
          </a:bodyPr>
          <a:lstStyle/>
          <a:p>
            <a:r>
              <a:rPr lang="en-US" kern="1200" dirty="0">
                <a:latin typeface="Helvetica" pitchFamily="2" charset="0"/>
              </a:rPr>
              <a:t>Corpus results: p</a:t>
            </a:r>
            <a:r>
              <a:rPr lang="en-US" dirty="0">
                <a:latin typeface="Helvetica" pitchFamily="2" charset="0"/>
              </a:rPr>
              <a:t>roductive semantic features (overall)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31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[+augmentative]       	class 5 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[+pejorative]                	class 7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[+diminutive]               	class 12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[+derived]                    	class 15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[+infinitive]                    	class 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2BDA70-F3BA-B789-58A8-1827D0BA703D}"/>
              </a:ext>
            </a:extLst>
          </p:cNvPr>
          <p:cNvCxnSpPr>
            <a:cxnSpLocks/>
          </p:cNvCxnSpPr>
          <p:nvPr/>
        </p:nvCxnSpPr>
        <p:spPr>
          <a:xfrm>
            <a:off x="3701631" y="1561420"/>
            <a:ext cx="677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6C38EA-5BD5-A240-DCD9-C56FDF88BF68}"/>
              </a:ext>
            </a:extLst>
          </p:cNvPr>
          <p:cNvCxnSpPr/>
          <p:nvPr/>
        </p:nvCxnSpPr>
        <p:spPr>
          <a:xfrm>
            <a:off x="3736800" y="2039749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BD2837-702A-CA29-AA02-046B858B7408}"/>
              </a:ext>
            </a:extLst>
          </p:cNvPr>
          <p:cNvCxnSpPr/>
          <p:nvPr/>
        </p:nvCxnSpPr>
        <p:spPr>
          <a:xfrm>
            <a:off x="3643016" y="2590801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91EF02-FBB9-F542-87C4-1789B5EB84E5}"/>
              </a:ext>
            </a:extLst>
          </p:cNvPr>
          <p:cNvCxnSpPr/>
          <p:nvPr/>
        </p:nvCxnSpPr>
        <p:spPr>
          <a:xfrm>
            <a:off x="3701631" y="3150888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0343DA-7D7D-C3B6-619B-072E66876F4E}"/>
              </a:ext>
            </a:extLst>
          </p:cNvPr>
          <p:cNvCxnSpPr/>
          <p:nvPr/>
        </p:nvCxnSpPr>
        <p:spPr>
          <a:xfrm>
            <a:off x="3786882" y="3649622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21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9"/>
    </mc:Choice>
    <mc:Fallback xmlns="">
      <p:transition spd="slow" advTm="348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Results: p</a:t>
            </a:r>
            <a:r>
              <a:rPr lang="en-US" dirty="0">
                <a:latin typeface="Helvetica" pitchFamily="2" charset="0"/>
              </a:rPr>
              <a:t>roductive semantic features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32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CD652B-EB57-7AC9-F7EA-26BECB24709B}"/>
              </a:ext>
            </a:extLst>
          </p:cNvPr>
          <p:cNvSpPr txBox="1"/>
          <p:nvPr/>
        </p:nvSpPr>
        <p:spPr>
          <a:xfrm>
            <a:off x="293914" y="3429000"/>
            <a:ext cx="1134835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800" dirty="0"/>
              <a:t>What about [+Human] feature!</a:t>
            </a:r>
          </a:p>
        </p:txBody>
      </p:sp>
      <p:pic>
        <p:nvPicPr>
          <p:cNvPr id="3074" name="Picture 2" descr="What is wrong emoticon Confused emoji emoticon holds out his hand with his palm turned upwards and making a gesture of what is or did wrong, I didn’t get it, huh frustrated emoji stock illustrations">
            <a:extLst>
              <a:ext uri="{FF2B5EF4-FFF2-40B4-BE49-F238E27FC236}">
                <a16:creationId xmlns:a16="http://schemas.microsoft.com/office/drawing/2014/main" id="{576FDA1B-CE11-E11B-6FB7-4B0CB5534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595" y="1461322"/>
            <a:ext cx="4627748" cy="429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45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1"/>
    </mc:Choice>
    <mc:Fallback xmlns="">
      <p:transition spd="slow" advTm="187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A1D28-69C4-0365-25EA-277D300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33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072C-331C-3162-96BF-B3E8EC0E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ABE759-837B-92B2-5243-DF32BE7077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semantic feature (class-feature mapping)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5D59F6-2366-ED24-13DF-473E38F317A1}"/>
              </a:ext>
            </a:extLst>
          </p:cNvPr>
          <p:cNvGraphicFramePr>
            <a:graphicFrameLocks noGrp="1"/>
          </p:cNvGraphicFramePr>
          <p:nvPr/>
        </p:nvGraphicFramePr>
        <p:xfrm>
          <a:off x="524933" y="1183341"/>
          <a:ext cx="10041003" cy="4861857"/>
        </p:xfrm>
        <a:graphic>
          <a:graphicData uri="http://schemas.openxmlformats.org/drawingml/2006/table">
            <a:tbl>
              <a:tblPr firstRow="1" bandRow="1"/>
              <a:tblGrid>
                <a:gridCol w="2281222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545637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180103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81539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1807381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245121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Human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219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458945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1441495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605014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109164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724556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412273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956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1166871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12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599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56B483-6BDC-1F27-F856-0DABCD49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34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D3F004-F5F5-1704-0850-CF5DE762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CE78AE-41CC-0DDF-8119-AB802DF832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morphophonological feature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F644FA-BF31-243E-ADB1-1A2FC89B46F6}"/>
              </a:ext>
            </a:extLst>
          </p:cNvPr>
          <p:cNvGraphicFramePr>
            <a:graphicFrameLocks noGrp="1"/>
          </p:cNvGraphicFramePr>
          <p:nvPr/>
        </p:nvGraphicFramePr>
        <p:xfrm>
          <a:off x="374573" y="1343086"/>
          <a:ext cx="10774498" cy="4113296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Morpho-phonological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7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rû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2590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71848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84154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78296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113288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087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228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Helvetica" pitchFamily="2" charset="0"/>
              </a:rPr>
              <a:t>R</a:t>
            </a:r>
            <a:r>
              <a:rPr lang="en-US" kern="1200" dirty="0">
                <a:latin typeface="Helvetica" pitchFamily="2" charset="0"/>
              </a:rPr>
              <a:t>esults: p</a:t>
            </a:r>
            <a:r>
              <a:rPr lang="en-US" dirty="0">
                <a:latin typeface="Helvetica" pitchFamily="2" charset="0"/>
              </a:rPr>
              <a:t>roductive morphophonological features 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35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</a:t>
            </a:r>
            <a:r>
              <a:rPr lang="en-US" sz="2800" dirty="0" err="1"/>
              <a:t>î</a:t>
            </a:r>
            <a:r>
              <a:rPr lang="en-US" sz="2800" dirty="0"/>
              <a:t>-/</a:t>
            </a:r>
            <a:r>
              <a:rPr lang="en-US" sz="2800" dirty="0" err="1"/>
              <a:t>ri</a:t>
            </a:r>
            <a:r>
              <a:rPr lang="en-US" sz="2800" dirty="0"/>
              <a:t>-]          	class 5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</a:t>
            </a:r>
            <a:r>
              <a:rPr lang="en-US" sz="2800" dirty="0" err="1"/>
              <a:t>kî</a:t>
            </a:r>
            <a:r>
              <a:rPr lang="en-US" sz="2800" dirty="0"/>
              <a:t>-]           	class 7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[+n-]            	class 9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</a:t>
            </a:r>
            <a:r>
              <a:rPr lang="en-US" sz="2800" cap="none" spc="0" dirty="0" err="1">
                <a:solidFill>
                  <a:schemeClr val="tx1"/>
                </a:solidFill>
              </a:rPr>
              <a:t>ø</a:t>
            </a:r>
            <a:r>
              <a:rPr lang="en-US" sz="2800" dirty="0"/>
              <a:t>]		class 9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</a:t>
            </a:r>
            <a:r>
              <a:rPr lang="en-US" sz="2800" dirty="0" err="1"/>
              <a:t>rû</a:t>
            </a:r>
            <a:r>
              <a:rPr lang="en-US" sz="2800" dirty="0"/>
              <a:t>-]           	class 11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[+ka]		class 12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</a:t>
            </a:r>
            <a:r>
              <a:rPr lang="en-US" sz="2800" dirty="0" err="1"/>
              <a:t>û</a:t>
            </a:r>
            <a:r>
              <a:rPr lang="en-US" sz="2800" dirty="0"/>
              <a:t>-]          	class 14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</a:t>
            </a:r>
            <a:r>
              <a:rPr lang="en-US" sz="2800" dirty="0" err="1"/>
              <a:t>kû</a:t>
            </a:r>
            <a:r>
              <a:rPr lang="en-US" sz="2800" dirty="0"/>
              <a:t>-]           	class 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2BDA70-F3BA-B789-58A8-1827D0BA703D}"/>
              </a:ext>
            </a:extLst>
          </p:cNvPr>
          <p:cNvCxnSpPr>
            <a:cxnSpLocks/>
          </p:cNvCxnSpPr>
          <p:nvPr/>
        </p:nvCxnSpPr>
        <p:spPr>
          <a:xfrm>
            <a:off x="2297723" y="1545654"/>
            <a:ext cx="6029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6C38EA-5BD5-A240-DCD9-C56FDF88BF68}"/>
              </a:ext>
            </a:extLst>
          </p:cNvPr>
          <p:cNvCxnSpPr>
            <a:cxnSpLocks/>
          </p:cNvCxnSpPr>
          <p:nvPr/>
        </p:nvCxnSpPr>
        <p:spPr>
          <a:xfrm>
            <a:off x="2297723" y="2041137"/>
            <a:ext cx="578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BD2837-702A-CA29-AA02-046B858B7408}"/>
              </a:ext>
            </a:extLst>
          </p:cNvPr>
          <p:cNvCxnSpPr/>
          <p:nvPr/>
        </p:nvCxnSpPr>
        <p:spPr>
          <a:xfrm>
            <a:off x="2261418" y="2572523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91EF02-FBB9-F542-87C4-1789B5EB84E5}"/>
              </a:ext>
            </a:extLst>
          </p:cNvPr>
          <p:cNvCxnSpPr/>
          <p:nvPr/>
        </p:nvCxnSpPr>
        <p:spPr>
          <a:xfrm>
            <a:off x="2263457" y="3094382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0343DA-7D7D-C3B6-619B-072E66876F4E}"/>
              </a:ext>
            </a:extLst>
          </p:cNvPr>
          <p:cNvCxnSpPr/>
          <p:nvPr/>
        </p:nvCxnSpPr>
        <p:spPr>
          <a:xfrm>
            <a:off x="2253032" y="3603855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3D2737-4AB8-BF94-BF19-8CE2B50BE4BD}"/>
              </a:ext>
            </a:extLst>
          </p:cNvPr>
          <p:cNvCxnSpPr/>
          <p:nvPr/>
        </p:nvCxnSpPr>
        <p:spPr>
          <a:xfrm>
            <a:off x="2217302" y="4135415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37BFF31-B8AA-A044-8912-DAF9DEB0D7A8}"/>
              </a:ext>
            </a:extLst>
          </p:cNvPr>
          <p:cNvCxnSpPr/>
          <p:nvPr/>
        </p:nvCxnSpPr>
        <p:spPr>
          <a:xfrm>
            <a:off x="2217302" y="4616999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A9AEA6-DA18-BD34-80BB-0C3D7390B181}"/>
              </a:ext>
            </a:extLst>
          </p:cNvPr>
          <p:cNvCxnSpPr/>
          <p:nvPr/>
        </p:nvCxnSpPr>
        <p:spPr>
          <a:xfrm>
            <a:off x="2217302" y="5119919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57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35"/>
    </mc:Choice>
    <mc:Fallback xmlns="">
      <p:transition spd="slow" advTm="12935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 fontScale="90000"/>
          </a:bodyPr>
          <a:lstStyle/>
          <a:p>
            <a:r>
              <a:rPr lang="en-US" kern="1200" dirty="0">
                <a:latin typeface="Helvetica" pitchFamily="2" charset="0"/>
              </a:rPr>
              <a:t>Corpus results: p</a:t>
            </a:r>
            <a:r>
              <a:rPr lang="en-US" dirty="0">
                <a:latin typeface="Helvetica" pitchFamily="2" charset="0"/>
              </a:rPr>
              <a:t>roductive morphophonological features 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36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CD652B-EB57-7AC9-F7EA-26BECB24709B}"/>
              </a:ext>
            </a:extLst>
          </p:cNvPr>
          <p:cNvSpPr txBox="1"/>
          <p:nvPr/>
        </p:nvSpPr>
        <p:spPr>
          <a:xfrm>
            <a:off x="938683" y="3335215"/>
            <a:ext cx="113483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400" dirty="0"/>
              <a:t>[+</a:t>
            </a:r>
            <a:r>
              <a:rPr lang="en-US" sz="2400" dirty="0" err="1"/>
              <a:t>Mû</a:t>
            </a:r>
            <a:r>
              <a:rPr lang="en-US" sz="2400" dirty="0"/>
              <a:t>-] is not productive!</a:t>
            </a:r>
          </a:p>
        </p:txBody>
      </p:sp>
      <p:pic>
        <p:nvPicPr>
          <p:cNvPr id="3074" name="Picture 2" descr="What is wrong emoticon Confused emoji emoticon holds out his hand with his palm turned upwards and making a gesture of what is or did wrong, I didn’t get it, huh frustrated emoji stock illustrations">
            <a:extLst>
              <a:ext uri="{FF2B5EF4-FFF2-40B4-BE49-F238E27FC236}">
                <a16:creationId xmlns:a16="http://schemas.microsoft.com/office/drawing/2014/main" id="{576FDA1B-CE11-E11B-6FB7-4B0CB5534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595" y="1461322"/>
            <a:ext cx="4627748" cy="429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97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Experiments: Observation of human behaviour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DA391E-E982-BED1-A52F-EFC1F213C545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Test to what extent statistical measure of productivity reflects speakers’ own usage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3 experiments (two done)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7EE58D-76AF-0F4B-74AC-BFE7E12348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58" r="-1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330EA680-D336-4FF7-8B7A-9848BB0A1C32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37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287145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6C89FE5-F42C-8F19-8950-6E67F027D1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390354"/>
              </p:ext>
            </p:extLst>
          </p:nvPr>
        </p:nvGraphicFramePr>
        <p:xfrm>
          <a:off x="2719753" y="1068048"/>
          <a:ext cx="6049110" cy="4721904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024555">
                  <a:extLst>
                    <a:ext uri="{9D8B030D-6E8A-4147-A177-3AD203B41FA5}">
                      <a16:colId xmlns:a16="http://schemas.microsoft.com/office/drawing/2014/main" val="4104097734"/>
                    </a:ext>
                  </a:extLst>
                </a:gridCol>
                <a:gridCol w="3024555">
                  <a:extLst>
                    <a:ext uri="{9D8B030D-6E8A-4147-A177-3AD203B41FA5}">
                      <a16:colId xmlns:a16="http://schemas.microsoft.com/office/drawing/2014/main" val="3018972119"/>
                    </a:ext>
                  </a:extLst>
                </a:gridCol>
              </a:tblGrid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Semantic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549112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Human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(</a:t>
                      </a:r>
                      <a:r>
                        <a:rPr lang="en-US" dirty="0" err="1"/>
                        <a:t>mû-û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528321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Extended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 (</a:t>
                      </a:r>
                      <a:r>
                        <a:rPr lang="en-US" dirty="0" err="1"/>
                        <a:t>mû-û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629627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Augmentative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 (</a:t>
                      </a:r>
                      <a:r>
                        <a:rPr lang="en-US" dirty="0" err="1"/>
                        <a:t>î-rî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323941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Fruits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 (</a:t>
                      </a:r>
                      <a:r>
                        <a:rPr lang="en-US" dirty="0" err="1"/>
                        <a:t>î-rî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99970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Artefacts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(k(g)</a:t>
                      </a:r>
                      <a:r>
                        <a:rPr lang="en-US" dirty="0" err="1"/>
                        <a:t>î</a:t>
                      </a:r>
                      <a:r>
                        <a:rPr lang="en-US" dirty="0"/>
                        <a:t>-k(g)</a:t>
                      </a:r>
                      <a:r>
                        <a:rPr lang="en-US" dirty="0" err="1"/>
                        <a:t>î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779406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Pejorative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(k(g)</a:t>
                      </a:r>
                      <a:r>
                        <a:rPr lang="en-US" dirty="0" err="1"/>
                        <a:t>î</a:t>
                      </a:r>
                      <a:r>
                        <a:rPr lang="en-US" dirty="0"/>
                        <a:t>-k(g)</a:t>
                      </a:r>
                      <a:r>
                        <a:rPr lang="en-US" dirty="0" err="1"/>
                        <a:t>î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110384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Other (loan)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 (n(</a:t>
                      </a:r>
                      <a:r>
                        <a:rPr lang="en-US" sz="1800" cap="none" spc="0" dirty="0" err="1">
                          <a:solidFill>
                            <a:schemeClr val="tx1"/>
                          </a:solidFill>
                        </a:rPr>
                        <a:t>ø</a:t>
                      </a:r>
                      <a:r>
                        <a:rPr lang="en-US" dirty="0"/>
                        <a:t>)-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102214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Narrow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 (</a:t>
                      </a:r>
                      <a:r>
                        <a:rPr lang="en-US" dirty="0" err="1"/>
                        <a:t>rû-rû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140964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Wavy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 (</a:t>
                      </a:r>
                      <a:r>
                        <a:rPr lang="en-US" dirty="0" err="1"/>
                        <a:t>rû-rû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425191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Diminutive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12 (k(g)a-k(g)a)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0620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Experiment 1: Semantic features tested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EFC64-F912-F2EF-BCDC-A9485AFB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38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502397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243589" cy="14508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Stimuli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fontAlgn="base"/>
            <a:r>
              <a:rPr lang="en-US" sz="2200" dirty="0">
                <a:latin typeface="+mn-lt"/>
              </a:rPr>
              <a:t>Participants saw an unfamiliar image followed by a DP(novel noun&gt; num) with an underscore  at the beginning of each word</a:t>
            </a:r>
          </a:p>
          <a:p>
            <a:pPr fontAlgn="base"/>
            <a:r>
              <a:rPr lang="en-US" sz="2200" dirty="0">
                <a:latin typeface="+mn-lt"/>
              </a:rPr>
              <a:t>Required to use their Kîîtharaka knowledge to judge if part of the words were missing and type them in full.</a:t>
            </a:r>
          </a:p>
          <a:p>
            <a:pPr fontAlgn="base"/>
            <a:r>
              <a:rPr lang="en-US" sz="2200" dirty="0">
                <a:latin typeface="+mn-lt"/>
              </a:rPr>
              <a:t>Order in which the stimuli appeared and image-DP pairing  randomized across participants</a:t>
            </a:r>
          </a:p>
        </p:txBody>
      </p:sp>
      <p:pic>
        <p:nvPicPr>
          <p:cNvPr id="6" name="Picture 5" descr="Shape, arrow&#10;&#10;Description automatically generated">
            <a:extLst>
              <a:ext uri="{FF2B5EF4-FFF2-40B4-BE49-F238E27FC236}">
                <a16:creationId xmlns:a16="http://schemas.microsoft.com/office/drawing/2014/main" id="{EF5E9AD0-14C3-96CB-723D-86028CC0CF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1267"/>
          <a:stretch/>
        </p:blipFill>
        <p:spPr>
          <a:xfrm>
            <a:off x="6096000" y="10"/>
            <a:ext cx="6094477" cy="6076061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EFC64-F912-F2EF-BCDC-A9485AFB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330EA680-D336-4FF7-8B7A-9848BB0A1C32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39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917589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8882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Experiment 1 results: productive semantic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2800" smtClean="0"/>
              <a:pPr>
                <a:spcAft>
                  <a:spcPts val="600"/>
                </a:spcAft>
              </a:pPr>
              <a:t>40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7EEFF10-1E15-8C41-B7A1-F74DC77639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368134"/>
              </p:ext>
            </p:extLst>
          </p:nvPr>
        </p:nvGraphicFramePr>
        <p:xfrm>
          <a:off x="1195755" y="1187449"/>
          <a:ext cx="9683260" cy="4627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6253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8882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Experiment 1 results: productive semantic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2800" smtClean="0"/>
              <a:pPr>
                <a:spcAft>
                  <a:spcPts val="600"/>
                </a:spcAft>
              </a:pPr>
              <a:t>41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7EEFF10-1E15-8C41-B7A1-F74DC77639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7076054"/>
              </p:ext>
            </p:extLst>
          </p:nvPr>
        </p:nvGraphicFramePr>
        <p:xfrm>
          <a:off x="1195755" y="1187449"/>
          <a:ext cx="9683260" cy="4627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517558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5" y="1087958"/>
            <a:ext cx="10640786" cy="3630999"/>
          </a:xfrm>
        </p:spPr>
        <p:txBody>
          <a:bodyPr vert="horz" lIns="91440" tIns="45720" rIns="91440" bIns="45720" rtlCol="0" anchor="ctr">
            <a:noAutofit/>
          </a:bodyPr>
          <a:lstStyle/>
          <a:p>
            <a:pPr lvl="1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Prefix-agreement pairing tested in three levels:</a:t>
            </a:r>
          </a:p>
          <a:p>
            <a:pPr lvl="2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Singular prefix – singular agreement</a:t>
            </a:r>
          </a:p>
          <a:p>
            <a:pPr lvl="2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Plural prefix – Plural agreement</a:t>
            </a:r>
          </a:p>
          <a:p>
            <a:pPr lvl="2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Singular prefix – Plural noun + agreement</a:t>
            </a:r>
          </a:p>
          <a:p>
            <a:pPr lvl="1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Experiment 2: Morphophonological features tested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42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510259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Stimuli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465064" cy="29254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fontAlgn="base"/>
            <a:r>
              <a:rPr lang="en-US" sz="2200" dirty="0">
                <a:latin typeface="+mn-lt"/>
              </a:rPr>
              <a:t>Participants saw a (non)prefixed novel noun followed by a short sentence with two gaps, as in </a:t>
            </a:r>
            <a:r>
              <a:rPr lang="en-US" sz="2200" i="1" dirty="0" err="1">
                <a:latin typeface="+mn-lt"/>
              </a:rPr>
              <a:t>Nkwona</a:t>
            </a:r>
            <a:r>
              <a:rPr lang="en-US" sz="2200" i="1" dirty="0">
                <a:latin typeface="+mn-lt"/>
              </a:rPr>
              <a:t> ____ _</a:t>
            </a:r>
            <a:r>
              <a:rPr lang="en-US" sz="2200" i="1" dirty="0" err="1">
                <a:latin typeface="+mn-lt"/>
              </a:rPr>
              <a:t>mwe</a:t>
            </a:r>
            <a:r>
              <a:rPr lang="en-US" sz="2200" dirty="0">
                <a:latin typeface="+mn-lt"/>
              </a:rPr>
              <a:t> “I have seen _one ____”.</a:t>
            </a:r>
          </a:p>
          <a:p>
            <a:pPr lvl="2" fontAlgn="base"/>
            <a:r>
              <a:rPr lang="en-US" sz="2200" dirty="0">
                <a:latin typeface="+mn-lt"/>
              </a:rPr>
              <a:t>Required to fill in the gaps using the noun seen and its agreement</a:t>
            </a:r>
          </a:p>
          <a:p>
            <a:pPr marL="914400" lvl="2" fontAlgn="base"/>
            <a:endParaRPr lang="en-US" sz="2200" dirty="0">
              <a:latin typeface="+mn-lt"/>
            </a:endParaRPr>
          </a:p>
          <a:p>
            <a:pPr marL="685800" lvl="2" fontAlgn="base"/>
            <a:endParaRPr lang="en-US" sz="2200" dirty="0">
              <a:latin typeface="+mn-lt"/>
            </a:endParaRPr>
          </a:p>
          <a:p>
            <a:pPr marL="457200" lvl="1" fontAlgn="base"/>
            <a:endParaRPr lang="en-US" sz="2200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24C967-0C4D-06E9-65E6-A448C0D01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625" y="958818"/>
            <a:ext cx="4721390" cy="42728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2800"/>
              <a:pPr>
                <a:spcAft>
                  <a:spcPts val="600"/>
                </a:spcAft>
              </a:pPr>
              <a:t>43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91855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Helvetica" pitchFamily="2" charset="0"/>
              </a:rPr>
              <a:t>Results: productive morphophonological features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44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087C5EF-0E16-A770-BACF-ABC512F0A2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8771118"/>
              </p:ext>
            </p:extLst>
          </p:nvPr>
        </p:nvGraphicFramePr>
        <p:xfrm>
          <a:off x="1143000" y="1714500"/>
          <a:ext cx="9337431" cy="40957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C8C6A8-AACA-8B66-34BC-AE08485AA729}"/>
              </a:ext>
            </a:extLst>
          </p:cNvPr>
          <p:cNvSpPr txBox="1"/>
          <p:nvPr/>
        </p:nvSpPr>
        <p:spPr>
          <a:xfrm>
            <a:off x="293914" y="1047784"/>
            <a:ext cx="456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singular stimulus – singular agreement (class) </a:t>
            </a:r>
          </a:p>
        </p:txBody>
      </p:sp>
    </p:spTree>
    <p:extLst>
      <p:ext uri="{BB962C8B-B14F-4D97-AF65-F5344CB8AC3E}">
        <p14:creationId xmlns:p14="http://schemas.microsoft.com/office/powerpoint/2010/main" val="8635284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Helvetica" pitchFamily="2" charset="0"/>
              </a:rPr>
              <a:t>Results: productive morphophonological features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45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8C6A8-AACA-8B66-34BC-AE08485AA729}"/>
              </a:ext>
            </a:extLst>
          </p:cNvPr>
          <p:cNvSpPr txBox="1"/>
          <p:nvPr/>
        </p:nvSpPr>
        <p:spPr>
          <a:xfrm>
            <a:off x="293914" y="1047784"/>
            <a:ext cx="456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singular stimulus – singular agreement (class)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087C5EF-0E16-A770-BACF-ABC512F0A2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5670196"/>
              </p:ext>
            </p:extLst>
          </p:nvPr>
        </p:nvGraphicFramePr>
        <p:xfrm>
          <a:off x="1377696" y="1971082"/>
          <a:ext cx="8778240" cy="4054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815329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Helvetica" pitchFamily="2" charset="0"/>
              </a:rPr>
              <a:t>Results: productive morphophonological features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46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8C6A8-AACA-8B66-34BC-AE08485AA729}"/>
              </a:ext>
            </a:extLst>
          </p:cNvPr>
          <p:cNvSpPr txBox="1"/>
          <p:nvPr/>
        </p:nvSpPr>
        <p:spPr>
          <a:xfrm>
            <a:off x="293914" y="1047784"/>
            <a:ext cx="4153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plural stimulus – plural agreement (class)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CA201F3-BE69-CBCB-431D-BD9CBB25A9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7178297"/>
              </p:ext>
            </p:extLst>
          </p:nvPr>
        </p:nvGraphicFramePr>
        <p:xfrm>
          <a:off x="937846" y="1652954"/>
          <a:ext cx="9988062" cy="4157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901795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Helvetica" pitchFamily="2" charset="0"/>
              </a:rPr>
              <a:t>Results: productive morphophonological features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47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8C6A8-AACA-8B66-34BC-AE08485AA729}"/>
              </a:ext>
            </a:extLst>
          </p:cNvPr>
          <p:cNvSpPr txBox="1"/>
          <p:nvPr/>
        </p:nvSpPr>
        <p:spPr>
          <a:xfrm>
            <a:off x="293914" y="1047784"/>
            <a:ext cx="4287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singular stimulus – plural agreement (class)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C1CCACF-38EA-1532-B34A-0B7BA2707C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0502627"/>
              </p:ext>
            </p:extLst>
          </p:nvPr>
        </p:nvGraphicFramePr>
        <p:xfrm>
          <a:off x="1230923" y="1641232"/>
          <a:ext cx="903849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795499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Helvetica" pitchFamily="2" charset="0"/>
              </a:rPr>
              <a:t>Results: productive morphophonological features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48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8C6A8-AACA-8B66-34BC-AE08485AA729}"/>
              </a:ext>
            </a:extLst>
          </p:cNvPr>
          <p:cNvSpPr txBox="1"/>
          <p:nvPr/>
        </p:nvSpPr>
        <p:spPr>
          <a:xfrm>
            <a:off x="293914" y="1047784"/>
            <a:ext cx="3124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singular stimulus – plural class 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B8BD2E0-174E-AA2B-048A-E459F8470A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8916605"/>
              </p:ext>
            </p:extLst>
          </p:nvPr>
        </p:nvGraphicFramePr>
        <p:xfrm>
          <a:off x="1651000" y="1650773"/>
          <a:ext cx="8688754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563003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Both semantics and formal features are necessary cues to class in Kîîtharaka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Class 1 &amp; 3 (need human – nonhuman distinction)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Evaluative semantic features highly productive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Formal features –needed in classifying non-evaluative non-human classes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Singular-plural class mapping somewhat regular in 1/3, 9 and 14 and less of it in other classes (level 3 exp. 2) – interesting?</a:t>
            </a:r>
          </a:p>
          <a:p>
            <a:pPr lvl="0">
              <a:lnSpc>
                <a:spcPct val="100000"/>
              </a:lnSpc>
              <a:spcAft>
                <a:spcPts val="1200"/>
              </a:spcAft>
            </a:pPr>
            <a:endParaRPr lang="en-GB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18070-21C2-0500-E88C-0F6BBDB9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49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54644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74D142-4E60-95BD-E624-D1E1C6B6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50</a:t>
            </a:fld>
            <a:endParaRPr lang="en-US" sz="28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4BF9CBC-D055-FFDE-3CC5-4FECCEE3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"/>
            <a:ext cx="12192000" cy="867017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Implications: a possible schema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8787EB4-C67B-A47B-3599-6062E6A62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532545"/>
              </p:ext>
            </p:extLst>
          </p:nvPr>
        </p:nvGraphicFramePr>
        <p:xfrm>
          <a:off x="167640" y="869950"/>
          <a:ext cx="120243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2749">
                  <a:extLst>
                    <a:ext uri="{9D8B030D-6E8A-4147-A177-3AD203B41FA5}">
                      <a16:colId xmlns:a16="http://schemas.microsoft.com/office/drawing/2014/main" val="4053188033"/>
                    </a:ext>
                  </a:extLst>
                </a:gridCol>
                <a:gridCol w="442178">
                  <a:extLst>
                    <a:ext uri="{9D8B030D-6E8A-4147-A177-3AD203B41FA5}">
                      <a16:colId xmlns:a16="http://schemas.microsoft.com/office/drawing/2014/main" val="1585029149"/>
                    </a:ext>
                  </a:extLst>
                </a:gridCol>
                <a:gridCol w="1719584">
                  <a:extLst>
                    <a:ext uri="{9D8B030D-6E8A-4147-A177-3AD203B41FA5}">
                      <a16:colId xmlns:a16="http://schemas.microsoft.com/office/drawing/2014/main" val="2256166331"/>
                    </a:ext>
                  </a:extLst>
                </a:gridCol>
                <a:gridCol w="1955413">
                  <a:extLst>
                    <a:ext uri="{9D8B030D-6E8A-4147-A177-3AD203B41FA5}">
                      <a16:colId xmlns:a16="http://schemas.microsoft.com/office/drawing/2014/main" val="764776912"/>
                    </a:ext>
                  </a:extLst>
                </a:gridCol>
                <a:gridCol w="2091751">
                  <a:extLst>
                    <a:ext uri="{9D8B030D-6E8A-4147-A177-3AD203B41FA5}">
                      <a16:colId xmlns:a16="http://schemas.microsoft.com/office/drawing/2014/main" val="2904648970"/>
                    </a:ext>
                  </a:extLst>
                </a:gridCol>
                <a:gridCol w="3002685">
                  <a:extLst>
                    <a:ext uri="{9D8B030D-6E8A-4147-A177-3AD203B41FA5}">
                      <a16:colId xmlns:a16="http://schemas.microsoft.com/office/drawing/2014/main" val="125124812"/>
                    </a:ext>
                  </a:extLst>
                </a:gridCol>
              </a:tblGrid>
              <a:tr h="834229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Helvetica" pitchFamily="2" charset="0"/>
                          <a:cs typeface="Times New Roman" panose="02020603050405020304" pitchFamily="18" charset="0"/>
                        </a:rPr>
                        <a:t>Thing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Helvetica" pitchFamily="2" charset="0"/>
                          <a:cs typeface="Times New Roman" panose="02020603050405020304" pitchFamily="18" charset="0"/>
                        </a:rPr>
                        <a:t>(most prototypical)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311396"/>
                  </a:ext>
                </a:extLst>
              </a:tr>
              <a:tr h="1775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Evaluative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Non-evaluative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158764"/>
                  </a:ext>
                </a:extLst>
              </a:tr>
              <a:tr h="325366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Augmentative (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ma)?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97846"/>
                  </a:ext>
                </a:extLst>
              </a:tr>
              <a:tr h="436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Pejorative (k(g)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bi)?</a:t>
                      </a:r>
                    </a:p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(Super)Human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Non-(super)human</a:t>
                      </a:r>
                    </a:p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Morphophonological rules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209217"/>
                  </a:ext>
                </a:extLst>
              </a:tr>
              <a:tr h="262488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Collective (* -ma)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(1/2)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(3/4)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445001"/>
                  </a:ext>
                </a:extLst>
              </a:tr>
              <a:tr h="276024"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ma (5/6)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62046"/>
                  </a:ext>
                </a:extLst>
              </a:tr>
              <a:tr h="199824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k(g)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î-bî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(7/8)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99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(9/10)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78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k(g)a - 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tû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(12/13)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710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bû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(14)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25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k(g)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– k(g)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(15)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4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a - g(k)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– (16,17)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592195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3D9B0AAC-4B64-5E1C-B9D5-97435F5402E8}"/>
              </a:ext>
            </a:extLst>
          </p:cNvPr>
          <p:cNvGrpSpPr/>
          <p:nvPr/>
        </p:nvGrpSpPr>
        <p:grpSpPr>
          <a:xfrm>
            <a:off x="655320" y="1511104"/>
            <a:ext cx="7131147" cy="1337113"/>
            <a:chOff x="655320" y="1511104"/>
            <a:chExt cx="7131147" cy="133711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1049630-1F5F-434E-E0DD-B3F6D9EE01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320" y="1511104"/>
              <a:ext cx="3519268" cy="5615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8B8E277-0E4B-624A-D782-DD3168F5225E}"/>
                </a:ext>
              </a:extLst>
            </p:cNvPr>
            <p:cNvCxnSpPr>
              <a:cxnSpLocks/>
            </p:cNvCxnSpPr>
            <p:nvPr/>
          </p:nvCxnSpPr>
          <p:spPr>
            <a:xfrm>
              <a:off x="4113628" y="1511105"/>
              <a:ext cx="3460652" cy="56153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1394D51-596F-7D73-DC4C-54FCCE0ECB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1892" y="2394711"/>
              <a:ext cx="2024575" cy="45350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0B2C51C-49BA-9DD4-81D3-2A93522EA910}"/>
              </a:ext>
            </a:extLst>
          </p:cNvPr>
          <p:cNvCxnSpPr>
            <a:cxnSpLocks/>
          </p:cNvCxnSpPr>
          <p:nvPr/>
        </p:nvCxnSpPr>
        <p:spPr>
          <a:xfrm>
            <a:off x="7786467" y="2394711"/>
            <a:ext cx="2378613" cy="4535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Left Brace 28">
            <a:extLst>
              <a:ext uri="{FF2B5EF4-FFF2-40B4-BE49-F238E27FC236}">
                <a16:creationId xmlns:a16="http://schemas.microsoft.com/office/drawing/2014/main" id="{27C0336F-C6C3-1440-E7CA-D9BC496A9260}"/>
              </a:ext>
            </a:extLst>
          </p:cNvPr>
          <p:cNvSpPr/>
          <p:nvPr/>
        </p:nvSpPr>
        <p:spPr>
          <a:xfrm>
            <a:off x="106680" y="2474837"/>
            <a:ext cx="213360" cy="59436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882323BC-21EF-5150-EA64-17C16E051A7E}"/>
              </a:ext>
            </a:extLst>
          </p:cNvPr>
          <p:cNvSpPr/>
          <p:nvPr/>
        </p:nvSpPr>
        <p:spPr>
          <a:xfrm>
            <a:off x="2590800" y="2477181"/>
            <a:ext cx="213360" cy="59436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139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GB" sz="2800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 A possible merger of</a:t>
            </a:r>
            <a:r>
              <a:rPr lang="en-US" dirty="0">
                <a:latin typeface="Helvetica" pitchFamily="2" charset="0"/>
              </a:rPr>
              <a:t>  </a:t>
            </a:r>
            <a:r>
              <a:rPr lang="en-US" i="1" dirty="0" err="1">
                <a:latin typeface="Helvetica" pitchFamily="2" charset="0"/>
              </a:rPr>
              <a:t>î</a:t>
            </a:r>
            <a:r>
              <a:rPr lang="en-US" i="1" dirty="0">
                <a:latin typeface="Helvetica" pitchFamily="2" charset="0"/>
              </a:rPr>
              <a:t>-</a:t>
            </a:r>
            <a:r>
              <a:rPr lang="en-US" dirty="0">
                <a:latin typeface="Helvetica" pitchFamily="2" charset="0"/>
              </a:rPr>
              <a:t> and </a:t>
            </a:r>
            <a:r>
              <a:rPr lang="en-US" i="1" dirty="0">
                <a:latin typeface="Helvetica" pitchFamily="2" charset="0"/>
              </a:rPr>
              <a:t>k(g)</a:t>
            </a:r>
            <a:r>
              <a:rPr lang="en-US" i="1" dirty="0" err="1">
                <a:latin typeface="Helvetica" pitchFamily="2" charset="0"/>
              </a:rPr>
              <a:t>î</a:t>
            </a:r>
            <a:r>
              <a:rPr lang="en-US" i="1" dirty="0">
                <a:latin typeface="Helvetica" pitchFamily="2" charset="0"/>
              </a:rPr>
              <a:t>- </a:t>
            </a:r>
            <a:r>
              <a:rPr lang="en-US" dirty="0">
                <a:latin typeface="Helvetica" pitchFamily="2" charset="0"/>
              </a:rPr>
              <a:t>in deriving augmentative and pejorative meaning?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18070-21C2-0500-E88C-0F6BBDB9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51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31299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GB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Implications:  a merger of  </a:t>
            </a:r>
            <a:r>
              <a:rPr lang="en-US" dirty="0" err="1">
                <a:latin typeface="Helvetica" pitchFamily="2" charset="0"/>
              </a:rPr>
              <a:t>î</a:t>
            </a:r>
            <a:r>
              <a:rPr lang="en-US" dirty="0">
                <a:latin typeface="Helvetica" pitchFamily="2" charset="0"/>
              </a:rPr>
              <a:t>- and k(g)</a:t>
            </a:r>
            <a:r>
              <a:rPr lang="en-US" dirty="0" err="1">
                <a:latin typeface="Helvetica" pitchFamily="2" charset="0"/>
              </a:rPr>
              <a:t>î</a:t>
            </a:r>
            <a:r>
              <a:rPr lang="en-US" dirty="0">
                <a:latin typeface="Helvetica" pitchFamily="2" charset="0"/>
              </a:rPr>
              <a:t> in meaning?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18070-21C2-0500-E88C-0F6BBDB9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52</a:t>
            </a:fld>
            <a:endParaRPr lang="en-US" sz="28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AE2533F-4A0D-47CA-2852-177646BF0677}"/>
              </a:ext>
            </a:extLst>
          </p:cNvPr>
          <p:cNvGraphicFramePr>
            <a:graphicFrameLocks/>
          </p:cNvGraphicFramePr>
          <p:nvPr/>
        </p:nvGraphicFramePr>
        <p:xfrm>
          <a:off x="1173480" y="1074512"/>
          <a:ext cx="10347960" cy="4708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54345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74D142-4E60-95BD-E624-D1E1C6B6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53</a:t>
            </a:fld>
            <a:endParaRPr lang="en-US" sz="28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4BF9CBC-D055-FFDE-3CC5-4FECCEE3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"/>
            <a:ext cx="12192000" cy="867017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Implications: a possible schema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47C943D7-F34D-84C2-05E7-EA3A4A107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75" y="1148503"/>
            <a:ext cx="10149915" cy="49263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A6514D-B578-6F02-E802-ED9386290F9E}"/>
              </a:ext>
            </a:extLst>
          </p:cNvPr>
          <p:cNvSpPr txBox="1"/>
          <p:nvPr/>
        </p:nvSpPr>
        <p:spPr>
          <a:xfrm>
            <a:off x="7261229" y="4314029"/>
            <a:ext cx="254538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n – n (9/10) </a:t>
            </a:r>
          </a:p>
        </p:txBody>
      </p:sp>
    </p:spTree>
    <p:extLst>
      <p:ext uri="{BB962C8B-B14F-4D97-AF65-F5344CB8AC3E}">
        <p14:creationId xmlns:p14="http://schemas.microsoft.com/office/powerpoint/2010/main" val="4991689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A5195-8DF0-D637-BE35-981CCE2CC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74510"/>
            <a:ext cx="11830851" cy="544731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400" dirty="0"/>
              <a:t>Establish relative importance of semantic &amp; morphophonology (experiment 3)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sz="2400" dirty="0"/>
              <a:t>Provide stimuli with conflicting semantic and </a:t>
            </a:r>
            <a:r>
              <a:rPr lang="en-US" sz="2400" dirty="0" err="1"/>
              <a:t>morphophological</a:t>
            </a:r>
            <a:r>
              <a:rPr lang="en-US" sz="2400" dirty="0"/>
              <a:t> cues</a:t>
            </a:r>
          </a:p>
          <a:p>
            <a:pPr marL="457200" lvl="1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dirty="0"/>
              <a:t>(following; </a:t>
            </a:r>
            <a:r>
              <a:rPr lang="en-GB" sz="2400" dirty="0">
                <a:solidFill>
                  <a:srgbClr val="000000"/>
                </a:solidFill>
              </a:rPr>
              <a:t>Karmiloff-Smith, 1981; Gagliardi &amp; </a:t>
            </a:r>
            <a:r>
              <a:rPr lang="en-GB" sz="2400" dirty="0" err="1">
                <a:solidFill>
                  <a:srgbClr val="000000"/>
                </a:solidFill>
              </a:rPr>
              <a:t>Lidz</a:t>
            </a:r>
            <a:r>
              <a:rPr lang="en-GB" sz="2400" dirty="0">
                <a:solidFill>
                  <a:srgbClr val="000000"/>
                </a:solidFill>
              </a:rPr>
              <a:t> 2014, and others).</a:t>
            </a:r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A90D9-1E8B-D94B-A81B-6736CCAF871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Next steps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75FA9B-923E-811E-E849-3923D80F4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106" y="6375086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54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47964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B1CC-22EB-4B19-9BB4-DF396C46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>
              <a:cs typeface="Calibri"/>
            </a:endParaRPr>
          </a:p>
          <a:p>
            <a:pPr marL="0" indent="0">
              <a:buNone/>
            </a:pPr>
            <a:endParaRPr lang="en-US" sz="2000" dirty="0">
              <a:cs typeface="Calibri"/>
            </a:endParaRPr>
          </a:p>
          <a:p>
            <a:pPr marL="0" indent="0" algn="ctr">
              <a:buNone/>
            </a:pPr>
            <a:r>
              <a:rPr lang="en-US" sz="5400" dirty="0">
                <a:cs typeface="Calibri"/>
              </a:rPr>
              <a:t>Thank you!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1B9A84-60F0-7D71-6343-A8A4D04C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4C62C-138C-3503-4343-9CE0302E4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55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117692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1B9A84-60F0-7D71-6343-A8A4D04CD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723578"/>
            <a:ext cx="3387106" cy="164550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400" b="1"/>
              <a:t>Sample stimuli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B1CC-22EB-4B19-9BB4-DF396C462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548467"/>
            <a:ext cx="3387105" cy="3628495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endParaRPr lang="en-US" sz="1800">
              <a:latin typeface="+mn-lt"/>
            </a:endParaRPr>
          </a:p>
          <a:p>
            <a:pPr marL="0"/>
            <a:endParaRPr lang="en-US" sz="1800">
              <a:latin typeface="+mn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B6D9F6-3E47-45AD-8461-718A3C87E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8409" y="0"/>
            <a:ext cx="7653591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16A00-A549-4B07-B8C2-4B3A966D9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0141" y="321732"/>
            <a:ext cx="4111054" cy="3674848"/>
          </a:xfrm>
          <a:prstGeom prst="rect">
            <a:avLst/>
          </a:prstGeom>
          <a:solidFill>
            <a:srgbClr val="FFFFFF"/>
          </a:solidFill>
          <a:ln w="158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 descr="A collage of a guinea pig&#10;&#10;Description automatically generated with medium confidence">
            <a:extLst>
              <a:ext uri="{FF2B5EF4-FFF2-40B4-BE49-F238E27FC236}">
                <a16:creationId xmlns:a16="http://schemas.microsoft.com/office/drawing/2014/main" id="{264302CE-A26C-01F0-DA1D-D13F44426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463" y="862791"/>
            <a:ext cx="3775899" cy="2584265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3B86BAE-87B4-4192-ABB2-627FFC965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8156" y="321732"/>
            <a:ext cx="2766017" cy="3026832"/>
          </a:xfrm>
          <a:prstGeom prst="rect">
            <a:avLst/>
          </a:prstGeom>
          <a:solidFill>
            <a:srgbClr val="FFFFFF"/>
          </a:solidFill>
          <a:ln w="158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Picture 17" descr="A person playing a musical instrument&#10;&#10;Description automatically generated with low confidence">
            <a:extLst>
              <a:ext uri="{FF2B5EF4-FFF2-40B4-BE49-F238E27FC236}">
                <a16:creationId xmlns:a16="http://schemas.microsoft.com/office/drawing/2014/main" id="{1453BD7D-154C-F7D7-4AD2-E9582A85E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099" y="474133"/>
            <a:ext cx="1997582" cy="27178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22BB4F03-4463-45CC-89A7-8E03412ED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0141" y="4155753"/>
            <a:ext cx="4111054" cy="2380509"/>
          </a:xfrm>
          <a:prstGeom prst="rect">
            <a:avLst/>
          </a:prstGeom>
          <a:solidFill>
            <a:srgbClr val="FFFFFF"/>
          </a:solidFill>
          <a:ln w="158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 descr="A green leaf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018FAB0A-3B48-288B-8783-2B13EEB30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463" y="4553955"/>
            <a:ext cx="3775899" cy="159426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80E1AEAE-1F52-4C29-925C-27738417E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8156" y="3509431"/>
            <a:ext cx="2766017" cy="3026832"/>
          </a:xfrm>
          <a:prstGeom prst="rect">
            <a:avLst/>
          </a:prstGeom>
          <a:solidFill>
            <a:srgbClr val="FFFFFF"/>
          </a:solidFill>
          <a:ln w="158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wooden sword with a black handle&#10;&#10;Description automatically generated with low confidence">
            <a:extLst>
              <a:ext uri="{FF2B5EF4-FFF2-40B4-BE49-F238E27FC236}">
                <a16:creationId xmlns:a16="http://schemas.microsoft.com/office/drawing/2014/main" id="{DCB05CB0-B03A-B63A-B360-14996F4057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639" y="3997395"/>
            <a:ext cx="2438503" cy="205937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4C62C-138C-3503-4343-9CE0302E4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750" y="6471181"/>
            <a:ext cx="130614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>
                <a:solidFill>
                  <a:prstClr val="black">
                    <a:alpha val="80000"/>
                  </a:prstClr>
                </a:solidFill>
              </a:rPr>
              <a:pPr>
                <a:spcAft>
                  <a:spcPts val="600"/>
                </a:spcAft>
              </a:pPr>
              <a:t>56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86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87958"/>
            <a:ext cx="11604171" cy="4977946"/>
          </a:xfr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Corpus analysed for rule productivity using Tolerance Principle (TP) (Yang, 2016)</a:t>
            </a:r>
          </a:p>
          <a:p>
            <a:pPr fontAlgn="base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Tolerance Principle demonstrates how to establish the productivity of rules with exceptions.</a:t>
            </a:r>
          </a:p>
          <a:p>
            <a:pPr lvl="1"/>
            <a:r>
              <a:rPr lang="en-US" sz="2800" dirty="0"/>
              <a:t>provides a threshold beyond which the exceptions should not exceed for the rule to be productive.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Let a rule be defined over a set of N items. </a:t>
            </a:r>
          </a:p>
          <a:p>
            <a:pPr lvl="1"/>
            <a:r>
              <a:rPr lang="en-US" sz="2800" dirty="0"/>
              <a:t>The rule is productive if the number of exceptions does not exceed a threshold, 𝛉</a:t>
            </a:r>
            <a:r>
              <a:rPr lang="en-US" sz="2800" baseline="-25000" dirty="0"/>
              <a:t>N.</a:t>
            </a:r>
          </a:p>
          <a:p>
            <a:pPr marL="457200" lvl="1" indent="0">
              <a:buNone/>
            </a:pPr>
            <a:r>
              <a:rPr lang="en-US" sz="2800" b="1" baseline="-25000" dirty="0"/>
              <a:t>               </a:t>
            </a:r>
            <a:r>
              <a:rPr lang="en-US" sz="2800" dirty="0"/>
              <a:t>exceptions ≤ 𝛉</a:t>
            </a:r>
            <a:r>
              <a:rPr lang="en-US" sz="2800" baseline="-25000" dirty="0"/>
              <a:t>N </a:t>
            </a:r>
            <a:r>
              <a:rPr lang="en-US" sz="2800" dirty="0"/>
              <a:t>= N/ln(N)                              (Yang, 2016)</a:t>
            </a:r>
          </a:p>
          <a:p>
            <a:pPr lvl="1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Corpus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57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909578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986243-9037-BC13-F23A-195B4100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58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3FDBD8-9EF0-A699-90B4-6EE61B4F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0B753D-C973-4917-0E97-052B280690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unproductive semantic features for class 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FB78FA-C26D-750C-032B-FA1371C36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864307"/>
              </p:ext>
            </p:extLst>
          </p:nvPr>
        </p:nvGraphicFramePr>
        <p:xfrm>
          <a:off x="374573" y="1343086"/>
          <a:ext cx="10774498" cy="4459187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Semantic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3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Animal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Protruding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Tree/plant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529663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Artefact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14525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Narrow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6883809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Derived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40773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Cohesive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823363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Dispersive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804353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Extended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0219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Spread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790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6074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56B483-6BDC-1F27-F856-0DABCD49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59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D3F004-F5F5-1704-0850-CF5DE762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CE78AE-41CC-0DDF-8119-AB802DF832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productive morpho-phon. feature for class 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F644FA-BF31-243E-ADB1-1A2FC89B4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240296"/>
              </p:ext>
            </p:extLst>
          </p:nvPr>
        </p:nvGraphicFramePr>
        <p:xfrm>
          <a:off x="374573" y="1343086"/>
          <a:ext cx="10774498" cy="4113296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Morpho-phonological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7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rû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2590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71848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84154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78296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113288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087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0740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A1D28-69C4-0365-25EA-277D300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60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072C-331C-3162-96BF-B3E8EC0E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ABE759-837B-92B2-5243-DF32BE7077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unproductive morpho-phon. feature for class 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FDE7A0-DCA2-FB91-6C52-A709CBF13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167551"/>
              </p:ext>
            </p:extLst>
          </p:nvPr>
        </p:nvGraphicFramePr>
        <p:xfrm>
          <a:off x="374573" y="1343086"/>
          <a:ext cx="10774498" cy="4113296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Morpho-phonological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1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mû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296363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2590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1848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84154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78296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113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3909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Results: unproductive semantic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61E77-6063-2B75-9FCA-22B3CC26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61</a:t>
            </a:fld>
            <a:endParaRPr lang="en-US" sz="28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C55CB89-0A5F-5C3E-B348-1F223C868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635227"/>
            <a:ext cx="11604171" cy="4977946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buNone/>
            </a:pPr>
            <a:endParaRPr lang="en-US" sz="1900" dirty="0"/>
          </a:p>
          <a:p>
            <a:pPr marL="514350" indent="-514350">
              <a:buAutoNum type="romanLcParenR"/>
            </a:pPr>
            <a:r>
              <a:rPr lang="en-US" sz="2800" dirty="0">
                <a:highlight>
                  <a:srgbClr val="FFFF00"/>
                </a:highlight>
              </a:rPr>
              <a:t>If [+(super)human         Class 1</a:t>
            </a:r>
          </a:p>
          <a:p>
            <a:pPr marL="514350" indent="-514350">
              <a:buAutoNum type="romanLcParenR"/>
            </a:pPr>
            <a:r>
              <a:rPr lang="en-US" sz="2800" dirty="0">
                <a:highlight>
                  <a:srgbClr val="FFFF00"/>
                </a:highlight>
              </a:rPr>
              <a:t>If [+animal]          class 3, 5, 7, 9, 11</a:t>
            </a:r>
          </a:p>
          <a:p>
            <a:pPr marL="514350" indent="-514350">
              <a:buAutoNum type="romanLcParenR"/>
            </a:pPr>
            <a:r>
              <a:rPr lang="en-US" sz="2800" dirty="0"/>
              <a:t> If [+plant part]         class 5, 11</a:t>
            </a:r>
          </a:p>
          <a:p>
            <a:pPr marL="514350" indent="-514350">
              <a:buAutoNum type="romanLcParenR"/>
            </a:pPr>
            <a:r>
              <a:rPr lang="en-US" sz="2800" dirty="0"/>
              <a:t>If [+wooden]           class 5</a:t>
            </a:r>
          </a:p>
          <a:p>
            <a:pPr marL="514350" indent="-514350">
              <a:buAutoNum type="romanLcParenR"/>
            </a:pPr>
            <a:r>
              <a:rPr lang="en-US" sz="2800" dirty="0"/>
              <a:t>If [+narrow]            class 11</a:t>
            </a:r>
          </a:p>
          <a:p>
            <a:pPr marL="514350" indent="-514350">
              <a:buAutoNum type="romanLcParenR"/>
            </a:pPr>
            <a:r>
              <a:rPr lang="en-US" sz="2800" dirty="0"/>
              <a:t>If [+wavy]             class 11</a:t>
            </a:r>
          </a:p>
          <a:p>
            <a:pPr marL="514350" indent="-514350">
              <a:buAutoNum type="romanLcParenR"/>
            </a:pPr>
            <a:r>
              <a:rPr lang="en-US" sz="2800" dirty="0">
                <a:highlight>
                  <a:srgbClr val="FFFF00"/>
                </a:highlight>
              </a:rPr>
              <a:t>If [+ artefacts]               class 7</a:t>
            </a:r>
          </a:p>
          <a:p>
            <a:pPr marL="514350" indent="-514350">
              <a:buAutoNum type="romanLcParenR"/>
            </a:pPr>
            <a:r>
              <a:rPr lang="en-US" sz="2800" dirty="0"/>
              <a:t>If [+protruding]         class 3</a:t>
            </a:r>
          </a:p>
          <a:p>
            <a:pPr marL="514350" indent="-514350">
              <a:buAutoNum type="romanLcParenR"/>
            </a:pPr>
            <a:r>
              <a:rPr lang="en-US" sz="2800" dirty="0"/>
              <a:t>If [+dispersive mass]         class 3</a:t>
            </a:r>
          </a:p>
          <a:p>
            <a:pPr marL="514350" indent="-514350">
              <a:buAutoNum type="romanLcParenR"/>
            </a:pPr>
            <a:r>
              <a:rPr lang="en-US" sz="2800" dirty="0"/>
              <a:t>If [+cohesive mass]          class  5       </a:t>
            </a:r>
          </a:p>
          <a:p>
            <a:pPr marL="0" indent="0">
              <a:buNone/>
            </a:pPr>
            <a:endParaRPr lang="en-US" sz="1800" dirty="0"/>
          </a:p>
          <a:p>
            <a:pPr marL="514350" indent="-514350">
              <a:buAutoNum type="romanLcParenR"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900" dirty="0"/>
          </a:p>
          <a:p>
            <a:pPr marL="514350" indent="-514350">
              <a:buAutoNum type="romanLcParenR"/>
            </a:pPr>
            <a:endParaRPr lang="en-US" sz="900" dirty="0"/>
          </a:p>
          <a:p>
            <a:pPr marL="514350" indent="-514350">
              <a:buAutoNum type="romanLcParenR"/>
            </a:pPr>
            <a:endParaRPr lang="en-US" sz="900" dirty="0"/>
          </a:p>
          <a:p>
            <a:pPr marL="514350" indent="-514350">
              <a:buAutoNum type="romanLcParenR"/>
            </a:pPr>
            <a:endParaRPr lang="en-US" sz="900" dirty="0"/>
          </a:p>
          <a:p>
            <a:pPr marL="514350" indent="-514350">
              <a:buAutoNum type="romanLcParenR"/>
            </a:pPr>
            <a:endParaRPr lang="en-US" sz="9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DEFD5B-CCD9-D854-BBA0-FFFEA68C5A43}"/>
              </a:ext>
            </a:extLst>
          </p:cNvPr>
          <p:cNvCxnSpPr/>
          <p:nvPr/>
        </p:nvCxnSpPr>
        <p:spPr>
          <a:xfrm>
            <a:off x="3664763" y="1189701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67CCB7-E182-E826-50BC-65720D4555AE}"/>
              </a:ext>
            </a:extLst>
          </p:cNvPr>
          <p:cNvCxnSpPr/>
          <p:nvPr/>
        </p:nvCxnSpPr>
        <p:spPr>
          <a:xfrm>
            <a:off x="2726921" y="1660714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2DDCCD-F51B-6561-4220-8B539678F615}"/>
              </a:ext>
            </a:extLst>
          </p:cNvPr>
          <p:cNvCxnSpPr/>
          <p:nvPr/>
        </p:nvCxnSpPr>
        <p:spPr>
          <a:xfrm>
            <a:off x="2879321" y="2535809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334A6F-B34E-4CB2-7F91-B133EB6C5794}"/>
              </a:ext>
            </a:extLst>
          </p:cNvPr>
          <p:cNvCxnSpPr/>
          <p:nvPr/>
        </p:nvCxnSpPr>
        <p:spPr>
          <a:xfrm>
            <a:off x="3999311" y="4736994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A7E5D3B-B569-11D7-F72C-B582821708E2}"/>
              </a:ext>
            </a:extLst>
          </p:cNvPr>
          <p:cNvCxnSpPr/>
          <p:nvPr/>
        </p:nvCxnSpPr>
        <p:spPr>
          <a:xfrm>
            <a:off x="2904069" y="2838174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BDC98D-6DC7-83BF-26E8-6F6C37F46BC8}"/>
              </a:ext>
            </a:extLst>
          </p:cNvPr>
          <p:cNvCxnSpPr/>
          <p:nvPr/>
        </p:nvCxnSpPr>
        <p:spPr>
          <a:xfrm>
            <a:off x="2728847" y="3286539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C798F89-ED67-B0FF-3CC7-F6C784940D6A}"/>
              </a:ext>
            </a:extLst>
          </p:cNvPr>
          <p:cNvCxnSpPr/>
          <p:nvPr/>
        </p:nvCxnSpPr>
        <p:spPr>
          <a:xfrm>
            <a:off x="3860799" y="5211189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098ADF-78F3-BFE5-76F3-906E760352DE}"/>
              </a:ext>
            </a:extLst>
          </p:cNvPr>
          <p:cNvCxnSpPr/>
          <p:nvPr/>
        </p:nvCxnSpPr>
        <p:spPr>
          <a:xfrm>
            <a:off x="3234267" y="3851681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F6BC4E-F0BE-C505-76FB-47A647DC4642}"/>
              </a:ext>
            </a:extLst>
          </p:cNvPr>
          <p:cNvCxnSpPr/>
          <p:nvPr/>
        </p:nvCxnSpPr>
        <p:spPr>
          <a:xfrm>
            <a:off x="3066636" y="4287205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BF04B9-2333-9D1C-44D7-D9F70BB7DC58}"/>
              </a:ext>
            </a:extLst>
          </p:cNvPr>
          <p:cNvCxnSpPr/>
          <p:nvPr/>
        </p:nvCxnSpPr>
        <p:spPr>
          <a:xfrm>
            <a:off x="3149605" y="2071022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8060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Two super-agreement noun classes (</a:t>
            </a:r>
            <a:r>
              <a:rPr lang="en-US" sz="2800" dirty="0" err="1"/>
              <a:t>Msaka</a:t>
            </a:r>
            <a:r>
              <a:rPr lang="en-US" sz="2800" dirty="0"/>
              <a:t>, 2019)</a:t>
            </a:r>
          </a:p>
          <a:p>
            <a:pPr marL="0" indent="0">
              <a:buNone/>
            </a:pPr>
            <a:r>
              <a:rPr lang="en-US" sz="2800" dirty="0"/>
              <a:t>              a) human/animate/agentive ~ animate </a:t>
            </a:r>
          </a:p>
          <a:p>
            <a:pPr marL="0" indent="0">
              <a:buNone/>
            </a:pPr>
            <a:r>
              <a:rPr lang="en-US" sz="2800" dirty="0"/>
              <a:t>               b) non-human/inanimate/non-agentive ~ inanimate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Diagram, table&#10;&#10;Description automatically generated with medium confidence">
            <a:extLst>
              <a:ext uri="{FF2B5EF4-FFF2-40B4-BE49-F238E27FC236}">
                <a16:creationId xmlns:a16="http://schemas.microsoft.com/office/drawing/2014/main" id="{AF220D5F-88E3-E24A-B5BA-108C44E7A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14" y="2681394"/>
            <a:ext cx="9436100" cy="345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F45B3-057B-9C69-6607-E83C73F8E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62</a:t>
            </a:fld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5B3E2E-FFE2-A6CB-B064-D0DD219D173A}"/>
              </a:ext>
            </a:extLst>
          </p:cNvPr>
          <p:cNvSpPr txBox="1"/>
          <p:nvPr/>
        </p:nvSpPr>
        <p:spPr>
          <a:xfrm>
            <a:off x="671514" y="2681394"/>
            <a:ext cx="741944" cy="5423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0C62E5C-D336-1058-AFDF-468AB66B7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"/>
            <a:ext cx="12192000" cy="867017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Implications: comparison with Chichewa</a:t>
            </a:r>
          </a:p>
        </p:txBody>
      </p:sp>
    </p:spTree>
    <p:extLst>
      <p:ext uri="{BB962C8B-B14F-4D97-AF65-F5344CB8AC3E}">
        <p14:creationId xmlns:p14="http://schemas.microsoft.com/office/powerpoint/2010/main" val="39738733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800" dirty="0"/>
              <a:t>Limited variety of written Kîîtharaka text- relied on Kîîtharaka bible (BTL, 2019)</a:t>
            </a:r>
          </a:p>
          <a:p>
            <a:pPr lvl="1">
              <a:spcAft>
                <a:spcPts val="600"/>
              </a:spcAft>
            </a:pPr>
            <a:r>
              <a:rPr lang="en-US" sz="2800" dirty="0"/>
              <a:t>Bible lacks diversity on some semantic domains (e.g., names of local trees, local animals, body parts </a:t>
            </a:r>
            <a:r>
              <a:rPr lang="en-US" sz="2800" dirty="0" err="1"/>
              <a:t>etc</a:t>
            </a:r>
            <a:r>
              <a:rPr lang="en-US" sz="2800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sz="2800" dirty="0"/>
              <a:t>Translated SIL comparative African word list (Snider &amp; Roberts, 2006)</a:t>
            </a:r>
          </a:p>
          <a:p>
            <a:pPr>
              <a:spcAft>
                <a:spcPts val="600"/>
              </a:spcAft>
            </a:pPr>
            <a:r>
              <a:rPr lang="en-US" sz="2800" dirty="0"/>
              <a:t>Tolerance Principle give us </a:t>
            </a:r>
            <a:r>
              <a:rPr lang="en-US" sz="2800" i="1" dirty="0"/>
              <a:t>predictions</a:t>
            </a:r>
            <a:r>
              <a:rPr lang="en-US" sz="2800" dirty="0"/>
              <a:t> of human </a:t>
            </a:r>
            <a:r>
              <a:rPr lang="en-US" sz="2800" dirty="0" err="1"/>
              <a:t>behaviour</a:t>
            </a:r>
            <a:endParaRPr lang="en-US" sz="2800" dirty="0"/>
          </a:p>
          <a:p>
            <a:pPr lvl="1">
              <a:spcAft>
                <a:spcPts val="600"/>
              </a:spcAft>
            </a:pPr>
            <a:r>
              <a:rPr lang="en-US" sz="2800" dirty="0"/>
              <a:t>Need for confirmation through experimenting with </a:t>
            </a:r>
            <a:r>
              <a:rPr lang="en-US" sz="2800" dirty="0" err="1"/>
              <a:t>Kîîtharaka</a:t>
            </a:r>
            <a:r>
              <a:rPr lang="en-US" sz="2800" dirty="0"/>
              <a:t> speakers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Corpus 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23EAF-1C6A-EB5D-9778-6CC876F5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63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741272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A5195-8DF0-D637-BE35-981CCE2CC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74510"/>
            <a:ext cx="11830851" cy="5447313"/>
          </a:xfrm>
        </p:spPr>
        <p:txBody>
          <a:bodyPr>
            <a:noAutofit/>
          </a:bodyPr>
          <a:lstStyle/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sz="2800" b="1" dirty="0">
                <a:latin typeface="Helvetica" pitchFamily="2" charset="0"/>
              </a:rPr>
              <a:t>Goals: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sz="2800" dirty="0">
                <a:latin typeface="Helvetica" pitchFamily="2" charset="0"/>
              </a:rPr>
              <a:t>Test TP predictions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sz="2800" dirty="0">
                <a:latin typeface="Helvetica" pitchFamily="2" charset="0"/>
              </a:rPr>
              <a:t>What semantic and morpho-phonological rules are speakers sensitive to when classifying novel nouns?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sz="2800" dirty="0">
                <a:latin typeface="Helvetica" pitchFamily="2" charset="0"/>
              </a:rPr>
              <a:t>What is the relative importance of semantic and morpho-phonological cues?</a:t>
            </a:r>
          </a:p>
          <a:p>
            <a:pPr lvl="2">
              <a:spcAft>
                <a:spcPts val="600"/>
              </a:spcAft>
            </a:pPr>
            <a:r>
              <a:rPr lang="en-US" sz="2800" dirty="0"/>
              <a:t>Results of similar experiments outside Bantu: children learning noun classes prefer phonology cues even when statistically less reliable than semantic cues </a:t>
            </a:r>
            <a:r>
              <a:rPr lang="en-US" sz="2400" dirty="0"/>
              <a:t>(as in Karmiloff-Smith, 1981; Gagliardi &amp; </a:t>
            </a:r>
            <a:r>
              <a:rPr lang="en-US" sz="2400" dirty="0" err="1"/>
              <a:t>Lidz</a:t>
            </a:r>
            <a:r>
              <a:rPr lang="en-US" sz="2400" dirty="0"/>
              <a:t>, 2014 </a:t>
            </a:r>
            <a:r>
              <a:rPr lang="en-US" sz="2400" dirty="0" err="1"/>
              <a:t>a.o.</a:t>
            </a:r>
            <a:r>
              <a:rPr lang="en-US" sz="2400" dirty="0"/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A90D9-1E8B-D94B-A81B-6736CCAF871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Next steps: psycholinguistic experiments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75FA9B-923E-811E-E849-3923D80F4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106" y="6375086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64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974815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Noun classes are hard to understand…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If approached from a diachronically centric point of view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Without a theory of productivity, and without empirical evidence from speakers</a:t>
            </a:r>
          </a:p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A new approach that makes use of data from synchronic corpus and observation of human behaviour can help us better understand Kîîtharaka (Bantu) noun classes</a:t>
            </a:r>
            <a:endParaRPr lang="en-GB" sz="24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D2A8D-7E5E-B3ED-214A-C9E9CA76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65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818610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B1CC-22EB-4B19-9BB4-DF396C46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n-GB" dirty="0" err="1"/>
              <a:t>Aikhenvald</a:t>
            </a:r>
            <a:r>
              <a:rPr lang="en-GB" dirty="0"/>
              <a:t>, A. (2003). </a:t>
            </a:r>
            <a:r>
              <a:rPr lang="en-GB" i="1" dirty="0"/>
              <a:t>Classifiers: A typology of noun categorization devices.</a:t>
            </a:r>
            <a:r>
              <a:rPr lang="en-GB" dirty="0"/>
              <a:t> Oxford: Oxford University Press.</a:t>
            </a:r>
          </a:p>
          <a:p>
            <a:r>
              <a:rPr lang="en-GB" dirty="0" err="1"/>
              <a:t>Amidu</a:t>
            </a:r>
            <a:r>
              <a:rPr lang="en-GB" dirty="0"/>
              <a:t>, A.A. 1997. </a:t>
            </a:r>
            <a:r>
              <a:rPr lang="en-GB" i="1" dirty="0"/>
              <a:t>Classes in Kiswahili</a:t>
            </a:r>
            <a:r>
              <a:rPr lang="en-GB" dirty="0"/>
              <a:t>. Köln: </a:t>
            </a:r>
            <a:r>
              <a:rPr lang="en-GB" dirty="0" err="1"/>
              <a:t>Rüdiger</a:t>
            </a:r>
            <a:r>
              <a:rPr lang="en-GB" dirty="0"/>
              <a:t> </a:t>
            </a:r>
            <a:r>
              <a:rPr lang="en-GB" dirty="0" err="1"/>
              <a:t>Köppe</a:t>
            </a:r>
            <a:r>
              <a:rPr lang="en-GB" dirty="0"/>
              <a:t> Verlag.</a:t>
            </a:r>
          </a:p>
          <a:p>
            <a:r>
              <a:rPr lang="en-GB" dirty="0"/>
              <a:t>Bible Translation &amp; Literacy (EA). (2019). </a:t>
            </a:r>
            <a:r>
              <a:rPr lang="en-GB" i="1" dirty="0" err="1"/>
              <a:t>Bibiria</a:t>
            </a:r>
            <a:r>
              <a:rPr lang="en-GB" i="1" dirty="0"/>
              <a:t>: </a:t>
            </a:r>
            <a:r>
              <a:rPr lang="en-GB" i="1" dirty="0" err="1"/>
              <a:t>Kîrîîkanîro</a:t>
            </a:r>
            <a:r>
              <a:rPr lang="en-GB" i="1" dirty="0"/>
              <a:t> </a:t>
            </a:r>
            <a:r>
              <a:rPr lang="en-GB" i="1" dirty="0" err="1"/>
              <a:t>kîra</a:t>
            </a:r>
            <a:r>
              <a:rPr lang="en-GB" i="1" dirty="0"/>
              <a:t> </a:t>
            </a:r>
            <a:r>
              <a:rPr lang="en-GB" i="1" dirty="0" err="1"/>
              <a:t>gîkûrû</a:t>
            </a:r>
            <a:r>
              <a:rPr lang="en-GB" i="1" dirty="0"/>
              <a:t> </a:t>
            </a:r>
            <a:r>
              <a:rPr lang="en-GB" i="1" dirty="0" err="1"/>
              <a:t>na</a:t>
            </a:r>
            <a:r>
              <a:rPr lang="en-GB" i="1" dirty="0"/>
              <a:t> </a:t>
            </a:r>
            <a:r>
              <a:rPr lang="en-GB" i="1" dirty="0" err="1"/>
              <a:t>kîrîîkanîro</a:t>
            </a:r>
            <a:r>
              <a:rPr lang="en-GB" i="1" dirty="0"/>
              <a:t> </a:t>
            </a:r>
            <a:r>
              <a:rPr lang="en-GB" i="1" dirty="0" err="1"/>
              <a:t>kîra</a:t>
            </a:r>
            <a:r>
              <a:rPr lang="en-GB" i="1" dirty="0"/>
              <a:t> </a:t>
            </a:r>
            <a:r>
              <a:rPr lang="en-GB" i="1" dirty="0" err="1"/>
              <a:t>kîyerû</a:t>
            </a:r>
            <a:r>
              <a:rPr lang="en-GB" i="1" dirty="0"/>
              <a:t>.</a:t>
            </a:r>
            <a:r>
              <a:rPr lang="en-GB" dirty="0"/>
              <a:t> Nairobi: Bible Translation &amp; Literacy (EA).</a:t>
            </a:r>
          </a:p>
          <a:p>
            <a:r>
              <a:rPr lang="en-GB" dirty="0" err="1"/>
              <a:t>Bleek</a:t>
            </a:r>
            <a:r>
              <a:rPr lang="en-GB" dirty="0"/>
              <a:t>, W.H.I. (1862-1969). A Comparative Grammar of South African Languages, I: Phonology (1862), II: The Concord, section I: The Noun (1869). London: </a:t>
            </a:r>
            <a:r>
              <a:rPr lang="en-GB" dirty="0" err="1"/>
              <a:t>Trubner</a:t>
            </a:r>
            <a:r>
              <a:rPr lang="en-GB" dirty="0"/>
              <a:t>. (Republished 1971 in one volume, Farnborough: Gregg.)</a:t>
            </a:r>
          </a:p>
          <a:p>
            <a:r>
              <a:rPr lang="en-GB" dirty="0"/>
              <a:t>Brooks, P. J., Braine, M. D., Catalano, L., Brody, R. E., &amp; Sudhalter, V. (1993). Acquisition of gender-like noun subclasses in an artificial language: The contribution of phonological markers to learning. Journal of Memory and Language, 32, 76–95.</a:t>
            </a:r>
          </a:p>
          <a:p>
            <a:r>
              <a:rPr lang="en-GB" dirty="0"/>
              <a:t>Carstens, V., (1991). The morphology and syntax of determiner phrases in Kiswahili. UCLA PhD thesis.</a:t>
            </a:r>
          </a:p>
          <a:p>
            <a:r>
              <a:rPr lang="en-GB" dirty="0"/>
              <a:t> Corbett, G.G. 1991. </a:t>
            </a:r>
            <a:r>
              <a:rPr lang="en-GB" i="1" dirty="0"/>
              <a:t>Gender</a:t>
            </a:r>
            <a:r>
              <a:rPr lang="en-GB" dirty="0"/>
              <a:t>. Cambridge Mass.: Cambridge University Press.</a:t>
            </a:r>
          </a:p>
          <a:p>
            <a:r>
              <a:rPr lang="en-GB" dirty="0"/>
              <a:t>Demuth, K. (1992). Acquisition of Sesotho. In </a:t>
            </a:r>
            <a:r>
              <a:rPr lang="en-GB" dirty="0" err="1"/>
              <a:t>Slobin</a:t>
            </a:r>
            <a:r>
              <a:rPr lang="en-GB" dirty="0"/>
              <a:t>, D. (Ed.), The cross-linguistic study of language acquisition (Vol. 3, pp. 557–638). Hillsdale, NJ: Lawrence Erlbaum.</a:t>
            </a:r>
          </a:p>
          <a:p>
            <a:r>
              <a:rPr lang="en-GB" dirty="0"/>
              <a:t>Demuth, K. (1994). On the ‘</a:t>
            </a:r>
            <a:r>
              <a:rPr lang="en-GB" dirty="0" err="1"/>
              <a:t>underspecification</a:t>
            </a:r>
            <a:r>
              <a:rPr lang="en-GB" dirty="0"/>
              <a:t>’ of functional categories in early grammars. In Lust, B., </a:t>
            </a:r>
            <a:r>
              <a:rPr lang="en-GB" dirty="0" err="1"/>
              <a:t>Suñer</a:t>
            </a:r>
            <a:r>
              <a:rPr lang="en-GB" dirty="0"/>
              <a:t>, M., Whitman, J. (Eds.), Syntactic theory and first language acquisition: Cross-linguistic perspectives (pp. 119–134). Hillsdale, NJ: Lawrence Erlbaum.</a:t>
            </a:r>
          </a:p>
          <a:p>
            <a:r>
              <a:rPr lang="en-GB" dirty="0"/>
              <a:t>Demuth, K. (2000). Bantu noun class system: Loan words and acquisition. (G. </a:t>
            </a:r>
            <a:r>
              <a:rPr lang="en-GB" dirty="0" err="1"/>
              <a:t>Senft</a:t>
            </a:r>
            <a:r>
              <a:rPr lang="en-GB" dirty="0"/>
              <a:t>, Ed.) </a:t>
            </a:r>
            <a:r>
              <a:rPr lang="en-GB" i="1" dirty="0"/>
              <a:t>Classification Systems</a:t>
            </a:r>
            <a:r>
              <a:rPr lang="en-GB" dirty="0"/>
              <a:t>, 270-292.</a:t>
            </a:r>
          </a:p>
          <a:p>
            <a:r>
              <a:rPr lang="en-GB" dirty="0"/>
              <a:t>Demuth, K., &amp; Ellis, D. (2008). Revisiting the acquisition of Sesotho noun class prefixes. Mahwah, NJ: Lawrence Erlbaum.</a:t>
            </a:r>
          </a:p>
          <a:p>
            <a:r>
              <a:rPr lang="en-GB" dirty="0"/>
              <a:t>Denny, J.P. &amp; </a:t>
            </a:r>
            <a:r>
              <a:rPr lang="en-GB" dirty="0" err="1"/>
              <a:t>Creider</a:t>
            </a:r>
            <a:r>
              <a:rPr lang="en-GB" dirty="0"/>
              <a:t>, C.A. 1986. The semantics of noun classes in Proto-Bantu. In </a:t>
            </a:r>
            <a:r>
              <a:rPr lang="en-GB" i="1" dirty="0"/>
              <a:t>Noun classes and categorization</a:t>
            </a:r>
            <a:r>
              <a:rPr lang="en-GB" dirty="0"/>
              <a:t>. C. Craig, Ed. Amsterdam/ Philadelphia: John </a:t>
            </a:r>
            <a:r>
              <a:rPr lang="en-GB" dirty="0" err="1"/>
              <a:t>Benjamins</a:t>
            </a:r>
            <a:r>
              <a:rPr lang="en-GB" dirty="0"/>
              <a:t> Publishing Company.</a:t>
            </a:r>
          </a:p>
          <a:p>
            <a:r>
              <a:rPr lang="en-GB" dirty="0"/>
              <a:t>Desrochers, A., </a:t>
            </a:r>
            <a:r>
              <a:rPr lang="en-GB" dirty="0" err="1"/>
              <a:t>Paivio</a:t>
            </a:r>
            <a:r>
              <a:rPr lang="en-GB" dirty="0"/>
              <a:t>, A., &amp; Desrochers, S. (1989). </a:t>
            </a:r>
            <a:r>
              <a:rPr lang="en-GB" dirty="0" err="1"/>
              <a:t>L’effet</a:t>
            </a:r>
            <a:r>
              <a:rPr lang="en-GB" dirty="0"/>
              <a:t> de la </a:t>
            </a:r>
            <a:r>
              <a:rPr lang="en-GB" dirty="0" err="1"/>
              <a:t>fréquence</a:t>
            </a:r>
            <a:r>
              <a:rPr lang="en-GB" dirty="0"/>
              <a:t> </a:t>
            </a:r>
            <a:r>
              <a:rPr lang="en-GB" dirty="0" err="1"/>
              <a:t>d’usage</a:t>
            </a:r>
            <a:r>
              <a:rPr lang="en-GB" dirty="0"/>
              <a:t> des </a:t>
            </a:r>
            <a:r>
              <a:rPr lang="en-GB" dirty="0" err="1"/>
              <a:t>noms</a:t>
            </a:r>
            <a:r>
              <a:rPr lang="en-GB" dirty="0"/>
              <a:t> </a:t>
            </a:r>
            <a:r>
              <a:rPr lang="en-GB" dirty="0" err="1"/>
              <a:t>inanimés</a:t>
            </a:r>
            <a:r>
              <a:rPr lang="en-GB" dirty="0"/>
              <a:t> et de la </a:t>
            </a:r>
            <a:r>
              <a:rPr lang="en-GB" dirty="0" err="1"/>
              <a:t>valeur</a:t>
            </a:r>
            <a:r>
              <a:rPr lang="en-GB" dirty="0"/>
              <a:t> </a:t>
            </a:r>
            <a:r>
              <a:rPr lang="en-GB" dirty="0" err="1"/>
              <a:t>prédictive</a:t>
            </a:r>
            <a:r>
              <a:rPr lang="en-GB" dirty="0"/>
              <a:t> de </a:t>
            </a:r>
            <a:r>
              <a:rPr lang="en-GB" dirty="0" err="1"/>
              <a:t>leur</a:t>
            </a:r>
            <a:r>
              <a:rPr lang="en-GB" dirty="0"/>
              <a:t> </a:t>
            </a:r>
            <a:r>
              <a:rPr lang="en-GB" dirty="0" err="1"/>
              <a:t>terminaison</a:t>
            </a:r>
            <a:r>
              <a:rPr lang="en-GB" dirty="0"/>
              <a:t> sur </a:t>
            </a:r>
            <a:r>
              <a:rPr lang="en-GB" dirty="0" err="1"/>
              <a:t>l’identification</a:t>
            </a:r>
            <a:r>
              <a:rPr lang="en-GB" dirty="0"/>
              <a:t> du genre grammatical. </a:t>
            </a:r>
            <a:r>
              <a:rPr lang="en-GB" i="1" dirty="0"/>
              <a:t>Revue Canadienne de </a:t>
            </a:r>
            <a:r>
              <a:rPr lang="en-GB" i="1" dirty="0" err="1"/>
              <a:t>Psychologie</a:t>
            </a:r>
            <a:r>
              <a:rPr lang="en-GB" i="1" dirty="0"/>
              <a:t>, </a:t>
            </a:r>
            <a:r>
              <a:rPr lang="en-GB" b="1" dirty="0"/>
              <a:t>43, </a:t>
            </a:r>
            <a:r>
              <a:rPr lang="en-GB" dirty="0"/>
              <a:t>62–73.</a:t>
            </a:r>
          </a:p>
          <a:p>
            <a:r>
              <a:rPr lang="en-GB" dirty="0"/>
              <a:t>Dixon, R. (1986). Noun classes and noun classification in typological perspective. In C. G. Craig (Ed.), Noun classes and categorization (pp. 105–112). Philadelphia, PA: John </a:t>
            </a:r>
            <a:r>
              <a:rPr lang="en-GB" dirty="0" err="1"/>
              <a:t>Benjamins</a:t>
            </a:r>
            <a:r>
              <a:rPr lang="en-GB" dirty="0"/>
              <a:t>.</a:t>
            </a:r>
          </a:p>
          <a:p>
            <a:r>
              <a:rPr lang="en-GB" dirty="0"/>
              <a:t>Eberhard, David M, F. Simons and Charles, D. (2019). </a:t>
            </a:r>
            <a:r>
              <a:rPr lang="en-GB" i="1" dirty="0"/>
              <a:t>Kîîtharaka.</a:t>
            </a:r>
            <a:r>
              <a:rPr lang="en-GB" dirty="0"/>
              <a:t> (</a:t>
            </a:r>
            <a:r>
              <a:rPr lang="en-GB" dirty="0" err="1"/>
              <a:t>Fennigh</a:t>
            </a:r>
            <a:r>
              <a:rPr lang="en-GB" dirty="0"/>
              <a:t>, Ed.) Retrieved 09 28, 2019, from </a:t>
            </a:r>
            <a:r>
              <a:rPr lang="en-GB" dirty="0" err="1"/>
              <a:t>Ethnologue</a:t>
            </a:r>
            <a:r>
              <a:rPr lang="en-GB" dirty="0"/>
              <a:t>: Languages of the World: http://</a:t>
            </a:r>
            <a:r>
              <a:rPr lang="en-GB" dirty="0" err="1"/>
              <a:t>www.ethnologue.com</a:t>
            </a:r>
            <a:endParaRPr lang="en-GB" dirty="0"/>
          </a:p>
          <a:p>
            <a:r>
              <a:rPr lang="en-GB" dirty="0" err="1"/>
              <a:t>Frigo</a:t>
            </a:r>
            <a:r>
              <a:rPr lang="en-GB" dirty="0"/>
              <a:t>, L., &amp; McDonald, J. (1998). Properties of phonological markers that affect the acquisition of gender-like subclasses. Journal of Memory and Language, 39, 218–245.</a:t>
            </a:r>
          </a:p>
          <a:p>
            <a:r>
              <a:rPr lang="en-GB" dirty="0"/>
              <a:t>Gagliardi, A. and </a:t>
            </a:r>
            <a:r>
              <a:rPr lang="en-GB" dirty="0" err="1"/>
              <a:t>Lidz</a:t>
            </a:r>
            <a:r>
              <a:rPr lang="en-GB" dirty="0"/>
              <a:t>, J. (2014). Statistical insensitivity in the acquisition of </a:t>
            </a:r>
            <a:r>
              <a:rPr lang="en-GB" dirty="0" err="1"/>
              <a:t>Tsez</a:t>
            </a:r>
            <a:r>
              <a:rPr lang="en-GB" dirty="0"/>
              <a:t> noun classes. Language, 90(1):58–89..</a:t>
            </a:r>
          </a:p>
          <a:p>
            <a:r>
              <a:rPr lang="en-GB" dirty="0" err="1"/>
              <a:t>Givón</a:t>
            </a:r>
            <a:r>
              <a:rPr lang="en-GB" dirty="0"/>
              <a:t>, T. (1971b). Historical syntax and synchronic morphology: an archaeologist's field trip. </a:t>
            </a:r>
            <a:r>
              <a:rPr lang="en-GB" i="1" dirty="0"/>
              <a:t>CLS</a:t>
            </a:r>
            <a:r>
              <a:rPr lang="en-GB" dirty="0"/>
              <a:t>. 7:394–415.</a:t>
            </a:r>
          </a:p>
          <a:p>
            <a:r>
              <a:rPr lang="en-GB" dirty="0"/>
              <a:t>Guthrie, Malcolm (1967–71) </a:t>
            </a:r>
            <a:r>
              <a:rPr lang="en-GB" i="1" dirty="0"/>
              <a:t>Comparative Bantu: an introduction to the comparative linguistics and prehistory of the Bantu languages</a:t>
            </a:r>
            <a:r>
              <a:rPr lang="en-GB" dirty="0"/>
              <a:t>. 4 vols. Farnborough: Gregg Press.</a:t>
            </a:r>
          </a:p>
          <a:p>
            <a:r>
              <a:rPr lang="en-GB" dirty="0"/>
              <a:t>Hockett, C. F. (1958) A Course in Modern Linguistics. New York: Macmillan. 1966. What Algonquian is really like. </a:t>
            </a:r>
            <a:r>
              <a:rPr lang="en-GB" i="1" dirty="0"/>
              <a:t>International Journal of American Linguistics </a:t>
            </a:r>
            <a:r>
              <a:rPr lang="en-GB" dirty="0"/>
              <a:t>32:59-73</a:t>
            </a:r>
          </a:p>
          <a:p>
            <a:r>
              <a:rPr lang="en-GB" dirty="0" err="1"/>
              <a:t>Msaka</a:t>
            </a:r>
            <a:r>
              <a:rPr lang="en-GB" dirty="0"/>
              <a:t>, P.(2019) Nominal classification in </a:t>
            </a:r>
            <a:r>
              <a:rPr lang="en-GB" dirty="0" err="1"/>
              <a:t>bantu</a:t>
            </a:r>
            <a:r>
              <a:rPr lang="en-GB" dirty="0"/>
              <a:t> revisited: The perspective from Chichewa. PhD dissertation: </a:t>
            </a:r>
            <a:r>
              <a:rPr lang="en-GB" i="1" dirty="0"/>
              <a:t>Stellenbosch University. Available at:</a:t>
            </a:r>
            <a:r>
              <a:rPr lang="en-GB" dirty="0">
                <a:hlinkClick r:id="rId2"/>
              </a:rPr>
              <a:t> </a:t>
            </a:r>
            <a:r>
              <a:rPr lang="en-GB" i="1" dirty="0">
                <a:hlinkClick r:id="rId2"/>
              </a:rPr>
              <a:t>http://hdl.handle.net/10019.1/107220</a:t>
            </a:r>
            <a:endParaRPr lang="en-GB" dirty="0"/>
          </a:p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1B9A84-60F0-7D71-6343-A8A4D04C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AF6EDD-9CA0-0BEF-6AE8-8D5D0D39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798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8C19-F470-1C47-853B-56C80283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r>
              <a:rPr lang="en-US" sz="1400" dirty="0"/>
              <a:t>TP offers a mechanism of establishing the productivity of linguistic rules in a set of items with exceptions by providing a threshold beyond which the exceptions should not exceed for the rule to be productive.</a:t>
            </a:r>
          </a:p>
          <a:p>
            <a:pPr lvl="1"/>
            <a:r>
              <a:rPr lang="en-US" sz="1400" b="1" dirty="0"/>
              <a:t>Let rule R be defined over a set of N items. R is productive if and only if e the number of exceptions does not exceed 𝛉</a:t>
            </a:r>
            <a:r>
              <a:rPr lang="en-US" sz="1400" b="1" baseline="-25000" dirty="0"/>
              <a:t>N.</a:t>
            </a:r>
          </a:p>
          <a:p>
            <a:pPr marL="457200" lvl="1" indent="0">
              <a:buNone/>
            </a:pPr>
            <a:r>
              <a:rPr lang="en-US" sz="1400" b="1" baseline="-25000" dirty="0"/>
              <a:t>               </a:t>
            </a:r>
            <a:r>
              <a:rPr lang="en-US" sz="1400" b="1" dirty="0"/>
              <a:t>(</a:t>
            </a:r>
            <a:r>
              <a:rPr lang="en-US" sz="1400" dirty="0"/>
              <a:t>e ≤ 𝛉</a:t>
            </a:r>
            <a:r>
              <a:rPr lang="en-US" sz="1400" baseline="-25000" dirty="0"/>
              <a:t>N </a:t>
            </a:r>
            <a:r>
              <a:rPr lang="en-US" sz="1400" dirty="0"/>
              <a:t>= N/ln(N)                              (Yang, 2016)</a:t>
            </a:r>
          </a:p>
          <a:p>
            <a:r>
              <a:rPr lang="en-US" sz="1400" dirty="0"/>
              <a:t>The threshold (</a:t>
            </a:r>
            <a:r>
              <a:rPr lang="en-US" sz="1400" dirty="0" err="1"/>
              <a:t>Theta_N</a:t>
            </a:r>
            <a:r>
              <a:rPr lang="en-US" sz="1400" dirty="0"/>
              <a:t>) is an expression of the time complexity involved in processing all the items in a non-productive rule. </a:t>
            </a:r>
            <a:r>
              <a:rPr lang="en-US" sz="1400" dirty="0" err="1"/>
              <a:t>e.g</a:t>
            </a:r>
            <a:r>
              <a:rPr lang="en-US" sz="1400" dirty="0"/>
              <a:t>, in a list of 100 items with 10 exceptions, the time taken is expressed as:</a:t>
            </a:r>
          </a:p>
          <a:p>
            <a:pPr marL="0" indent="0">
              <a:buNone/>
            </a:pPr>
            <a:r>
              <a:rPr lang="en-US" sz="1400" dirty="0"/>
              <a:t>                Productive rule = T (N, e) = T(100, 10)</a:t>
            </a:r>
          </a:p>
          <a:p>
            <a:pPr marL="0" indent="0">
              <a:buNone/>
            </a:pPr>
            <a:r>
              <a:rPr lang="en-US" sz="1400" dirty="0"/>
              <a:t>               Unproductive rule= T(N,N) = T(100, 100) (takes more time- each item is accessed and listed)</a:t>
            </a:r>
          </a:p>
          <a:p>
            <a:pPr marL="0" indent="0">
              <a:buNone/>
            </a:pPr>
            <a:r>
              <a:rPr lang="en-US" sz="1400" dirty="0"/>
              <a:t>TP borrows substantially from two previous theories:</a:t>
            </a:r>
          </a:p>
          <a:p>
            <a:pPr marL="342900" indent="-342900">
              <a:buAutoNum type="arabicParenR"/>
            </a:pPr>
            <a:r>
              <a:rPr lang="en-US" sz="1400" dirty="0"/>
              <a:t>The Elsewhere Condition (Anderson, 1969; </a:t>
            </a:r>
            <a:r>
              <a:rPr lang="en-US" sz="1400" dirty="0" err="1"/>
              <a:t>Aronoff</a:t>
            </a:r>
            <a:r>
              <a:rPr lang="en-US" sz="1400" dirty="0"/>
              <a:t>, 1976)</a:t>
            </a:r>
          </a:p>
          <a:p>
            <a:pPr lvl="1"/>
            <a:r>
              <a:rPr lang="en-US" sz="1400" dirty="0"/>
              <a:t>Exceptions are processed earlier than regulars</a:t>
            </a:r>
          </a:p>
          <a:p>
            <a:pPr lvl="1"/>
            <a:r>
              <a:rPr lang="en-US" sz="1400" dirty="0"/>
              <a:t>Serial search- frequency sensitive (</a:t>
            </a:r>
            <a:r>
              <a:rPr lang="en-US" sz="1400" dirty="0" err="1"/>
              <a:t>Stermberg</a:t>
            </a:r>
            <a:r>
              <a:rPr lang="en-US" sz="1400" dirty="0"/>
              <a:t>, 1969; Forster, 1976)</a:t>
            </a:r>
          </a:p>
          <a:p>
            <a:pPr lvl="1"/>
            <a:endParaRPr lang="en-US" sz="1400" dirty="0"/>
          </a:p>
          <a:p>
            <a:pPr>
              <a:buFont typeface="+mj-lt"/>
              <a:buAutoNum type="arabicParenR"/>
            </a:pPr>
            <a:r>
              <a:rPr lang="en-US" sz="1400" dirty="0" err="1"/>
              <a:t>Zipf’s</a:t>
            </a:r>
            <a:r>
              <a:rPr lang="en-US" sz="1400" dirty="0"/>
              <a:t> Law (</a:t>
            </a:r>
            <a:r>
              <a:rPr lang="en-US" sz="1400" dirty="0" err="1"/>
              <a:t>Zipf</a:t>
            </a:r>
            <a:r>
              <a:rPr lang="en-US" sz="1400" dirty="0"/>
              <a:t>, 1949)</a:t>
            </a:r>
          </a:p>
          <a:p>
            <a:pPr lvl="1"/>
            <a:r>
              <a:rPr lang="en-US" sz="1400" dirty="0"/>
              <a:t>Yang uses it to derive the tolerance threshold (A function of probability and time needed to access all items in a non-productive rule)</a:t>
            </a:r>
          </a:p>
          <a:p>
            <a:pPr lvl="1"/>
            <a:r>
              <a:rPr lang="en-US" sz="1400" dirty="0"/>
              <a:t>The law states</a:t>
            </a:r>
            <a:r>
              <a:rPr lang="en-US" sz="1400" b="1" dirty="0"/>
              <a:t>: The rank (</a:t>
            </a:r>
            <a:r>
              <a:rPr lang="en-US" sz="1400" b="1" dirty="0" err="1"/>
              <a:t>r</a:t>
            </a:r>
            <a:r>
              <a:rPr lang="en-US" sz="1400" b="1" baseline="-25000" dirty="0" err="1"/>
              <a:t>i</a:t>
            </a:r>
            <a:r>
              <a:rPr lang="en-US" sz="1400" b="1" dirty="0"/>
              <a:t>) and the frequency (f</a:t>
            </a:r>
            <a:r>
              <a:rPr lang="en-US" sz="1400" b="1" baseline="-25000" dirty="0"/>
              <a:t>i</a:t>
            </a:r>
            <a:r>
              <a:rPr lang="en-US" sz="1400" b="1" dirty="0"/>
              <a:t>) of a word (</a:t>
            </a:r>
            <a:r>
              <a:rPr lang="en-US" sz="1400" b="1" dirty="0" err="1"/>
              <a:t>w</a:t>
            </a:r>
            <a:r>
              <a:rPr lang="en-US" sz="1400" b="1" baseline="-25000" dirty="0" err="1"/>
              <a:t>i</a:t>
            </a:r>
            <a:r>
              <a:rPr lang="en-US" sz="1400" b="1" dirty="0"/>
              <a:t>) in a corpus of natural language are inversely proportional (</a:t>
            </a:r>
            <a:r>
              <a:rPr lang="en-US" sz="1400" b="1" dirty="0" err="1"/>
              <a:t>r</a:t>
            </a:r>
            <a:r>
              <a:rPr lang="en-US" sz="1400" b="1" baseline="-25000" dirty="0" err="1"/>
              <a:t>i</a:t>
            </a:r>
            <a:r>
              <a:rPr lang="en-US" sz="1400" b="1" dirty="0" err="1"/>
              <a:t>f</a:t>
            </a:r>
            <a:r>
              <a:rPr lang="en-US" sz="1400" b="1" baseline="-25000" dirty="0" err="1"/>
              <a:t>i</a:t>
            </a:r>
            <a:r>
              <a:rPr lang="en-US" sz="1400" b="1" dirty="0"/>
              <a:t> = C).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An overview of Tolerance Principle (TP)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EF55D-1246-0228-6BC8-3D0C1F89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67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709375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A5195-8DF0-D637-BE35-981CCE2CC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Goal:</a:t>
            </a:r>
          </a:p>
          <a:p>
            <a:pPr lvl="1">
              <a:lnSpc>
                <a:spcPct val="110000"/>
              </a:lnSpc>
            </a:pPr>
            <a:r>
              <a:rPr lang="en-US" sz="3200" dirty="0">
                <a:latin typeface="Helvetica" pitchFamily="2" charset="0"/>
              </a:rPr>
              <a:t>Determine what semantic rules speakers are sensitive to when classifying nouns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200" dirty="0">
                <a:latin typeface="Helvetica" pitchFamily="2" charset="0"/>
              </a:rPr>
              <a:t>Test the predictions of the Tolerance Principle derived from our corpus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Method:</a:t>
            </a:r>
          </a:p>
          <a:p>
            <a:pPr lvl="1">
              <a:lnSpc>
                <a:spcPct val="110000"/>
              </a:lnSpc>
            </a:pPr>
            <a:r>
              <a:rPr lang="en-US" sz="3200" dirty="0">
                <a:latin typeface="Helvetica" pitchFamily="2" charset="0"/>
              </a:rPr>
              <a:t>Present unfamiliar images with semantic characteristics of interest, paired with nonce words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200" dirty="0">
                <a:latin typeface="Helvetica" pitchFamily="2" charset="0"/>
              </a:rPr>
              <a:t>Prefixes and agreement masked, participants produce them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Participants:</a:t>
            </a:r>
            <a:r>
              <a:rPr lang="en-US" sz="3200" dirty="0">
                <a:latin typeface="Helvetica" pitchFamily="2" charset="0"/>
              </a:rPr>
              <a:t> </a:t>
            </a:r>
            <a:r>
              <a:rPr lang="en-US" sz="3200" dirty="0" err="1">
                <a:latin typeface="Helvetica" pitchFamily="2" charset="0"/>
              </a:rPr>
              <a:t>Kîîtharaka</a:t>
            </a:r>
            <a:r>
              <a:rPr lang="en-US" sz="3200" dirty="0">
                <a:latin typeface="Helvetica" pitchFamily="2" charset="0"/>
              </a:rPr>
              <a:t> speakers 18 and over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A90D9-1E8B-D94B-A81B-6736CCAF871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Experiment 1: Semantic </a:t>
            </a:r>
            <a:r>
              <a:rPr lang="en-US" dirty="0">
                <a:latin typeface="Helvetica" pitchFamily="2" charset="0"/>
              </a:rPr>
              <a:t>C</a:t>
            </a:r>
            <a:r>
              <a:rPr lang="en-US" sz="4000" dirty="0">
                <a:latin typeface="Helvetica" pitchFamily="2" charset="0"/>
              </a:rPr>
              <a:t>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7D73CB-CB82-3077-B237-1CD9967C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1031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A5195-8DF0-D637-BE35-981CCE2CC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Goal: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Determine whether speakers sensitive to morpho-phonological cues in classifying nouns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200" dirty="0">
                <a:latin typeface="Helvetica" pitchFamily="2" charset="0"/>
              </a:rPr>
              <a:t>Test the predictions of the Tolerance Principle derived from our corpus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Method:</a:t>
            </a:r>
          </a:p>
          <a:p>
            <a:pPr lvl="1">
              <a:lnSpc>
                <a:spcPct val="110000"/>
              </a:lnSpc>
            </a:pPr>
            <a:r>
              <a:rPr lang="en-US" sz="3200" dirty="0">
                <a:latin typeface="Helvetica" pitchFamily="2" charset="0"/>
              </a:rPr>
              <a:t>Present nonce words with prefixes of interest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dirty="0"/>
              <a:t>P</a:t>
            </a:r>
            <a:r>
              <a:rPr lang="en-US" sz="3200" dirty="0">
                <a:latin typeface="Helvetica" pitchFamily="2" charset="0"/>
              </a:rPr>
              <a:t>articipants produce agreement in plural versions of the words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Participants:</a:t>
            </a:r>
            <a:r>
              <a:rPr lang="en-US" sz="3200" dirty="0">
                <a:latin typeface="Helvetica" pitchFamily="2" charset="0"/>
              </a:rPr>
              <a:t> </a:t>
            </a:r>
            <a:r>
              <a:rPr lang="en-US" sz="3200" dirty="0" err="1">
                <a:latin typeface="Helvetica" pitchFamily="2" charset="0"/>
              </a:rPr>
              <a:t>Kîîtharaka</a:t>
            </a:r>
            <a:r>
              <a:rPr lang="en-US" sz="3200" dirty="0">
                <a:latin typeface="Helvetica" pitchFamily="2" charset="0"/>
              </a:rPr>
              <a:t> speakers 18 and over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A90D9-1E8B-D94B-A81B-6736CCAF871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Experiment 2: Morphophonological Cues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8ECEFD-AB02-4DE4-2AAB-6A275E27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0904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A5195-8DF0-D637-BE35-981CCE2CC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Goal: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Determine which cues (between semantics and morphophonology) speakers prime in classifying nouns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Method: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Present unfamiliar images with semantic characteristics of interest, paired with nonce words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dirty="0"/>
              <a:t>Provide prefixes cuing a different class from image , participants produce agreement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Participants:</a:t>
            </a:r>
            <a:r>
              <a:rPr lang="en-US" sz="3200" dirty="0">
                <a:latin typeface="Helvetica" pitchFamily="2" charset="0"/>
              </a:rPr>
              <a:t> Kîîtharaka speakers 18 and over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A90D9-1E8B-D94B-A81B-6736CCAF871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Experiment 1: Contrasting Cues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6AA3C7-EAF9-7972-953C-8C11F7AC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0831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An overview of Tolerance Principle (TP)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EF55D-1246-0228-6BC8-3D0C1F89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71</a:t>
            </a:fld>
            <a:endParaRPr lang="en-US" sz="2800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6DA454EE-10F3-BF9B-007D-34402E3E5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353" y="1351835"/>
            <a:ext cx="4052324" cy="47260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C60126-43EC-9CAF-C99F-5181375F90ED}"/>
              </a:ext>
            </a:extLst>
          </p:cNvPr>
          <p:cNvSpPr txBox="1"/>
          <p:nvPr/>
        </p:nvSpPr>
        <p:spPr>
          <a:xfrm>
            <a:off x="7829550" y="5686425"/>
            <a:ext cx="185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Yang, 2016:104</a:t>
            </a:r>
          </a:p>
        </p:txBody>
      </p:sp>
    </p:spTree>
    <p:extLst>
      <p:ext uri="{BB962C8B-B14F-4D97-AF65-F5344CB8AC3E}">
        <p14:creationId xmlns:p14="http://schemas.microsoft.com/office/powerpoint/2010/main" val="6841020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A1D28-69C4-0365-25EA-277D300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72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072C-331C-3162-96BF-B3E8EC0E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ABE759-837B-92B2-5243-DF32BE7077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semantic feature (class-feature mapping)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5D59F6-2366-ED24-13DF-473E38F31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199289"/>
              </p:ext>
            </p:extLst>
          </p:nvPr>
        </p:nvGraphicFramePr>
        <p:xfrm>
          <a:off x="524933" y="1183341"/>
          <a:ext cx="10041003" cy="4861857"/>
        </p:xfrm>
        <a:graphic>
          <a:graphicData uri="http://schemas.openxmlformats.org/drawingml/2006/table">
            <a:tbl>
              <a:tblPr firstRow="1" bandRow="1"/>
              <a:tblGrid>
                <a:gridCol w="2281222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545637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180103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81539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1807381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245121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Human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219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458945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1441495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605014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109164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724556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412273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956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1166871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12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494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FA6EE5-DDFE-D8AC-1E03-DA91A1F878B6}"/>
              </a:ext>
            </a:extLst>
          </p:cNvPr>
          <p:cNvSpPr txBox="1"/>
          <p:nvPr/>
        </p:nvSpPr>
        <p:spPr>
          <a:xfrm>
            <a:off x="491066" y="3386960"/>
            <a:ext cx="10293071" cy="47490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A1D28-69C4-0365-25EA-277D300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73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072C-331C-3162-96BF-B3E8EC0E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ABE759-837B-92B2-5243-DF32BE7077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615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morphophonological feature</a:t>
            </a:r>
          </a:p>
          <a:p>
            <a:r>
              <a:rPr lang="en-US" dirty="0">
                <a:latin typeface="Helvetica" pitchFamily="2" charset="0"/>
              </a:rPr>
              <a:t>            (class-feature mapping)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FD26AE-1707-77EE-BCC3-FAE594770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635698"/>
              </p:ext>
            </p:extLst>
          </p:nvPr>
        </p:nvGraphicFramePr>
        <p:xfrm>
          <a:off x="491067" y="1331260"/>
          <a:ext cx="10293071" cy="4578475"/>
        </p:xfrm>
        <a:graphic>
          <a:graphicData uri="http://schemas.openxmlformats.org/drawingml/2006/table">
            <a:tbl>
              <a:tblPr firstRow="1" bandRow="1"/>
              <a:tblGrid>
                <a:gridCol w="2157700">
                  <a:extLst>
                    <a:ext uri="{9D8B030D-6E8A-4147-A177-3AD203B41FA5}">
                      <a16:colId xmlns:a16="http://schemas.microsoft.com/office/drawing/2014/main" val="2012013455"/>
                    </a:ext>
                  </a:extLst>
                </a:gridCol>
                <a:gridCol w="1624452">
                  <a:extLst>
                    <a:ext uri="{9D8B030D-6E8A-4147-A177-3AD203B41FA5}">
                      <a16:colId xmlns:a16="http://schemas.microsoft.com/office/drawing/2014/main" val="2936427638"/>
                    </a:ext>
                  </a:extLst>
                </a:gridCol>
                <a:gridCol w="1624452">
                  <a:extLst>
                    <a:ext uri="{9D8B030D-6E8A-4147-A177-3AD203B41FA5}">
                      <a16:colId xmlns:a16="http://schemas.microsoft.com/office/drawing/2014/main" val="3921145813"/>
                    </a:ext>
                  </a:extLst>
                </a:gridCol>
                <a:gridCol w="1053130">
                  <a:extLst>
                    <a:ext uri="{9D8B030D-6E8A-4147-A177-3AD203B41FA5}">
                      <a16:colId xmlns:a16="http://schemas.microsoft.com/office/drawing/2014/main" val="2818784910"/>
                    </a:ext>
                  </a:extLst>
                </a:gridCol>
                <a:gridCol w="1709765">
                  <a:extLst>
                    <a:ext uri="{9D8B030D-6E8A-4147-A177-3AD203B41FA5}">
                      <a16:colId xmlns:a16="http://schemas.microsoft.com/office/drawing/2014/main" val="775246417"/>
                    </a:ext>
                  </a:extLst>
                </a:gridCol>
                <a:gridCol w="2123572">
                  <a:extLst>
                    <a:ext uri="{9D8B030D-6E8A-4147-A177-3AD203B41FA5}">
                      <a16:colId xmlns:a16="http://schemas.microsoft.com/office/drawing/2014/main" val="1256882497"/>
                    </a:ext>
                  </a:extLst>
                </a:gridCol>
              </a:tblGrid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Prefix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Theta_N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521780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843935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86686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089050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202281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998603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973949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361348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4220027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6557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251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79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72EA1716-BEBC-6C54-72B5-3F4AED925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04" y="2013669"/>
            <a:ext cx="2141550" cy="19036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39EF25-7897-8547-98A5-8DF31CAA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Helvetica" pitchFamily="2" charset="0"/>
              </a:rPr>
              <a:t>Sample Stimulus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11CA3-C159-DF4B-9F83-9D4EDF722242}"/>
              </a:ext>
            </a:extLst>
          </p:cNvPr>
          <p:cNvSpPr txBox="1"/>
          <p:nvPr/>
        </p:nvSpPr>
        <p:spPr>
          <a:xfrm>
            <a:off x="838200" y="1506022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Training Trial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E4876-0EA7-5947-9A8F-3FE886385136}"/>
              </a:ext>
            </a:extLst>
          </p:cNvPr>
          <p:cNvSpPr txBox="1"/>
          <p:nvPr/>
        </p:nvSpPr>
        <p:spPr>
          <a:xfrm>
            <a:off x="6845300" y="144327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Trial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0BEDDE-950A-7447-857E-17CA1D526589}"/>
              </a:ext>
            </a:extLst>
          </p:cNvPr>
          <p:cNvCxnSpPr/>
          <p:nvPr/>
        </p:nvCxnSpPr>
        <p:spPr>
          <a:xfrm>
            <a:off x="5135880" y="1690688"/>
            <a:ext cx="0" cy="430934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24AE820-AB59-F278-F821-0842C1433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1" y="4465615"/>
            <a:ext cx="2242272" cy="2027260"/>
          </a:xfrm>
          <a:prstGeom prst="rect">
            <a:avLst/>
          </a:prstGeom>
        </p:spPr>
      </p:pic>
      <p:pic>
        <p:nvPicPr>
          <p:cNvPr id="15" name="Picture 1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EFCA18A-D75C-AA0C-E0B3-91AF063DE9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871" y="2142985"/>
            <a:ext cx="1946482" cy="221277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0E7D8-90B5-C059-10B2-AECEB3AE3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685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43621</TotalTime>
  <Words>5459</Words>
  <Application>Microsoft Macintosh PowerPoint</Application>
  <PresentationFormat>Widescreen</PresentationFormat>
  <Paragraphs>1611</Paragraphs>
  <Slides>74</Slides>
  <Notes>10</Notes>
  <HiddenSlides>23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3" baseType="lpstr">
      <vt:lpstr>Arial</vt:lpstr>
      <vt:lpstr>Calibri</vt:lpstr>
      <vt:lpstr>Calibri Light</vt:lpstr>
      <vt:lpstr>Cambria Math</vt:lpstr>
      <vt:lpstr>Courier New</vt:lpstr>
      <vt:lpstr>Helvetica</vt:lpstr>
      <vt:lpstr>Symbol</vt:lpstr>
      <vt:lpstr>Wingdings</vt:lpstr>
      <vt:lpstr>office theme</vt:lpstr>
      <vt:lpstr>Semantic and morphophonological productivity of Kîîtharaka noun classes</vt:lpstr>
      <vt:lpstr>Noun class systems</vt:lpstr>
      <vt:lpstr>Noun class systems</vt:lpstr>
      <vt:lpstr>Noun class systems</vt:lpstr>
      <vt:lpstr>What determines noun class in language?</vt:lpstr>
      <vt:lpstr>What determines noun class in language?</vt:lpstr>
      <vt:lpstr>What determines noun class in language?</vt:lpstr>
      <vt:lpstr>What determines noun class in a language?</vt:lpstr>
      <vt:lpstr>What determines noun class in a language?</vt:lpstr>
      <vt:lpstr>What determines noun class in a language?</vt:lpstr>
      <vt:lpstr>Theoretical and empirical questions…</vt:lpstr>
      <vt:lpstr>Theoretical and empirical questions…</vt:lpstr>
      <vt:lpstr>Traditional approaches to Bantu noun classes</vt:lpstr>
      <vt:lpstr>Traditional approaches to Bantu noun classes</vt:lpstr>
      <vt:lpstr>Traditional approaches to Bantu noun classes</vt:lpstr>
      <vt:lpstr>Traditional approaches to Bantu noun classes</vt:lpstr>
      <vt:lpstr>Traditional approaches to Bantu noun classes</vt:lpstr>
      <vt:lpstr>Theoretical and empirical questions…</vt:lpstr>
      <vt:lpstr>Traditional approaches to Bantu noun classes </vt:lpstr>
      <vt:lpstr>A different approach to Kîîtharaka</vt:lpstr>
      <vt:lpstr>Building a Corpus</vt:lpstr>
      <vt:lpstr>Semantic features coded for </vt:lpstr>
      <vt:lpstr>Morphophonological features coded for</vt:lpstr>
      <vt:lpstr>Corpus Analysis</vt:lpstr>
      <vt:lpstr>Derivation of Tolerance Principle</vt:lpstr>
      <vt:lpstr>Derivation of Tolerance Principle</vt:lpstr>
      <vt:lpstr>Derivation of Tolerance Principle</vt:lpstr>
      <vt:lpstr>Corpus Results</vt:lpstr>
      <vt:lpstr>PowerPoint Presentation</vt:lpstr>
      <vt:lpstr>PowerPoint Presentation</vt:lpstr>
      <vt:lpstr>Corpus results: productive semantic features (overall)</vt:lpstr>
      <vt:lpstr>Results: productive semantic features</vt:lpstr>
      <vt:lpstr>PowerPoint Presentation</vt:lpstr>
      <vt:lpstr>PowerPoint Presentation</vt:lpstr>
      <vt:lpstr>Results: productive morphophonological features </vt:lpstr>
      <vt:lpstr>Corpus results: productive morphophonological features </vt:lpstr>
      <vt:lpstr>Experiments: Observation of human behaviour</vt:lpstr>
      <vt:lpstr>Experiment 1: Semantic features tested</vt:lpstr>
      <vt:lpstr>Stimuli</vt:lpstr>
      <vt:lpstr>Experiment 1 results: productive semantic features</vt:lpstr>
      <vt:lpstr>Experiment 1 results: productive semantic features</vt:lpstr>
      <vt:lpstr>Experiment 2: Morphophonological features tested</vt:lpstr>
      <vt:lpstr>Stimuli</vt:lpstr>
      <vt:lpstr>Results: productive morphophonological features</vt:lpstr>
      <vt:lpstr>Results: productive morphophonological features</vt:lpstr>
      <vt:lpstr>Results: productive morphophonological features</vt:lpstr>
      <vt:lpstr>Results: productive morphophonological features</vt:lpstr>
      <vt:lpstr>Results: productive morphophonological features</vt:lpstr>
      <vt:lpstr>Implications</vt:lpstr>
      <vt:lpstr>Implications: a possible schema</vt:lpstr>
      <vt:lpstr>Implications</vt:lpstr>
      <vt:lpstr>Implications:  a merger of  î- and k(g)î in meaning?</vt:lpstr>
      <vt:lpstr>Implications: a possible schema</vt:lpstr>
      <vt:lpstr>Next steps</vt:lpstr>
      <vt:lpstr>The End</vt:lpstr>
      <vt:lpstr>Sample stimuli images</vt:lpstr>
      <vt:lpstr>Corpus analysis</vt:lpstr>
      <vt:lpstr>PowerPoint Presentation</vt:lpstr>
      <vt:lpstr>PowerPoint Presentation</vt:lpstr>
      <vt:lpstr>PowerPoint Presentation</vt:lpstr>
      <vt:lpstr>Results: unproductive semantic rules</vt:lpstr>
      <vt:lpstr>Implications: comparison with Chichewa</vt:lpstr>
      <vt:lpstr>Corpus limitations</vt:lpstr>
      <vt:lpstr>Next steps: psycholinguistic experiments</vt:lpstr>
      <vt:lpstr>Conclusion</vt:lpstr>
      <vt:lpstr>References</vt:lpstr>
      <vt:lpstr>An overview of Tolerance Principle (TP)</vt:lpstr>
      <vt:lpstr>Experiment 1: Semantic Cues</vt:lpstr>
      <vt:lpstr>Experiment 2: Morphophonological Cues</vt:lpstr>
      <vt:lpstr>Experiment 1: Contrasting Cues</vt:lpstr>
      <vt:lpstr>An overview of Tolerance Principle (TP)</vt:lpstr>
      <vt:lpstr>PowerPoint Presentation</vt:lpstr>
      <vt:lpstr>PowerPoint Presentation</vt:lpstr>
      <vt:lpstr>Sample Stimulus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Patrick Kanampiu</cp:lastModifiedBy>
  <cp:revision>1654</cp:revision>
  <dcterms:created xsi:type="dcterms:W3CDTF">2021-11-19T17:00:59Z</dcterms:created>
  <dcterms:modified xsi:type="dcterms:W3CDTF">2022-12-13T20:35:18Z</dcterms:modified>
</cp:coreProperties>
</file>